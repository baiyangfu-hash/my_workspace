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3"/>
    <p:sldId id="273" r:id="rId4"/>
    <p:sldId id="274" r:id="rId5"/>
    <p:sldId id="295" r:id="rId6"/>
    <p:sldId id="296" r:id="rId7"/>
    <p:sldId id="465" r:id="rId8"/>
    <p:sldId id="300" r:id="rId9"/>
    <p:sldId id="301" r:id="rId10"/>
    <p:sldId id="302" r:id="rId11"/>
    <p:sldId id="305" r:id="rId12"/>
    <p:sldId id="303" r:id="rId13"/>
    <p:sldId id="363" r:id="rId14"/>
    <p:sldId id="306" r:id="rId15"/>
    <p:sldId id="308" r:id="rId16"/>
    <p:sldId id="310" r:id="rId17"/>
    <p:sldId id="475" r:id="rId18"/>
    <p:sldId id="315" r:id="rId19"/>
    <p:sldId id="476" r:id="rId20"/>
    <p:sldId id="391" r:id="rId21"/>
    <p:sldId id="392" r:id="rId22"/>
    <p:sldId id="393" r:id="rId23"/>
    <p:sldId id="410" r:id="rId24"/>
    <p:sldId id="433" r:id="rId25"/>
    <p:sldId id="335" r:id="rId26"/>
    <p:sldId id="323" r:id="rId27"/>
    <p:sldId id="324" r:id="rId28"/>
    <p:sldId id="414" r:id="rId29"/>
    <p:sldId id="415" r:id="rId30"/>
    <p:sldId id="416" r:id="rId32"/>
    <p:sldId id="477" r:id="rId33"/>
    <p:sldId id="328" r:id="rId34"/>
    <p:sldId id="478" r:id="rId35"/>
    <p:sldId id="479" r:id="rId36"/>
    <p:sldId id="480" r:id="rId37"/>
    <p:sldId id="481" r:id="rId38"/>
    <p:sldId id="482" r:id="rId39"/>
    <p:sldId id="483" r:id="rId40"/>
    <p:sldId id="333" r:id="rId41"/>
    <p:sldId id="336" r:id="rId42"/>
    <p:sldId id="467" r:id="rId43"/>
    <p:sldId id="468" r:id="rId44"/>
    <p:sldId id="337" r:id="rId45"/>
    <p:sldId id="434" r:id="rId46"/>
    <p:sldId id="435" r:id="rId47"/>
    <p:sldId id="411" r:id="rId48"/>
    <p:sldId id="412" r:id="rId49"/>
    <p:sldId id="413" r:id="rId50"/>
    <p:sldId id="430" r:id="rId51"/>
    <p:sldId id="431" r:id="rId52"/>
    <p:sldId id="432" r:id="rId53"/>
    <p:sldId id="437" r:id="rId54"/>
    <p:sldId id="438" r:id="rId55"/>
    <p:sldId id="459" r:id="rId56"/>
    <p:sldId id="460" r:id="rId57"/>
    <p:sldId id="462" r:id="rId58"/>
    <p:sldId id="464" r:id="rId5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0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1E19EF-E0AB-48AE-B8C8-6292CBBE10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35E4E-1827-4654-B60B-8DF0B8867CE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196752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字+图片版式3（模组介绍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107504" y="869728"/>
            <a:ext cx="4176712" cy="2948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 u="sng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979022" y="179348"/>
            <a:ext cx="0" cy="369332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older 2"/>
          <p:cNvSpPr>
            <a:spLocks noGrp="1"/>
          </p:cNvSpPr>
          <p:nvPr>
            <p:ph type="title"/>
          </p:nvPr>
        </p:nvSpPr>
        <p:spPr>
          <a:xfrm>
            <a:off x="1115616" y="198833"/>
            <a:ext cx="5215801" cy="322561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600" b="0" i="0" u="sng">
                <a:solidFill>
                  <a:schemeClr val="tx1">
                    <a:lumMod val="50000"/>
                    <a:lumOff val="50000"/>
                  </a:schemeClr>
                </a:solidFill>
                <a:latin typeface="Helvetica Regular" charset="0"/>
                <a:cs typeface="Helvetica Regular" charset="0"/>
              </a:defRPr>
            </a:lvl1pPr>
          </a:lstStyle>
          <a:p>
            <a:endParaRPr dirty="0"/>
          </a:p>
        </p:txBody>
      </p:sp>
      <p:sp>
        <p:nvSpPr>
          <p:cNvPr id="8" name="Picture Placeholder 24"/>
          <p:cNvSpPr>
            <a:spLocks noGrp="1"/>
          </p:cNvSpPr>
          <p:nvPr>
            <p:ph type="pic" sz="quarter" idx="21"/>
          </p:nvPr>
        </p:nvSpPr>
        <p:spPr>
          <a:xfrm>
            <a:off x="7176076" y="584213"/>
            <a:ext cx="1967923" cy="1404106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1115616" y="1286266"/>
            <a:ext cx="5904706" cy="1710686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</a:defRPr>
            </a:lvl1pPr>
          </a:lstStyle>
          <a:p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107504" y="3933056"/>
            <a:ext cx="4176712" cy="36004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 u="sng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2833770" y="4686342"/>
            <a:ext cx="3384376" cy="172819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</a:defRPr>
            </a:lvl1pPr>
          </a:lstStyle>
          <a:p>
            <a:endParaRPr lang="en-US"/>
          </a:p>
        </p:txBody>
      </p:sp>
      <p:sp>
        <p:nvSpPr>
          <p:cNvPr id="30" name="Text Placeholder 14"/>
          <p:cNvSpPr>
            <a:spLocks noGrp="1"/>
          </p:cNvSpPr>
          <p:nvPr>
            <p:ph type="body" sz="quarter" idx="25"/>
          </p:nvPr>
        </p:nvSpPr>
        <p:spPr>
          <a:xfrm>
            <a:off x="611560" y="4446373"/>
            <a:ext cx="1368988" cy="26951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1pPr>
            <a:lvl2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2pPr>
            <a:lvl3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3pPr>
            <a:lvl4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dirty="0"/>
          </a:p>
        </p:txBody>
      </p:sp>
      <p:sp>
        <p:nvSpPr>
          <p:cNvPr id="31" name="Text Placeholder 14"/>
          <p:cNvSpPr>
            <a:spLocks noGrp="1"/>
          </p:cNvSpPr>
          <p:nvPr>
            <p:ph type="body" sz="quarter" idx="12"/>
          </p:nvPr>
        </p:nvSpPr>
        <p:spPr>
          <a:xfrm>
            <a:off x="611560" y="5331758"/>
            <a:ext cx="1368988" cy="26951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1pPr>
            <a:lvl2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2pPr>
            <a:lvl3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3pPr>
            <a:lvl4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dirty="0"/>
          </a:p>
        </p:txBody>
      </p:sp>
      <p:sp>
        <p:nvSpPr>
          <p:cNvPr id="32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84159" y="6164925"/>
            <a:ext cx="1368988" cy="26951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1pPr>
            <a:lvl2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2pPr>
            <a:lvl3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3pPr>
            <a:lvl4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dirty="0"/>
          </a:p>
        </p:txBody>
      </p:sp>
      <p:sp>
        <p:nvSpPr>
          <p:cNvPr id="33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7018788" y="4685708"/>
            <a:ext cx="1368988" cy="26951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1pPr>
            <a:lvl2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2pPr>
            <a:lvl3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3pPr>
            <a:lvl4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dirty="0"/>
          </a:p>
        </p:txBody>
      </p:sp>
      <p:sp>
        <p:nvSpPr>
          <p:cNvPr id="34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7018788" y="5535754"/>
            <a:ext cx="1368988" cy="26951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1pPr>
            <a:lvl2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2pPr>
            <a:lvl3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3pPr>
            <a:lvl4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dirty="0"/>
          </a:p>
        </p:txBody>
      </p:sp>
      <p:sp>
        <p:nvSpPr>
          <p:cNvPr id="3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7018788" y="6164925"/>
            <a:ext cx="1368988" cy="26951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1pPr>
            <a:lvl2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2pPr>
            <a:lvl3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3pPr>
            <a:lvl4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dirty="0"/>
          </a:p>
        </p:txBody>
      </p:sp>
      <p:sp>
        <p:nvSpPr>
          <p:cNvPr id="21" name="Holder 3"/>
          <p:cNvSpPr>
            <a:spLocks noGrp="1"/>
          </p:cNvSpPr>
          <p:nvPr>
            <p:ph type="body" idx="17" hasCustomPrompt="1"/>
          </p:nvPr>
        </p:nvSpPr>
        <p:spPr>
          <a:xfrm>
            <a:off x="4639229" y="3236859"/>
            <a:ext cx="3384376" cy="60478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Clr>
                <a:schemeClr val="tx1">
                  <a:lumMod val="50000"/>
                  <a:lumOff val="50000"/>
                </a:schemeClr>
              </a:buClr>
              <a:buFontTx/>
              <a:buNone/>
              <a:defRPr sz="1000" b="0" i="0" baseline="0">
                <a:solidFill>
                  <a:srgbClr val="0432FF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/>
              <a:t>Remark: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dirty="0"/>
          </a:p>
        </p:txBody>
      </p:sp>
      <p:sp>
        <p:nvSpPr>
          <p:cNvPr id="22" name="Text Placeholder 14"/>
          <p:cNvSpPr>
            <a:spLocks noGrp="1"/>
          </p:cNvSpPr>
          <p:nvPr>
            <p:ph type="body" sz="quarter" idx="26"/>
          </p:nvPr>
        </p:nvSpPr>
        <p:spPr>
          <a:xfrm>
            <a:off x="7018788" y="4182396"/>
            <a:ext cx="1368988" cy="26951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1pPr>
            <a:lvl2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2pPr>
            <a:lvl3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3pPr>
            <a:lvl4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dirty="0"/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7018788" y="5082175"/>
            <a:ext cx="1368988" cy="26951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1pPr>
            <a:lvl2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2pPr>
            <a:lvl3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3pPr>
            <a:lvl4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4pPr>
            <a:lvl5pPr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dirty="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8424" y="6630813"/>
            <a:ext cx="7555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418B0CCF-65C9-934D-B7EC-BDE19619948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日期版面配置區 3"/>
          <p:cNvSpPr txBox="1"/>
          <p:nvPr userDrawn="1"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EB9FC5-E4F9-B846-B5D8-47DD843AA4E2}" type="datetime1">
              <a:rPr lang="zh-CN" altLang="en-US" smtClean="0"/>
            </a:fld>
            <a:endParaRPr lang="zh-TW" altLang="en-US"/>
          </a:p>
        </p:txBody>
      </p:sp>
      <p:sp>
        <p:nvSpPr>
          <p:cNvPr id="8" name="投影片編號版面配置區 5"/>
          <p:cNvSpPr txBox="1"/>
          <p:nvPr userDrawn="1"/>
        </p:nvSpPr>
        <p:spPr>
          <a:xfrm>
            <a:off x="698846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  <p:pic>
        <p:nvPicPr>
          <p:cNvPr id="9" name="Picture 2" descr="D:\2D文档\公司LOGO丝印档\新\思榕标志组合方式\思榕智能装备-首选推广logo、产品机身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4024" y="37914"/>
            <a:ext cx="1962472" cy="51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5"/>
          <p:cNvSpPr txBox="1"/>
          <p:nvPr userDrawn="1"/>
        </p:nvSpPr>
        <p:spPr>
          <a:xfrm>
            <a:off x="-108522" y="-27384"/>
            <a:ext cx="1171743" cy="466897"/>
          </a:xfrm>
          <a:prstGeom prst="rect">
            <a:avLst/>
          </a:prstGeom>
          <a:noFill/>
        </p:spPr>
        <p:txBody>
          <a:bodyPr wrap="square" lIns="35662" tIns="17831" rIns="35662" bIns="17831" rtlCol="0" anchor="ctr" anchorCtr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SOP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grpSp>
        <p:nvGrpSpPr>
          <p:cNvPr id="11" name="Group 6"/>
          <p:cNvGrpSpPr/>
          <p:nvPr userDrawn="1"/>
        </p:nvGrpSpPr>
        <p:grpSpPr>
          <a:xfrm flipV="1">
            <a:off x="186784" y="414798"/>
            <a:ext cx="581133" cy="117165"/>
            <a:chOff x="1632870" y="5141660"/>
            <a:chExt cx="17513300" cy="3178680"/>
          </a:xfrm>
        </p:grpSpPr>
        <p:sp>
          <p:nvSpPr>
            <p:cNvPr id="12" name="Rounded Rectangle 7"/>
            <p:cNvSpPr/>
            <p:nvPr/>
          </p:nvSpPr>
          <p:spPr>
            <a:xfrm>
              <a:off x="8800180" y="5141660"/>
              <a:ext cx="3178679" cy="3178680"/>
            </a:xfrm>
            <a:prstGeom prst="roundRect">
              <a:avLst>
                <a:gd name="adj" fmla="val 21569"/>
              </a:avLst>
            </a:prstGeom>
            <a:solidFill>
              <a:srgbClr val="007B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Open Sans Regular" charset="0"/>
              </a:endParaRPr>
            </a:p>
          </p:txBody>
        </p:sp>
        <p:sp>
          <p:nvSpPr>
            <p:cNvPr id="13" name="Rounded Rectangle 8"/>
            <p:cNvSpPr/>
            <p:nvPr/>
          </p:nvSpPr>
          <p:spPr>
            <a:xfrm>
              <a:off x="1632870" y="5141660"/>
              <a:ext cx="3178679" cy="3178680"/>
            </a:xfrm>
            <a:prstGeom prst="roundRect">
              <a:avLst>
                <a:gd name="adj" fmla="val 21569"/>
              </a:avLst>
            </a:prstGeom>
            <a:solidFill>
              <a:srgbClr val="ADB6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BD1DB"/>
                </a:solidFill>
                <a:latin typeface="Open Sans Regular" charset="0"/>
              </a:endParaRPr>
            </a:p>
          </p:txBody>
        </p:sp>
        <p:sp>
          <p:nvSpPr>
            <p:cNvPr id="14" name="Rounded Rectangle 9"/>
            <p:cNvSpPr/>
            <p:nvPr/>
          </p:nvSpPr>
          <p:spPr>
            <a:xfrm>
              <a:off x="15967491" y="5141660"/>
              <a:ext cx="3178679" cy="3178680"/>
            </a:xfrm>
            <a:prstGeom prst="roundRect">
              <a:avLst>
                <a:gd name="adj" fmla="val 21569"/>
              </a:avLst>
            </a:prstGeom>
            <a:solidFill>
              <a:srgbClr val="CBD1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Open Sans Regular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8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3"/>
          <p:cNvSpPr txBox="1"/>
          <p:nvPr/>
        </p:nvSpPr>
        <p:spPr>
          <a:xfrm>
            <a:off x="6588224" y="5013176"/>
            <a:ext cx="244827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Vendor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Strong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2022.10.04</a:t>
            </a:r>
            <a:endParaRPr lang="zh-TW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26"/>
          <p:cNvGrpSpPr/>
          <p:nvPr/>
        </p:nvGrpSpPr>
        <p:grpSpPr>
          <a:xfrm>
            <a:off x="4572000" y="5597410"/>
            <a:ext cx="4337664" cy="588249"/>
            <a:chOff x="3791744" y="2708881"/>
            <a:chExt cx="4337664" cy="588249"/>
          </a:xfrm>
        </p:grpSpPr>
        <p:pic>
          <p:nvPicPr>
            <p:cNvPr id="8" name="Picture 23"/>
            <p:cNvPicPr>
              <a:picLocks noChangeAspect="1" noChangeArrowheads="1"/>
            </p:cNvPicPr>
            <p:nvPr userDrawn="1"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5042" y="2720561"/>
              <a:ext cx="360240" cy="358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4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4024" y="2710010"/>
              <a:ext cx="352305" cy="360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25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7259" y="2712904"/>
              <a:ext cx="345957" cy="363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26"/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8869" y="2716079"/>
              <a:ext cx="333262" cy="360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27"/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5114" y="2718429"/>
              <a:ext cx="345958" cy="358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28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66540" y="2717385"/>
              <a:ext cx="288827" cy="358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29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5853" y="2718389"/>
              <a:ext cx="345957" cy="358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Box 30"/>
            <p:cNvSpPr txBox="1">
              <a:spLocks noChangeArrowheads="1"/>
            </p:cNvSpPr>
            <p:nvPr userDrawn="1"/>
          </p:nvSpPr>
          <p:spPr bwMode="auto">
            <a:xfrm>
              <a:off x="3791744" y="3078751"/>
              <a:ext cx="50306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CN" sz="800" dirty="0">
                  <a:solidFill>
                    <a:schemeClr val="tx1"/>
                  </a:solidFill>
                  <a:latin typeface="Helvetica" charset="0"/>
                </a:rPr>
                <a:t>Laser</a:t>
              </a:r>
              <a:endParaRPr lang="en-US" altLang="zh-CN" sz="800" dirty="0">
                <a:solidFill>
                  <a:schemeClr val="tx1"/>
                </a:solidFill>
                <a:latin typeface="Helvetica" charset="0"/>
              </a:endParaRPr>
            </a:p>
          </p:txBody>
        </p:sp>
        <p:sp>
          <p:nvSpPr>
            <p:cNvPr id="16" name="TextBox 31"/>
            <p:cNvSpPr txBox="1">
              <a:spLocks noChangeArrowheads="1"/>
            </p:cNvSpPr>
            <p:nvPr userDrawn="1"/>
          </p:nvSpPr>
          <p:spPr bwMode="auto">
            <a:xfrm>
              <a:off x="6202313" y="3073213"/>
              <a:ext cx="65999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Helvetica" charset="0"/>
                </a:rPr>
                <a:t>Fastening</a:t>
              </a:r>
              <a:endParaRPr lang="en-US" altLang="zh-CN" sz="800" dirty="0">
                <a:solidFill>
                  <a:schemeClr val="tx1"/>
                </a:solidFill>
                <a:latin typeface="Helvetica" charset="0"/>
              </a:endParaRPr>
            </a:p>
          </p:txBody>
        </p:sp>
        <p:sp>
          <p:nvSpPr>
            <p:cNvPr id="17" name="TextBox 32"/>
            <p:cNvSpPr txBox="1">
              <a:spLocks noChangeArrowheads="1"/>
            </p:cNvSpPr>
            <p:nvPr userDrawn="1"/>
          </p:nvSpPr>
          <p:spPr bwMode="auto">
            <a:xfrm>
              <a:off x="4234411" y="3081686"/>
              <a:ext cx="55553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CN" sz="800" dirty="0">
                  <a:solidFill>
                    <a:schemeClr val="tx1"/>
                  </a:solidFill>
                  <a:latin typeface="Helvetica" charset="0"/>
                </a:rPr>
                <a:t>Hot</a:t>
              </a:r>
              <a:r>
                <a:rPr lang="zh-CN" altLang="en-US" sz="800" dirty="0">
                  <a:solidFill>
                    <a:schemeClr val="tx1"/>
                  </a:solidFill>
                  <a:latin typeface="Helvetica" charset="0"/>
                </a:rPr>
                <a:t> </a:t>
              </a:r>
              <a:r>
                <a:rPr lang="en-US" altLang="zh-CN" sz="800" dirty="0">
                  <a:solidFill>
                    <a:schemeClr val="tx1"/>
                  </a:solidFill>
                  <a:latin typeface="Helvetica" charset="0"/>
                </a:rPr>
                <a:t>Bar</a:t>
              </a:r>
              <a:endParaRPr lang="en-US" altLang="zh-CN" sz="800" dirty="0">
                <a:solidFill>
                  <a:schemeClr val="tx1"/>
                </a:solidFill>
                <a:latin typeface="Helvetica" charset="0"/>
              </a:endParaRPr>
            </a:p>
          </p:txBody>
        </p:sp>
        <p:sp>
          <p:nvSpPr>
            <p:cNvPr id="18" name="TextBox 33"/>
            <p:cNvSpPr txBox="1">
              <a:spLocks noChangeArrowheads="1"/>
            </p:cNvSpPr>
            <p:nvPr userDrawn="1"/>
          </p:nvSpPr>
          <p:spPr bwMode="auto">
            <a:xfrm>
              <a:off x="4668433" y="3076726"/>
              <a:ext cx="72135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CN" sz="800" dirty="0">
                  <a:solidFill>
                    <a:schemeClr val="tx1"/>
                  </a:solidFill>
                  <a:latin typeface="Helvetica" charset="0"/>
                </a:rPr>
                <a:t>Dispensing</a:t>
              </a:r>
              <a:endParaRPr lang="en-US" altLang="zh-CN" sz="800" dirty="0">
                <a:solidFill>
                  <a:schemeClr val="tx1"/>
                </a:solidFill>
                <a:latin typeface="Helvetica" charset="0"/>
              </a:endParaRPr>
            </a:p>
          </p:txBody>
        </p:sp>
        <p:sp>
          <p:nvSpPr>
            <p:cNvPr id="19" name="TextBox 34"/>
            <p:cNvSpPr txBox="1">
              <a:spLocks noChangeArrowheads="1"/>
            </p:cNvSpPr>
            <p:nvPr userDrawn="1"/>
          </p:nvSpPr>
          <p:spPr bwMode="auto">
            <a:xfrm>
              <a:off x="5703159" y="3073478"/>
              <a:ext cx="607805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CN" sz="800" dirty="0">
                  <a:solidFill>
                    <a:schemeClr val="tx1"/>
                  </a:solidFill>
                  <a:latin typeface="Helvetica" charset="0"/>
                </a:rPr>
                <a:t>Pack</a:t>
              </a:r>
              <a:r>
                <a:rPr lang="zh-CN" altLang="en-US" sz="800" dirty="0">
                  <a:solidFill>
                    <a:schemeClr val="tx1"/>
                  </a:solidFill>
                  <a:latin typeface="Helvetica" charset="0"/>
                </a:rPr>
                <a:t> </a:t>
              </a:r>
              <a:r>
                <a:rPr lang="en-US" altLang="zh-CN" sz="800" dirty="0">
                  <a:solidFill>
                    <a:schemeClr val="tx1"/>
                  </a:solidFill>
                  <a:latin typeface="Helvetica" charset="0"/>
                </a:rPr>
                <a:t>Out</a:t>
              </a:r>
              <a:endParaRPr lang="en-US" altLang="zh-CN" sz="800" dirty="0">
                <a:solidFill>
                  <a:schemeClr val="tx1"/>
                </a:solidFill>
                <a:latin typeface="Helvetica" charset="0"/>
              </a:endParaRPr>
            </a:p>
          </p:txBody>
        </p:sp>
        <p:sp>
          <p:nvSpPr>
            <p:cNvPr id="20" name="TextBox 35"/>
            <p:cNvSpPr txBox="1">
              <a:spLocks noChangeArrowheads="1"/>
            </p:cNvSpPr>
            <p:nvPr userDrawn="1"/>
          </p:nvSpPr>
          <p:spPr bwMode="auto">
            <a:xfrm>
              <a:off x="5286584" y="3076690"/>
              <a:ext cx="46180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CN" sz="800" dirty="0">
                  <a:solidFill>
                    <a:schemeClr val="tx1"/>
                  </a:solidFill>
                  <a:latin typeface="Helvetica" charset="0"/>
                </a:rPr>
                <a:t>PNP</a:t>
              </a:r>
              <a:endParaRPr lang="en-US" altLang="zh-CN" sz="800" dirty="0">
                <a:solidFill>
                  <a:schemeClr val="tx1"/>
                </a:solidFill>
                <a:latin typeface="Helvetica" charset="0"/>
              </a:endParaRPr>
            </a:p>
          </p:txBody>
        </p:sp>
        <p:sp>
          <p:nvSpPr>
            <p:cNvPr id="21" name="TextBox 36"/>
            <p:cNvSpPr txBox="1">
              <a:spLocks noChangeArrowheads="1"/>
            </p:cNvSpPr>
            <p:nvPr userDrawn="1"/>
          </p:nvSpPr>
          <p:spPr bwMode="auto">
            <a:xfrm>
              <a:off x="6746624" y="3073213"/>
              <a:ext cx="538169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Helvetica" charset="0"/>
                </a:rPr>
                <a:t>Testing</a:t>
              </a:r>
              <a:endParaRPr lang="en-US" altLang="zh-CN" sz="800" dirty="0">
                <a:solidFill>
                  <a:schemeClr val="tx1"/>
                </a:solidFill>
                <a:latin typeface="Helvetica" charset="0"/>
              </a:endParaRPr>
            </a:p>
          </p:txBody>
        </p:sp>
        <p:sp>
          <p:nvSpPr>
            <p:cNvPr id="22" name="TextBox 37"/>
            <p:cNvSpPr txBox="1">
              <a:spLocks noChangeArrowheads="1"/>
            </p:cNvSpPr>
            <p:nvPr userDrawn="1"/>
          </p:nvSpPr>
          <p:spPr bwMode="auto">
            <a:xfrm>
              <a:off x="7660916" y="3073213"/>
              <a:ext cx="46849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Helvetica" charset="0"/>
                </a:rPr>
                <a:t>Pallet</a:t>
              </a:r>
              <a:endParaRPr lang="en-US" altLang="zh-CN" sz="800" dirty="0">
                <a:solidFill>
                  <a:schemeClr val="tx1"/>
                </a:solidFill>
                <a:latin typeface="Helvetica" charset="0"/>
              </a:endParaRPr>
            </a:p>
          </p:txBody>
        </p:sp>
        <p:pic>
          <p:nvPicPr>
            <p:cNvPr id="23" name="Picture 38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8123" y="2708881"/>
              <a:ext cx="331674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39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4508" y="2716079"/>
              <a:ext cx="345957" cy="363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TextBox 40"/>
            <p:cNvSpPr txBox="1">
              <a:spLocks noChangeArrowheads="1"/>
            </p:cNvSpPr>
            <p:nvPr userDrawn="1"/>
          </p:nvSpPr>
          <p:spPr bwMode="auto">
            <a:xfrm>
              <a:off x="7162729" y="3076161"/>
              <a:ext cx="60144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Helvetica" charset="0"/>
                </a:rPr>
                <a:t>Fixturing</a:t>
              </a:r>
              <a:endParaRPr lang="en-US" altLang="zh-CN" sz="800" dirty="0">
                <a:solidFill>
                  <a:schemeClr val="tx1"/>
                </a:solidFill>
                <a:latin typeface="Helvetica" charset="0"/>
              </a:endParaRPr>
            </a:p>
          </p:txBody>
        </p:sp>
      </p:grpSp>
      <p:sp>
        <p:nvSpPr>
          <p:cNvPr id="27" name="標題 1"/>
          <p:cNvSpPr>
            <a:spLocks noGrp="1"/>
          </p:cNvSpPr>
          <p:nvPr>
            <p:ph type="ctrTitle"/>
          </p:nvPr>
        </p:nvSpPr>
        <p:spPr>
          <a:xfrm>
            <a:off x="685800" y="2247007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QT1</a:t>
            </a:r>
            <a:b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自动化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设备架设调试操作說明書 </a:t>
            </a:r>
            <a:endParaRPr lang="zh-TW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41784" y="2060907"/>
            <a:ext cx="8568952" cy="34150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</a:pPr>
            <a:r>
              <a:rPr kumimoji="1" lang="zh-TW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錄</a:t>
            </a:r>
            <a:endParaRPr kumimoji="1" lang="zh-TW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PMingLiU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</a:pP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一</a:t>
            </a:r>
            <a:r>
              <a:rPr kumimoji="1" lang="en-US" altLang="zh-TW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.</a:t>
            </a:r>
            <a:r>
              <a:rPr lang="zh-CN" altLang="en-US" sz="2400" b="1" dirty="0"/>
              <a:t>自动化主要组成部份介绍</a:t>
            </a:r>
            <a:r>
              <a:rPr kumimoji="1" lang="en-US" altLang="zh-TW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······················································ </a:t>
            </a:r>
            <a:r>
              <a:rPr kumimoji="1" lang="en-US" altLang="zh-TW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3</a:t>
            </a:r>
            <a:r>
              <a:rPr kumimoji="1" lang="en-US" altLang="zh-TW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endParaRPr kumimoji="1" lang="en-US" altLang="zh-TW" sz="2400" b="1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</a:pP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二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设备初始化、启动操作流程</a:t>
            </a:r>
            <a:r>
              <a:rPr kumimoji="1" lang="en-US" altLang="zh-TW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···</a:t>
            </a:r>
            <a:r>
              <a:rPr kumimoji="1" lang="en-US" altLang="zh-TW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·······</a:t>
            </a:r>
            <a:r>
              <a:rPr kumimoji="1" lang="en-US" altLang="zh-TW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·········</a:t>
            </a:r>
            <a:r>
              <a:rPr kumimoji="1" lang="en-US" altLang="zh-CN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·</a:t>
            </a:r>
            <a:r>
              <a:rPr kumimoji="1" lang="en-US" altLang="zh-TW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···························</a:t>
            </a:r>
            <a:r>
              <a:rPr kumimoji="1" lang="en-US" altLang="zh-TW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···</a:t>
            </a:r>
            <a:r>
              <a:rPr kumimoji="1" lang="en-US" altLang="zh-TW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·8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三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.</a:t>
            </a:r>
            <a:r>
              <a:rPr lang="zh-CN" altLang="en-US" sz="2400" b="1" dirty="0"/>
              <a:t>架设、调试流水线</a:t>
            </a:r>
            <a:r>
              <a:rPr lang="zh-CN" altLang="en-US" sz="2400" b="1" dirty="0"/>
              <a:t>操作流程</a:t>
            </a:r>
            <a:r>
              <a:rPr kumimoji="1" lang="en-US" altLang="zh-TW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·················································</a:t>
            </a:r>
            <a:r>
              <a:rPr kumimoji="1" lang="en-US" altLang="zh-TW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13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四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ym typeface="+mn-ea"/>
              </a:rPr>
              <a:t>架设、调试治具</a:t>
            </a:r>
            <a:r>
              <a:rPr lang="zh-CN" altLang="en-US" sz="2400" b="1" dirty="0">
                <a:sym typeface="+mn-ea"/>
              </a:rPr>
              <a:t>操作流程</a:t>
            </a:r>
            <a:r>
              <a:rPr kumimoji="1" lang="en-US" altLang="zh-TW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·····················································</a:t>
            </a:r>
            <a:r>
              <a:rPr kumimoji="1" lang="en-US" altLang="zh-TW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15</a:t>
            </a:r>
            <a:r>
              <a:rPr lang="zh-CN" altLang="en-US" sz="2400" b="1" dirty="0"/>
              <a:t>五</a:t>
            </a:r>
            <a:r>
              <a:rPr lang="en-US" altLang="zh-CN" sz="2400" b="1" dirty="0" smtClean="0"/>
              <a:t>.</a:t>
            </a:r>
            <a:r>
              <a:rPr lang="zh-CN" altLang="en-US" sz="2400" b="1" dirty="0" smtClean="0"/>
              <a:t>设备通信配置、调试流程</a:t>
            </a:r>
            <a:r>
              <a:rPr lang="zh-CN" altLang="en-US" sz="2400" b="1" dirty="0"/>
              <a:t> </a:t>
            </a:r>
            <a:r>
              <a:rPr kumimoji="1" lang="en-US" altLang="zh-TW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·····································</a:t>
            </a:r>
            <a:r>
              <a:rPr kumimoji="1" lang="en-US" altLang="zh-CN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·</a:t>
            </a:r>
            <a:r>
              <a:rPr kumimoji="1" lang="en-US" altLang="zh-TW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··············19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六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机械手点位示教操作流程</a:t>
            </a:r>
            <a:r>
              <a:rPr kumimoji="1" lang="en-US" altLang="zh-TW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···················</a:t>
            </a:r>
            <a:r>
              <a:rPr kumimoji="1" lang="en-US" altLang="zh-CN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··</a:t>
            </a:r>
            <a:r>
              <a:rPr kumimoji="1" lang="en-US" altLang="zh-TW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······························</a:t>
            </a:r>
            <a:r>
              <a:rPr kumimoji="1" lang="en-US" altLang="zh-CN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··24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七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.PLC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Robot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监控软件程序导入流程</a:t>
            </a:r>
            <a:r>
              <a:rPr kumimoji="1" lang="en-US" altLang="zh-TW" sz="2400" b="1" dirty="0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··································38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八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.</a:t>
            </a:r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</a:rPr>
              <a:t>设备常见异常</a:t>
            </a:r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</a:rPr>
              <a:t>及处理</a:t>
            </a:r>
            <a:r>
              <a:rPr kumimoji="1" lang="en-US" altLang="zh-TW" sz="2400" b="1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····························································</a:t>
            </a:r>
            <a:r>
              <a:rPr kumimoji="1" lang="en-US" altLang="zh-TW" sz="2400" b="1" smtClean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48</a:t>
            </a:r>
            <a:endParaRPr kumimoji="1" lang="en-US" altLang="zh-TW" sz="2400" b="1" dirty="0">
              <a:ea typeface="PMingLiU" panose="02020500000000000000" pitchFamily="18" charset="-120"/>
              <a:cs typeface="PMingLiU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313716"/>
            <a:ext cx="822960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400" b="1" dirty="0" smtClean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一</a:t>
            </a:r>
            <a:r>
              <a:rPr kumimoji="1" lang="en-US" altLang="zh-TW" sz="2400" b="1" dirty="0" smtClean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r>
              <a:rPr lang="zh-CN" altLang="en-US" sz="2400" b="1" dirty="0" smtClean="0">
                <a:latin typeface="+mn-ea"/>
                <a:ea typeface="+mn-ea"/>
              </a:rPr>
              <a:t>主要组成部份</a:t>
            </a:r>
            <a:r>
              <a:rPr lang="zh-CN" altLang="en-US" sz="2400" b="1" dirty="0" smtClean="0">
                <a:latin typeface="+mn-ea"/>
                <a:ea typeface="+mn-ea"/>
              </a:rPr>
              <a:t>介绍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725" y="764704"/>
            <a:ext cx="2024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+mn-ea"/>
              </a:rPr>
              <a:t>1.1:</a:t>
            </a:r>
            <a:r>
              <a:rPr lang="zh-CN" altLang="en-US" b="1" dirty="0" smtClean="0">
                <a:latin typeface="+mn-ea"/>
              </a:rPr>
              <a:t>机械手硬件：</a:t>
            </a:r>
            <a:endParaRPr lang="zh-CN" altLang="en-US" b="1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1772285"/>
            <a:ext cx="4924425" cy="40386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175375" y="2021205"/>
            <a:ext cx="1703705" cy="5835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 sz="1600"/>
              <a:t>1.</a:t>
            </a:r>
            <a:r>
              <a:rPr lang="zh-CN" altLang="en-US" sz="1600"/>
              <a:t>机械手夹爪；</a:t>
            </a:r>
            <a:endParaRPr lang="zh-CN" altLang="en-US" sz="1600"/>
          </a:p>
          <a:p>
            <a:r>
              <a:rPr lang="en-US" altLang="zh-CN" sz="1600"/>
              <a:t>2.</a:t>
            </a:r>
            <a:r>
              <a:rPr lang="zh-CN" altLang="en-US" sz="1600"/>
              <a:t>真空发生器；</a:t>
            </a:r>
            <a:endParaRPr lang="zh-CN" altLang="en-US" sz="1600"/>
          </a:p>
        </p:txBody>
      </p:sp>
      <p:sp>
        <p:nvSpPr>
          <p:cNvPr id="2" name="文本框 1"/>
          <p:cNvSpPr txBox="1"/>
          <p:nvPr/>
        </p:nvSpPr>
        <p:spPr>
          <a:xfrm>
            <a:off x="4511040" y="4759960"/>
            <a:ext cx="37020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①</a:t>
            </a:r>
            <a:r>
              <a:rPr lang="en-US" altLang="zh-CN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endParaRPr lang="en-US" altLang="zh-CN" sz="12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80510" y="2463800"/>
            <a:ext cx="3359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②</a:t>
            </a:r>
            <a:endParaRPr lang="zh-CN" altLang="en-US" sz="12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706090"/>
          </a:xfrm>
        </p:spPr>
        <p:txBody>
          <a:bodyPr>
            <a:norm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一</a:t>
            </a:r>
            <a:r>
              <a:rPr kumimoji="1" lang="en-US" altLang="zh-TW" sz="2400" b="1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+mn-ea"/>
                <a:ea typeface="+mn-ea"/>
              </a:rPr>
              <a:t>主要组成部份</a:t>
            </a:r>
            <a:r>
              <a:rPr lang="zh-CN" altLang="en-US" sz="2400" b="1" dirty="0" smtClean="0">
                <a:latin typeface="+mn-ea"/>
                <a:ea typeface="+mn-ea"/>
              </a:rPr>
              <a:t>介绍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725" y="764704"/>
            <a:ext cx="17945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+mn-ea"/>
              </a:rPr>
              <a:t>1.1:</a:t>
            </a:r>
            <a:r>
              <a:rPr lang="zh-CN" altLang="en-US" b="1" dirty="0">
                <a:latin typeface="+mn-ea"/>
              </a:rPr>
              <a:t>参数介绍：</a:t>
            </a:r>
            <a:endParaRPr lang="zh-CN" altLang="en-US" b="1" dirty="0"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2227218"/>
            <a:ext cx="3027680" cy="1568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品牌</a:t>
            </a:r>
            <a:r>
              <a:rPr lang="zh-CN" altLang="en-US" sz="1600" dirty="0" smtClean="0">
                <a:latin typeface="+mn-ea"/>
              </a:rPr>
              <a:t>：爱普生（</a:t>
            </a:r>
            <a:r>
              <a:rPr lang="en-US" altLang="zh-CN" sz="1600" dirty="0" smtClean="0">
                <a:latin typeface="+mn-ea"/>
              </a:rPr>
              <a:t>EPSON</a:t>
            </a:r>
            <a:r>
              <a:rPr lang="zh-CN" altLang="en-US" sz="1600" dirty="0" smtClean="0">
                <a:latin typeface="+mn-ea"/>
              </a:rPr>
              <a:t>）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型号</a:t>
            </a:r>
            <a:r>
              <a:rPr lang="zh-CN" altLang="en-US" sz="1600" dirty="0" smtClean="0">
                <a:latin typeface="+mn-ea"/>
              </a:rPr>
              <a:t>：</a:t>
            </a:r>
            <a:r>
              <a:rPr lang="en-US" altLang="zh-CN" sz="1600" dirty="0" smtClean="0">
                <a:latin typeface="+mn-ea"/>
              </a:rPr>
              <a:t>LS20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臂长</a:t>
            </a:r>
            <a:r>
              <a:rPr lang="zh-CN" altLang="en-US" sz="1600" dirty="0" smtClean="0">
                <a:latin typeface="+mn-ea"/>
              </a:rPr>
              <a:t>：</a:t>
            </a:r>
            <a:r>
              <a:rPr lang="en-US" altLang="zh-CN" sz="1600" dirty="0" smtClean="0">
                <a:latin typeface="+mn-ea"/>
              </a:rPr>
              <a:t>1064mm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可搬重量</a:t>
            </a:r>
            <a:r>
              <a:rPr lang="zh-CN" altLang="en-US" sz="1600" dirty="0" smtClean="0">
                <a:latin typeface="+mn-ea"/>
              </a:rPr>
              <a:t>：额定</a:t>
            </a:r>
            <a:r>
              <a:rPr lang="en-US" altLang="zh-CN" sz="1600" dirty="0" smtClean="0">
                <a:latin typeface="+mn-ea"/>
              </a:rPr>
              <a:t>10kg</a:t>
            </a:r>
            <a:r>
              <a:rPr lang="zh-CN" altLang="en-US" sz="1600" dirty="0" smtClean="0">
                <a:latin typeface="+mn-ea"/>
              </a:rPr>
              <a:t>；最大</a:t>
            </a:r>
            <a:r>
              <a:rPr lang="en-US" altLang="zh-CN" sz="1600" dirty="0" smtClean="0">
                <a:latin typeface="+mn-ea"/>
              </a:rPr>
              <a:t>20kg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驱动方式：</a:t>
            </a:r>
            <a:r>
              <a:rPr lang="en-US" altLang="zh-CN" sz="1600" dirty="0">
                <a:latin typeface="+mn-ea"/>
              </a:rPr>
              <a:t>AC</a:t>
            </a:r>
            <a:r>
              <a:rPr lang="zh-CN" altLang="en-US" sz="1600" dirty="0">
                <a:latin typeface="+mn-ea"/>
              </a:rPr>
              <a:t>伺服马达</a:t>
            </a:r>
            <a:endParaRPr lang="zh-CN" altLang="en-US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功率：</a:t>
            </a:r>
            <a:r>
              <a:rPr lang="en-US" altLang="zh-CN" sz="1600" dirty="0">
                <a:latin typeface="+mn-ea"/>
              </a:rPr>
              <a:t>1940KW</a:t>
            </a:r>
            <a:endParaRPr lang="en-US" altLang="zh-CN" sz="1600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1865" y="1844675"/>
            <a:ext cx="4924425" cy="403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346646"/>
            <a:ext cx="8686800" cy="634082"/>
          </a:xfrm>
        </p:spPr>
        <p:txBody>
          <a:bodyPr>
            <a:normAutofit/>
          </a:bodyPr>
          <a:lstStyle/>
          <a:p>
            <a:pPr algn="l"/>
            <a:r>
              <a:rPr lang="zh-CN" altLang="en-US" sz="2400" b="1" dirty="0">
                <a:latin typeface="+mn-ea"/>
                <a:ea typeface="+mn-ea"/>
              </a:rPr>
              <a:t>一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r>
              <a:rPr lang="zh-CN" altLang="en-US" sz="2400" b="1" dirty="0">
                <a:latin typeface="+mn-ea"/>
                <a:ea typeface="+mn-ea"/>
              </a:rPr>
              <a:t>主要组成部份</a:t>
            </a:r>
            <a:r>
              <a:rPr lang="zh-CN" altLang="en-US" sz="2400" b="1" dirty="0" smtClean="0">
                <a:latin typeface="+mn-ea"/>
                <a:ea typeface="+mn-ea"/>
              </a:rPr>
              <a:t>介绍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96" y="836712"/>
            <a:ext cx="17945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+mn-ea"/>
              </a:rPr>
              <a:t>1.2:</a:t>
            </a:r>
            <a:r>
              <a:rPr lang="zh-CN" altLang="en-US" b="1" dirty="0" smtClean="0">
                <a:latin typeface="+mn-ea"/>
              </a:rPr>
              <a:t>治具模组：</a:t>
            </a:r>
            <a:endParaRPr lang="zh-CN" altLang="en-US" b="1" dirty="0"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2185119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/>
              <a:t>治具布局序列如右图所示：</a:t>
            </a:r>
            <a:endParaRPr lang="zh-CN" altLang="en-US" sz="14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9475" y="1052195"/>
            <a:ext cx="5405120" cy="53587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380605" y="2924810"/>
            <a:ext cx="87249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zh-CN" altLang="en-US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治具①</a:t>
            </a:r>
            <a:endParaRPr lang="zh-CN" altLang="en-US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62190" y="3954145"/>
            <a:ext cx="87249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zh-CN" altLang="en-US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治具②</a:t>
            </a:r>
            <a:endParaRPr lang="zh-CN" altLang="en-US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341235" y="4927600"/>
            <a:ext cx="87249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zh-CN" altLang="en-US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治具③</a:t>
            </a:r>
            <a:endParaRPr lang="zh-CN" altLang="en-US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40780" y="5023485"/>
            <a:ext cx="412750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zh-CN" altLang="en-US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治</a:t>
            </a:r>
            <a:endParaRPr lang="zh-CN" altLang="en-US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  <a:p>
            <a:r>
              <a:rPr lang="zh-CN" altLang="en-US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具</a:t>
            </a:r>
            <a:endParaRPr lang="zh-CN" altLang="en-US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  <a:p>
            <a:r>
              <a:rPr lang="zh-CN" altLang="en-US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④</a:t>
            </a:r>
            <a:endParaRPr lang="zh-CN" altLang="en-US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34965" y="5006975"/>
            <a:ext cx="412750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zh-CN" altLang="en-US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治</a:t>
            </a:r>
            <a:endParaRPr lang="zh-CN" altLang="en-US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  <a:p>
            <a:r>
              <a:rPr lang="zh-CN" altLang="en-US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具</a:t>
            </a:r>
            <a:endParaRPr lang="zh-CN" altLang="en-US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  <a:p>
            <a:r>
              <a:rPr lang="zh-CN" altLang="en-US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⑧</a:t>
            </a:r>
            <a:endParaRPr lang="zh-CN" altLang="en-US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848100" y="3051810"/>
            <a:ext cx="87249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zh-CN" altLang="en-US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治具⑤</a:t>
            </a:r>
            <a:endParaRPr lang="zh-CN" altLang="en-US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860165" y="4111625"/>
            <a:ext cx="87249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zh-CN" altLang="en-US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治具⑥</a:t>
            </a:r>
            <a:endParaRPr lang="zh-CN" altLang="en-US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62705" y="5099685"/>
            <a:ext cx="87249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zh-CN" altLang="en-US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治具⑦</a:t>
            </a:r>
            <a:endParaRPr lang="zh-CN" altLang="en-US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16140" y="5601970"/>
            <a:ext cx="361950" cy="7372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en-US" altLang="zh-CN" sz="1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N</a:t>
            </a:r>
            <a:endParaRPr lang="en-US" altLang="zh-CN" sz="14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  <a:p>
            <a:r>
              <a:rPr lang="en-US" altLang="zh-CN" sz="1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G</a:t>
            </a:r>
            <a:endParaRPr lang="en-US" altLang="zh-CN" sz="14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  <a:p>
            <a:r>
              <a:rPr lang="zh-CN" altLang="en-US" sz="1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①</a:t>
            </a:r>
            <a:endParaRPr lang="zh-CN" altLang="en-US" sz="14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472940" y="5614035"/>
            <a:ext cx="361950" cy="7372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en-US" altLang="zh-CN" sz="1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N</a:t>
            </a:r>
            <a:endParaRPr lang="en-US" altLang="zh-CN" sz="14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  <a:p>
            <a:r>
              <a:rPr lang="en-US" altLang="zh-CN" sz="1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G</a:t>
            </a:r>
            <a:endParaRPr lang="en-US" altLang="zh-CN" sz="14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  <a:p>
            <a:r>
              <a:rPr lang="zh-CN" altLang="en-US" sz="1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②</a:t>
            </a:r>
            <a:endParaRPr lang="zh-CN" altLang="en-US" sz="14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223635" y="2356485"/>
            <a:ext cx="361950" cy="7372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zh-CN" sz="1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中</a:t>
            </a:r>
            <a:endParaRPr lang="zh-CN" sz="14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  <a:p>
            <a:r>
              <a:rPr lang="zh-CN" sz="1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转</a:t>
            </a:r>
            <a:endParaRPr lang="zh-CN" sz="14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  <a:p>
            <a:r>
              <a:rPr lang="zh-CN" sz="1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①</a:t>
            </a:r>
            <a:endParaRPr lang="zh-CN" sz="14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566410" y="2339975"/>
            <a:ext cx="361950" cy="7372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zh-CN" sz="1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中</a:t>
            </a:r>
            <a:endParaRPr lang="zh-CN" sz="14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  <a:p>
            <a:r>
              <a:rPr lang="zh-CN" sz="1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转</a:t>
            </a:r>
            <a:endParaRPr lang="zh-CN" sz="14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  <a:p>
            <a:r>
              <a:rPr lang="zh-CN" sz="1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②</a:t>
            </a:r>
            <a:endParaRPr lang="zh-CN" sz="14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313716"/>
            <a:ext cx="822960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400" b="1" dirty="0" smtClean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一</a:t>
            </a:r>
            <a:r>
              <a:rPr kumimoji="1" lang="en-US" altLang="zh-TW" sz="2400" b="1" dirty="0" smtClean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r>
              <a:rPr lang="zh-CN" altLang="en-US" sz="2400" b="1" dirty="0" smtClean="0">
                <a:latin typeface="+mn-ea"/>
                <a:ea typeface="+mn-ea"/>
              </a:rPr>
              <a:t>主要组成部份</a:t>
            </a:r>
            <a:r>
              <a:rPr lang="zh-CN" altLang="en-US" sz="2400" b="1" dirty="0" smtClean="0">
                <a:latin typeface="+mn-ea"/>
                <a:ea typeface="+mn-ea"/>
              </a:rPr>
              <a:t>介绍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725" y="764704"/>
            <a:ext cx="2024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+mn-ea"/>
              </a:rPr>
              <a:t>1.3:</a:t>
            </a:r>
            <a:r>
              <a:rPr lang="zh-CN" altLang="en-US" b="1" dirty="0" smtClean="0">
                <a:latin typeface="+mn-ea"/>
              </a:rPr>
              <a:t>流水线模组：</a:t>
            </a:r>
            <a:endParaRPr lang="zh-CN" altLang="en-US" b="1" dirty="0">
              <a:latin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740" y="2780665"/>
            <a:ext cx="7514590" cy="27444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99745" y="1400175"/>
            <a:ext cx="107188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①横移模组</a:t>
            </a:r>
            <a:endParaRPr lang="zh-CN" altLang="en-US" sz="1400"/>
          </a:p>
          <a:p>
            <a:r>
              <a:rPr lang="zh-CN" altLang="en-US" sz="1400"/>
              <a:t>②上料模组</a:t>
            </a:r>
            <a:endParaRPr lang="zh-CN" altLang="en-US" sz="1400"/>
          </a:p>
          <a:p>
            <a:r>
              <a:rPr lang="zh-CN" altLang="en-US" sz="1400"/>
              <a:t>③下料模组</a:t>
            </a:r>
            <a:endParaRPr lang="zh-CN" altLang="en-US" sz="1400"/>
          </a:p>
        </p:txBody>
      </p:sp>
      <p:sp>
        <p:nvSpPr>
          <p:cNvPr id="10" name="文本框 9"/>
          <p:cNvSpPr txBox="1"/>
          <p:nvPr/>
        </p:nvSpPr>
        <p:spPr>
          <a:xfrm>
            <a:off x="8218805" y="3655060"/>
            <a:ext cx="360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400">
                <a:highlight>
                  <a:srgbClr val="00FF00"/>
                </a:highlight>
                <a:sym typeface="+mn-ea"/>
              </a:rPr>
              <a:t>①</a:t>
            </a:r>
            <a:endParaRPr lang="zh-CN" altLang="en-US" sz="1400">
              <a:highlight>
                <a:srgbClr val="00FF00"/>
              </a:highlight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05455" y="3364230"/>
            <a:ext cx="360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400">
                <a:highlight>
                  <a:srgbClr val="00FF00"/>
                </a:highlight>
                <a:sym typeface="+mn-ea"/>
              </a:rPr>
              <a:t>②</a:t>
            </a:r>
            <a:endParaRPr lang="zh-CN" altLang="en-US" sz="1400">
              <a:highlight>
                <a:srgbClr val="00FF00"/>
              </a:highlight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007995" y="2960370"/>
            <a:ext cx="360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400">
                <a:highlight>
                  <a:srgbClr val="00FF00"/>
                </a:highlight>
                <a:sym typeface="+mn-ea"/>
              </a:rPr>
              <a:t>③</a:t>
            </a:r>
            <a:endParaRPr lang="zh-CN" altLang="en-US" sz="1400">
              <a:highlight>
                <a:srgbClr val="00FF00"/>
              </a:highlight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161" y="3640355"/>
            <a:ext cx="1520767" cy="155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198834"/>
            <a:ext cx="5400600" cy="321284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  <a:cs typeface="Helvetica" charset="0"/>
              </a:rPr>
              <a:t>Electrical Module</a:t>
            </a:r>
            <a:endParaRPr lang="en-US" dirty="0">
              <a:latin typeface="+mn-ea"/>
              <a:ea typeface="+mn-ea"/>
              <a:cs typeface="Helvetica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8B0CCF-65C9-934D-B7EC-BDE196199481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6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65745">
            <a:off x="156153" y="2787214"/>
            <a:ext cx="2027000" cy="1266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9" name="矩形: 圆角 68"/>
          <p:cNvSpPr/>
          <p:nvPr/>
        </p:nvSpPr>
        <p:spPr>
          <a:xfrm>
            <a:off x="2300975" y="4390273"/>
            <a:ext cx="1012158" cy="936104"/>
          </a:xfrm>
          <a:prstGeom prst="roundRect">
            <a:avLst/>
          </a:prstGeom>
          <a:ln>
            <a:headEnd type="none"/>
            <a:tailEnd type="arrow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+mn-ea"/>
              </a:rPr>
              <a:t>Fixture</a:t>
            </a:r>
            <a:endParaRPr lang="en-US" altLang="zh-CN" dirty="0">
              <a:latin typeface="+mn-ea"/>
            </a:endParaRPr>
          </a:p>
        </p:txBody>
      </p:sp>
      <p:sp>
        <p:nvSpPr>
          <p:cNvPr id="70" name="矩形: 圆角 69"/>
          <p:cNvSpPr/>
          <p:nvPr/>
        </p:nvSpPr>
        <p:spPr>
          <a:xfrm>
            <a:off x="2453375" y="4542673"/>
            <a:ext cx="1012158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+mn-ea"/>
              </a:rPr>
              <a:t>Fixture</a:t>
            </a:r>
            <a:endParaRPr lang="en-US" altLang="zh-CN" dirty="0">
              <a:latin typeface="+mn-ea"/>
            </a:endParaRPr>
          </a:p>
        </p:txBody>
      </p:sp>
      <p:sp>
        <p:nvSpPr>
          <p:cNvPr id="78" name="矩形: 圆角 77"/>
          <p:cNvSpPr/>
          <p:nvPr/>
        </p:nvSpPr>
        <p:spPr>
          <a:xfrm>
            <a:off x="2605775" y="4695073"/>
            <a:ext cx="1012158" cy="936104"/>
          </a:xfrm>
          <a:prstGeom prst="roundRect">
            <a:avLst/>
          </a:prstGeom>
          <a:ln>
            <a:headEnd type="none"/>
            <a:tailEnd type="arrow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+mn-ea"/>
              </a:rPr>
              <a:t>Fixture</a:t>
            </a:r>
            <a:endParaRPr lang="en-US" altLang="zh-CN" dirty="0">
              <a:latin typeface="+mn-ea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2758175" y="4847473"/>
            <a:ext cx="1012158" cy="936104"/>
          </a:xfrm>
          <a:prstGeom prst="roundRect">
            <a:avLst/>
          </a:prstGeom>
          <a:ln>
            <a:headEnd type="none"/>
            <a:tailEnd type="arrow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+mn-ea"/>
              </a:rPr>
              <a:t>Fixture</a:t>
            </a:r>
            <a:endParaRPr lang="en-US" altLang="zh-CN" dirty="0">
              <a:latin typeface="+mn-ea"/>
            </a:endParaRPr>
          </a:p>
        </p:txBody>
      </p:sp>
      <p:cxnSp>
        <p:nvCxnSpPr>
          <p:cNvPr id="81" name="连接符: 肘形 80"/>
          <p:cNvCxnSpPr>
            <a:stCxn id="104" idx="0"/>
          </p:cNvCxnSpPr>
          <p:nvPr/>
        </p:nvCxnSpPr>
        <p:spPr>
          <a:xfrm rot="16200000" flipH="1" flipV="1">
            <a:off x="1360537" y="1641226"/>
            <a:ext cx="932509" cy="1933459"/>
          </a:xfrm>
          <a:prstGeom prst="bentConnector4">
            <a:avLst>
              <a:gd name="adj1" fmla="val -24515"/>
              <a:gd name="adj2" fmla="val 100293"/>
            </a:avLst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2" name="连接符: 肘形 81"/>
          <p:cNvCxnSpPr/>
          <p:nvPr/>
        </p:nvCxnSpPr>
        <p:spPr>
          <a:xfrm flipV="1">
            <a:off x="5796280" y="2582545"/>
            <a:ext cx="566420" cy="53975"/>
          </a:xfrm>
          <a:prstGeom prst="bentConnector3">
            <a:avLst>
              <a:gd name="adj1" fmla="val 50112"/>
            </a:avLst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88" name="图片 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621" y="2200081"/>
            <a:ext cx="1414555" cy="764316"/>
          </a:xfrm>
          <a:prstGeom prst="rect">
            <a:avLst/>
          </a:prstGeom>
        </p:spPr>
      </p:pic>
      <p:sp>
        <p:nvSpPr>
          <p:cNvPr id="89" name="文本框 88"/>
          <p:cNvSpPr txBox="1"/>
          <p:nvPr/>
        </p:nvSpPr>
        <p:spPr>
          <a:xfrm>
            <a:off x="6761939" y="2123853"/>
            <a:ext cx="652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n-ea"/>
              </a:rPr>
              <a:t>IPC</a:t>
            </a:r>
            <a:endParaRPr lang="zh-CN" altLang="en-US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+mn-ea"/>
            </a:endParaRPr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284" y="5665243"/>
            <a:ext cx="1848589" cy="690933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6392" y="3852160"/>
            <a:ext cx="1038108" cy="462660"/>
          </a:xfrm>
          <a:prstGeom prst="rect">
            <a:avLst/>
          </a:prstGeom>
        </p:spPr>
      </p:pic>
      <p:cxnSp>
        <p:nvCxnSpPr>
          <p:cNvPr id="95" name="直接箭头连接符 94"/>
          <p:cNvCxnSpPr>
            <a:stCxn id="88" idx="2"/>
            <a:endCxn id="93" idx="0"/>
          </p:cNvCxnSpPr>
          <p:nvPr/>
        </p:nvCxnSpPr>
        <p:spPr>
          <a:xfrm flipH="1">
            <a:off x="7055294" y="2965032"/>
            <a:ext cx="14605" cy="82550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>
            <a:off x="6866677" y="4365666"/>
            <a:ext cx="0" cy="1299577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>
            <a:off x="7019077" y="4365666"/>
            <a:ext cx="0" cy="1299577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>
            <a:off x="7171477" y="4365666"/>
            <a:ext cx="0" cy="1299577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/>
        </p:nvCxnSpPr>
        <p:spPr>
          <a:xfrm>
            <a:off x="7323877" y="4365666"/>
            <a:ext cx="0" cy="1299577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0" name="图片 9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983" y="5741471"/>
            <a:ext cx="1848589" cy="690933"/>
          </a:xfrm>
          <a:prstGeom prst="rect">
            <a:avLst/>
          </a:prstGeom>
        </p:spPr>
      </p:pic>
      <p:pic>
        <p:nvPicPr>
          <p:cNvPr id="101" name="图片 1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684" y="5817643"/>
            <a:ext cx="1848589" cy="690933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084" y="5970043"/>
            <a:ext cx="1848589" cy="690933"/>
          </a:xfrm>
          <a:prstGeom prst="rect">
            <a:avLst/>
          </a:prstGeom>
        </p:spPr>
      </p:pic>
      <p:pic>
        <p:nvPicPr>
          <p:cNvPr id="103" name="图片 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484" y="6122443"/>
            <a:ext cx="1848589" cy="690933"/>
          </a:xfrm>
          <a:prstGeom prst="rect">
            <a:avLst/>
          </a:prstGeom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1044" y="2141702"/>
            <a:ext cx="984954" cy="1045700"/>
          </a:xfrm>
          <a:prstGeom prst="rect">
            <a:avLst/>
          </a:prstGeom>
        </p:spPr>
      </p:pic>
      <p:cxnSp>
        <p:nvCxnSpPr>
          <p:cNvPr id="105" name="直接箭头连接符 104"/>
          <p:cNvCxnSpPr/>
          <p:nvPr/>
        </p:nvCxnSpPr>
        <p:spPr>
          <a:xfrm>
            <a:off x="3264535" y="2734945"/>
            <a:ext cx="1307465" cy="457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7" name="连接符: 肘形 106"/>
          <p:cNvCxnSpPr>
            <a:stCxn id="91" idx="1"/>
            <a:endCxn id="80" idx="1"/>
          </p:cNvCxnSpPr>
          <p:nvPr/>
        </p:nvCxnSpPr>
        <p:spPr>
          <a:xfrm rot="10800000">
            <a:off x="2758176" y="5315526"/>
            <a:ext cx="3427109" cy="695185"/>
          </a:xfrm>
          <a:prstGeom prst="bentConnector3">
            <a:avLst>
              <a:gd name="adj1" fmla="val 106670"/>
            </a:avLst>
          </a:prstGeom>
          <a:ln w="19050">
            <a:solidFill>
              <a:srgbClr val="0066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连接符: 肘形 107"/>
          <p:cNvCxnSpPr>
            <a:endCxn id="78" idx="1"/>
          </p:cNvCxnSpPr>
          <p:nvPr/>
        </p:nvCxnSpPr>
        <p:spPr>
          <a:xfrm rot="10800000">
            <a:off x="2605776" y="5163125"/>
            <a:ext cx="3731913" cy="999984"/>
          </a:xfrm>
          <a:prstGeom prst="bentConnector3">
            <a:avLst>
              <a:gd name="adj1" fmla="val 106126"/>
            </a:avLst>
          </a:prstGeom>
          <a:ln w="19050">
            <a:solidFill>
              <a:srgbClr val="0066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连接符: 肘形 108"/>
          <p:cNvCxnSpPr>
            <a:endCxn id="70" idx="1"/>
          </p:cNvCxnSpPr>
          <p:nvPr/>
        </p:nvCxnSpPr>
        <p:spPr>
          <a:xfrm rot="10800000">
            <a:off x="2453376" y="5010726"/>
            <a:ext cx="4036709" cy="1345451"/>
          </a:xfrm>
          <a:prstGeom prst="bentConnector3">
            <a:avLst>
              <a:gd name="adj1" fmla="val 105663"/>
            </a:avLst>
          </a:prstGeom>
          <a:ln w="19050">
            <a:solidFill>
              <a:srgbClr val="0066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连接符: 肘形 109"/>
          <p:cNvCxnSpPr>
            <a:endCxn id="69" idx="1"/>
          </p:cNvCxnSpPr>
          <p:nvPr/>
        </p:nvCxnSpPr>
        <p:spPr>
          <a:xfrm rot="10800000">
            <a:off x="2300976" y="4858326"/>
            <a:ext cx="4341509" cy="1650251"/>
          </a:xfrm>
          <a:prstGeom prst="bentConnector3">
            <a:avLst>
              <a:gd name="adj1" fmla="val 105265"/>
            </a:avLst>
          </a:prstGeom>
          <a:ln w="19050">
            <a:solidFill>
              <a:srgbClr val="0066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双波形 110"/>
          <p:cNvSpPr/>
          <p:nvPr/>
        </p:nvSpPr>
        <p:spPr>
          <a:xfrm>
            <a:off x="7812360" y="3103065"/>
            <a:ext cx="936104" cy="690933"/>
          </a:xfrm>
          <a:prstGeom prst="doubleWave">
            <a:avLst/>
          </a:prstGeom>
          <a:ln>
            <a:headEnd type="none"/>
            <a:tailEnd type="arrow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n-ea"/>
              </a:rPr>
              <a:t>APDC</a:t>
            </a:r>
            <a:endParaRPr lang="en-US" altLang="zh-CN" dirty="0">
              <a:latin typeface="+mn-ea"/>
            </a:endParaRPr>
          </a:p>
          <a:p>
            <a:pPr algn="ctr"/>
            <a:r>
              <a:rPr lang="en-US" altLang="zh-CN" dirty="0">
                <a:latin typeface="+mn-ea"/>
              </a:rPr>
              <a:t>Server</a:t>
            </a:r>
            <a:endParaRPr lang="zh-CN" altLang="en-US" dirty="0">
              <a:latin typeface="+mn-ea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5648178" y="3728602"/>
            <a:ext cx="611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2E3033"/>
                </a:solidFill>
                <a:latin typeface="+mn-ea"/>
              </a:rPr>
              <a:t>TCP</a:t>
            </a:r>
            <a:endParaRPr lang="en-US" altLang="zh-CN" b="0" i="0" dirty="0">
              <a:solidFill>
                <a:srgbClr val="2E3033"/>
              </a:solidFill>
              <a:effectLst/>
              <a:latin typeface="+mn-ea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6994492" y="3161517"/>
            <a:ext cx="611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2E3033"/>
                </a:solidFill>
                <a:latin typeface="+mn-ea"/>
              </a:rPr>
              <a:t>TCP</a:t>
            </a:r>
            <a:endParaRPr lang="en-US" altLang="zh-CN" b="0" i="0" dirty="0">
              <a:solidFill>
                <a:srgbClr val="2E3033"/>
              </a:solidFill>
              <a:effectLst/>
              <a:latin typeface="+mn-ea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7278277" y="4823285"/>
            <a:ext cx="611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2E3033"/>
                </a:solidFill>
                <a:latin typeface="+mn-ea"/>
              </a:rPr>
              <a:t>TCP</a:t>
            </a:r>
            <a:endParaRPr lang="en-US" altLang="zh-CN" b="0" i="0" dirty="0">
              <a:solidFill>
                <a:srgbClr val="2E3033"/>
              </a:solidFill>
              <a:effectLst/>
              <a:latin typeface="+mn-ea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4387259" y="6074252"/>
            <a:ext cx="611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2E3033"/>
                </a:solidFill>
                <a:latin typeface="+mn-ea"/>
              </a:rPr>
              <a:t>USB</a:t>
            </a:r>
            <a:endParaRPr lang="en-US" altLang="zh-CN" b="0" i="0" dirty="0">
              <a:solidFill>
                <a:srgbClr val="2E3033"/>
              </a:solidFill>
              <a:effectLst/>
              <a:latin typeface="+mn-ea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1399231" y="1547500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2E3033"/>
                </a:solidFill>
                <a:latin typeface="+mn-ea"/>
              </a:rPr>
              <a:t>IO</a:t>
            </a:r>
            <a:endParaRPr lang="en-US" altLang="zh-CN" b="0" i="0" dirty="0">
              <a:solidFill>
                <a:srgbClr val="2E3033"/>
              </a:solidFill>
              <a:effectLst/>
              <a:latin typeface="+mn-ea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3465668" y="2276680"/>
            <a:ext cx="117729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2E3033"/>
                </a:solidFill>
                <a:latin typeface="+mn-ea"/>
              </a:rPr>
              <a:t>Ethernet</a:t>
            </a:r>
            <a:endParaRPr lang="en-US" altLang="zh-CN" b="0" i="0" dirty="0">
              <a:solidFill>
                <a:srgbClr val="2E3033"/>
              </a:solidFill>
              <a:effectLst/>
              <a:latin typeface="+mn-ea"/>
            </a:endParaRPr>
          </a:p>
        </p:txBody>
      </p:sp>
      <p:cxnSp>
        <p:nvCxnSpPr>
          <p:cNvPr id="119" name="连接符: 肘形 118"/>
          <p:cNvCxnSpPr>
            <a:stCxn id="103" idx="3"/>
            <a:endCxn id="111" idx="3"/>
          </p:cNvCxnSpPr>
          <p:nvPr/>
        </p:nvCxnSpPr>
        <p:spPr>
          <a:xfrm flipV="1">
            <a:off x="8491073" y="3448532"/>
            <a:ext cx="257391" cy="3019378"/>
          </a:xfrm>
          <a:prstGeom prst="bentConnector3">
            <a:avLst>
              <a:gd name="adj1" fmla="val 188814"/>
            </a:avLst>
          </a:prstGeom>
          <a:ln w="19050">
            <a:solidFill>
              <a:srgbClr val="0066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连接符: 肘形 119"/>
          <p:cNvCxnSpPr>
            <a:endCxn id="92" idx="1"/>
          </p:cNvCxnSpPr>
          <p:nvPr/>
        </p:nvCxnSpPr>
        <p:spPr>
          <a:xfrm flipV="1">
            <a:off x="5085821" y="4083490"/>
            <a:ext cx="1460571" cy="40634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5496" y="827420"/>
            <a:ext cx="19088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+mn-ea"/>
              </a:rPr>
              <a:t>1.4</a:t>
            </a:r>
            <a:r>
              <a:rPr lang="zh-CN" altLang="en-US" b="1" dirty="0" smtClean="0">
                <a:latin typeface="+mn-ea"/>
              </a:rPr>
              <a:t>通信</a:t>
            </a:r>
            <a:r>
              <a:rPr lang="zh-CN" altLang="en-US" b="1" dirty="0">
                <a:latin typeface="+mn-ea"/>
              </a:rPr>
              <a:t>系统链：</a:t>
            </a:r>
            <a:endParaRPr lang="zh-CN" altLang="en-US" b="1" dirty="0">
              <a:latin typeface="+mn-ea"/>
            </a:endParaRPr>
          </a:p>
        </p:txBody>
      </p:sp>
      <p:sp>
        <p:nvSpPr>
          <p:cNvPr id="46" name="标题 1"/>
          <p:cNvSpPr txBox="1"/>
          <p:nvPr/>
        </p:nvSpPr>
        <p:spPr>
          <a:xfrm>
            <a:off x="0" y="346646"/>
            <a:ext cx="8686800" cy="63408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1600" b="0" i="0" u="sng" kern="1200">
                <a:solidFill>
                  <a:schemeClr val="tx1">
                    <a:lumMod val="50000"/>
                    <a:lumOff val="50000"/>
                  </a:schemeClr>
                </a:solidFill>
                <a:latin typeface="Helvetica Regular" charset="0"/>
                <a:ea typeface="+mj-ea"/>
                <a:cs typeface="Helvetica Regular" charset="0"/>
              </a:defRPr>
            </a:lvl1pPr>
          </a:lstStyle>
          <a:p>
            <a:r>
              <a:rPr lang="zh-CN" altLang="en-US" sz="2400" b="1" u="none" dirty="0" smtClean="0">
                <a:solidFill>
                  <a:schemeClr val="tx1"/>
                </a:solidFill>
                <a:latin typeface="+mn-ea"/>
                <a:ea typeface="+mn-ea"/>
              </a:rPr>
              <a:t>一</a:t>
            </a:r>
            <a:r>
              <a:rPr lang="en-US" altLang="zh-CN" sz="2400" b="1" u="none" dirty="0" smtClean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r>
              <a:rPr lang="zh-CN" altLang="en-US" sz="2400" b="1" u="none" dirty="0" smtClean="0">
                <a:solidFill>
                  <a:schemeClr val="tx1"/>
                </a:solidFill>
                <a:latin typeface="+mn-ea"/>
                <a:ea typeface="+mn-ea"/>
              </a:rPr>
              <a:t>主要组成部份介绍</a:t>
            </a:r>
            <a:endParaRPr lang="zh-CN" altLang="en-US" sz="2400" u="none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252" y="2400550"/>
            <a:ext cx="1038108" cy="4626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60290" y="2119630"/>
            <a:ext cx="72009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交换机</a:t>
            </a:r>
            <a:endParaRPr lang="zh-CN" altLang="en-US" sz="14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09410" y="3825240"/>
            <a:ext cx="72009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路由器</a:t>
            </a:r>
            <a:endParaRPr lang="zh-CN" altLang="en-US" sz="14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490156"/>
            <a:ext cx="8686800" cy="634082"/>
          </a:xfrm>
        </p:spPr>
        <p:txBody>
          <a:bodyPr>
            <a:noAutofit/>
          </a:bodyPr>
          <a:lstStyle/>
          <a:p>
            <a:pPr algn="l"/>
            <a:r>
              <a:rPr lang="zh-CN" altLang="en-US" sz="2400" b="1" dirty="0">
                <a:latin typeface="+mn-ea"/>
                <a:ea typeface="+mn-ea"/>
              </a:rPr>
              <a:t>二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设备初始化、启动操作流程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504" y="980728"/>
            <a:ext cx="2024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+mn-ea"/>
              </a:rPr>
              <a:t>2.1:</a:t>
            </a:r>
            <a:r>
              <a:rPr lang="zh-CN" altLang="en-US" b="1" dirty="0">
                <a:latin typeface="+mn-ea"/>
              </a:rPr>
              <a:t>运行机械手；</a:t>
            </a:r>
            <a:endParaRPr lang="zh-CN" altLang="en-US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2348865"/>
            <a:ext cx="7907655" cy="40493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490" y="1198245"/>
            <a:ext cx="723900" cy="9334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9240" y="1573530"/>
            <a:ext cx="4059555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/>
              <a:t>1.</a:t>
            </a:r>
            <a:r>
              <a:rPr lang="zh-CN" altLang="en-US" sz="1400"/>
              <a:t>打开桌面的</a:t>
            </a:r>
            <a:r>
              <a:rPr lang="en-US" altLang="zh-CN" sz="1400"/>
              <a:t>EPSON</a:t>
            </a:r>
            <a:r>
              <a:rPr lang="zh-CN" altLang="en-US" sz="1400"/>
              <a:t>机械手</a:t>
            </a:r>
            <a:r>
              <a:rPr lang="zh-CN" altLang="en-US" sz="1400"/>
              <a:t>软件；</a:t>
            </a:r>
            <a:endParaRPr lang="zh-CN" altLang="en-US" sz="1400"/>
          </a:p>
          <a:p>
            <a:r>
              <a:rPr lang="en-US" altLang="zh-CN" sz="1400"/>
              <a:t>2.</a:t>
            </a:r>
            <a:r>
              <a:rPr lang="zh-CN" altLang="en-US" sz="1400"/>
              <a:t>打开机械手管理器，检查机械手</a:t>
            </a:r>
            <a:r>
              <a:rPr lang="zh-CN" altLang="en-US" sz="1400" b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是否已上使能</a:t>
            </a:r>
            <a:r>
              <a:rPr lang="zh-CN" altLang="en-US" sz="1400"/>
              <a:t>；</a:t>
            </a:r>
            <a:endParaRPr lang="zh-CN" altLang="en-US" sz="1400"/>
          </a:p>
          <a:p>
            <a:r>
              <a:rPr lang="zh-CN" altLang="en-US" sz="1400"/>
              <a:t>下图为机械手已上使能的</a:t>
            </a:r>
            <a:r>
              <a:rPr lang="zh-CN" altLang="en-US" sz="1400"/>
              <a:t>状态；</a:t>
            </a:r>
            <a:endParaRPr lang="zh-CN" altLang="en-US" sz="1400"/>
          </a:p>
        </p:txBody>
      </p:sp>
      <p:cxnSp>
        <p:nvCxnSpPr>
          <p:cNvPr id="3" name="直接箭头连接符 2"/>
          <p:cNvCxnSpPr/>
          <p:nvPr/>
        </p:nvCxnSpPr>
        <p:spPr>
          <a:xfrm>
            <a:off x="3380740" y="2089785"/>
            <a:ext cx="471170" cy="1986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07504" y="980728"/>
            <a:ext cx="2024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b="1" dirty="0">
                <a:latin typeface="+mn-ea"/>
              </a:rPr>
              <a:t>2.2:</a:t>
            </a:r>
            <a:r>
              <a:rPr lang="zh-CN" altLang="en-US" b="1" dirty="0">
                <a:latin typeface="+mn-ea"/>
              </a:rPr>
              <a:t>运行机械手；</a:t>
            </a:r>
            <a:endParaRPr lang="zh-CN" altLang="en-US" b="1" dirty="0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375" y="1497330"/>
            <a:ext cx="27584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/>
              <a:t>3.</a:t>
            </a:r>
            <a:r>
              <a:rPr lang="zh-CN" altLang="en-US" sz="1400"/>
              <a:t>按</a:t>
            </a:r>
            <a:r>
              <a:rPr lang="en-US" altLang="zh-CN" sz="1400"/>
              <a:t>F5</a:t>
            </a:r>
            <a:r>
              <a:rPr lang="zh-CN" altLang="en-US" sz="1400"/>
              <a:t>键打开机械手运行窗口，</a:t>
            </a:r>
            <a:endParaRPr lang="zh-CN" altLang="en-US" sz="1400"/>
          </a:p>
          <a:p>
            <a:r>
              <a:rPr lang="zh-CN" altLang="en-US" sz="1400"/>
              <a:t>点击</a:t>
            </a:r>
            <a:r>
              <a:rPr lang="zh-CN" altLang="en-US" sz="1400" b="1" u="sng">
                <a:solidFill>
                  <a:srgbClr val="0070C0"/>
                </a:solidFill>
              </a:rPr>
              <a:t>激活远程</a:t>
            </a:r>
            <a:r>
              <a:rPr lang="zh-CN" altLang="en-US" sz="1400"/>
              <a:t>；（等待</a:t>
            </a:r>
            <a:r>
              <a:rPr lang="en-US" altLang="zh-CN" sz="1400"/>
              <a:t>PLC</a:t>
            </a:r>
            <a:r>
              <a:rPr lang="zh-CN" altLang="en-US" sz="1400"/>
              <a:t>连接）</a:t>
            </a:r>
            <a:endParaRPr lang="zh-CN" altLang="en-US" sz="14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1820" y="836295"/>
            <a:ext cx="5863590" cy="565975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791845" y="1954530"/>
            <a:ext cx="4356735" cy="406654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"/>
          <p:cNvSpPr>
            <a:spLocks noGrp="1"/>
          </p:cNvSpPr>
          <p:nvPr/>
        </p:nvSpPr>
        <p:spPr>
          <a:xfrm>
            <a:off x="0" y="490156"/>
            <a:ext cx="8686800" cy="634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二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设备初始化、启动操作流程</a:t>
            </a:r>
            <a:endParaRPr lang="zh-CN" altLang="en-US" sz="24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5496" y="899428"/>
            <a:ext cx="31750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+mn-ea"/>
              </a:rPr>
              <a:t>2.3</a:t>
            </a:r>
            <a:r>
              <a:rPr lang="zh-CN" altLang="en-US" b="1" dirty="0" smtClean="0">
                <a:latin typeface="+mn-ea"/>
              </a:rPr>
              <a:t>：打开</a:t>
            </a:r>
            <a:r>
              <a:rPr lang="en-US" altLang="zh-CN" b="1" dirty="0" smtClean="0">
                <a:latin typeface="+mn-ea"/>
              </a:rPr>
              <a:t>MAC</a:t>
            </a:r>
            <a:r>
              <a:rPr lang="zh-CN" altLang="en-US" b="1" dirty="0" smtClean="0">
                <a:latin typeface="+mn-ea"/>
              </a:rPr>
              <a:t>端的</a:t>
            </a:r>
            <a:r>
              <a:rPr lang="zh-CN" altLang="en-US" b="1" dirty="0" smtClean="0">
                <a:latin typeface="+mn-ea"/>
              </a:rPr>
              <a:t>监控软件；</a:t>
            </a:r>
            <a:endParaRPr lang="zh-CN" altLang="en-US" b="1" dirty="0" smtClean="0">
              <a:latin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490156"/>
            <a:ext cx="8686800" cy="634082"/>
          </a:xfrm>
        </p:spPr>
        <p:txBody>
          <a:bodyPr>
            <a:noAutofit/>
          </a:bodyPr>
          <a:lstStyle/>
          <a:p>
            <a:pPr algn="l"/>
            <a:r>
              <a:rPr lang="zh-CN" altLang="en-US" sz="2400" b="1" dirty="0">
                <a:latin typeface="+mn-ea"/>
                <a:ea typeface="+mn-ea"/>
              </a:rPr>
              <a:t>二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设备初始化、启动操作流程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5575" y="1522730"/>
            <a:ext cx="29165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400"/>
              <a:t>1.</a:t>
            </a:r>
            <a:r>
              <a:rPr lang="zh-CN" altLang="en-US" sz="1400"/>
              <a:t>配置</a:t>
            </a:r>
            <a:r>
              <a:rPr lang="en-US" altLang="zh-CN" sz="1400"/>
              <a:t>VNC</a:t>
            </a:r>
            <a:r>
              <a:rPr lang="zh-CN" altLang="en-US" sz="1400"/>
              <a:t>教程见第五章节（</a:t>
            </a:r>
            <a:r>
              <a:rPr lang="en-US" altLang="zh-CN" sz="1400"/>
              <a:t>5.2</a:t>
            </a:r>
            <a:r>
              <a:rPr lang="zh-CN" altLang="en-US" sz="1400"/>
              <a:t>）；</a:t>
            </a:r>
            <a:endParaRPr lang="zh-CN" altLang="en-US" sz="1400"/>
          </a:p>
          <a:p>
            <a:pPr algn="l"/>
            <a:r>
              <a:rPr lang="en-US" altLang="zh-CN" sz="1400"/>
              <a:t>2.</a:t>
            </a:r>
            <a:r>
              <a:rPr lang="zh-CN" altLang="en-US" sz="1400"/>
              <a:t>在</a:t>
            </a:r>
            <a:r>
              <a:rPr lang="en-US" altLang="zh-CN" sz="1400"/>
              <a:t>MAC MINI</a:t>
            </a:r>
            <a:r>
              <a:rPr lang="zh-CN" altLang="en-US" sz="1400"/>
              <a:t>桌面上</a:t>
            </a:r>
            <a:r>
              <a:rPr lang="zh-CN" altLang="en-US" sz="1400" b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打开监控软件</a:t>
            </a:r>
            <a:r>
              <a:rPr lang="zh-CN" altLang="en-US" sz="1400"/>
              <a:t>；</a:t>
            </a:r>
            <a:endParaRPr lang="zh-CN" altLang="en-US" sz="1400"/>
          </a:p>
          <a:p>
            <a:pPr algn="l"/>
            <a:r>
              <a:rPr lang="en-US" altLang="zh-CN" sz="1400"/>
              <a:t>3.</a:t>
            </a:r>
            <a:r>
              <a:rPr lang="zh-CN" altLang="en-US" sz="1400"/>
              <a:t>打开</a:t>
            </a:r>
            <a:r>
              <a:rPr lang="en-US" altLang="zh-CN" sz="1400"/>
              <a:t>Atlas</a:t>
            </a:r>
            <a:r>
              <a:rPr lang="zh-CN" altLang="en-US" sz="1400"/>
              <a:t>测试软体；（</a:t>
            </a:r>
            <a:r>
              <a:rPr lang="zh-CN" altLang="en-US" sz="1400">
                <a:sym typeface="+mn-ea"/>
              </a:rPr>
              <a:t>如右图二</a:t>
            </a:r>
            <a:r>
              <a:rPr lang="zh-CN" altLang="en-US" sz="1400"/>
              <a:t>）</a:t>
            </a:r>
            <a:endParaRPr lang="zh-CN" altLang="en-US" sz="1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5965" y="1782445"/>
            <a:ext cx="4438650" cy="14097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283585" y="1468120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图</a:t>
            </a:r>
            <a:r>
              <a:rPr lang="zh-CN" altLang="en-US" sz="1400"/>
              <a:t>一</a:t>
            </a:r>
            <a:endParaRPr lang="zh-CN" altLang="en-US" sz="1400"/>
          </a:p>
        </p:txBody>
      </p:sp>
      <p:cxnSp>
        <p:nvCxnSpPr>
          <p:cNvPr id="3" name="直接箭头连接符 2"/>
          <p:cNvCxnSpPr/>
          <p:nvPr/>
        </p:nvCxnSpPr>
        <p:spPr>
          <a:xfrm>
            <a:off x="2504440" y="1967230"/>
            <a:ext cx="4660265" cy="52514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0" y="4149090"/>
            <a:ext cx="1485900" cy="11906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338830" y="3747770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图</a:t>
            </a:r>
            <a:r>
              <a:rPr lang="zh-CN" altLang="en-US" sz="1400"/>
              <a:t>二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5496" y="899428"/>
            <a:ext cx="17945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+mn-ea"/>
              </a:rPr>
              <a:t>2.4:</a:t>
            </a:r>
            <a:r>
              <a:rPr lang="zh-CN" altLang="en-US" b="1" dirty="0" smtClean="0">
                <a:latin typeface="+mn-ea"/>
              </a:rPr>
              <a:t>运行</a:t>
            </a:r>
            <a:r>
              <a:rPr lang="zh-CN" altLang="en-US" b="1" dirty="0" smtClean="0">
                <a:latin typeface="+mn-ea"/>
              </a:rPr>
              <a:t>上位机</a:t>
            </a:r>
            <a:endParaRPr lang="zh-CN" altLang="en-US" b="1" dirty="0" smtClean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4120" y="1196975"/>
            <a:ext cx="752475" cy="6953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685" y="1892300"/>
            <a:ext cx="5843270" cy="42075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410" y="6092825"/>
            <a:ext cx="1820545" cy="2025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410" y="6284595"/>
            <a:ext cx="1821180" cy="2508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8575" y="1383665"/>
            <a:ext cx="2641600" cy="11684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/>
              <a:t>1.</a:t>
            </a:r>
            <a:r>
              <a:rPr lang="zh-CN" altLang="en-US" sz="1400"/>
              <a:t>运行桌面</a:t>
            </a:r>
            <a:r>
              <a:rPr lang="en-US" altLang="zh-CN" sz="1400"/>
              <a:t>strong project</a:t>
            </a:r>
            <a:r>
              <a:rPr lang="zh-CN" altLang="en-US" sz="1400"/>
              <a:t>软件；</a:t>
            </a:r>
            <a:endParaRPr lang="zh-CN" altLang="en-US" sz="1400"/>
          </a:p>
          <a:p>
            <a:r>
              <a:rPr lang="en-US" altLang="zh-CN" sz="1400"/>
              <a:t>2.</a:t>
            </a:r>
            <a:r>
              <a:rPr lang="zh-CN" altLang="en-US" sz="1400"/>
              <a:t>打开后如右图，点击</a:t>
            </a:r>
            <a:r>
              <a:rPr lang="zh-CN" altLang="en-US" sz="1400"/>
              <a:t>主界面</a:t>
            </a:r>
            <a:endParaRPr lang="zh-CN" altLang="en-US" sz="1400"/>
          </a:p>
          <a:p>
            <a:r>
              <a:rPr lang="zh-CN" altLang="en-US" sz="1400"/>
              <a:t>的</a:t>
            </a:r>
            <a:r>
              <a:rPr lang="zh-CN" altLang="en-US" sz="1400" b="1" u="sng"/>
              <a:t>复位</a:t>
            </a:r>
            <a:r>
              <a:rPr lang="en-US" altLang="zh-CN" sz="1400" b="1" u="sng"/>
              <a:t>button</a:t>
            </a:r>
            <a:r>
              <a:rPr lang="zh-CN" altLang="en-US" sz="1400"/>
              <a:t>，进入待机</a:t>
            </a:r>
            <a:r>
              <a:rPr lang="zh-CN" altLang="en-US" sz="1400"/>
              <a:t>状态；</a:t>
            </a:r>
            <a:endParaRPr lang="zh-CN" altLang="en-US" sz="1400"/>
          </a:p>
          <a:p>
            <a:r>
              <a:rPr lang="en-US" altLang="zh-CN" sz="1400"/>
              <a:t>3.</a:t>
            </a:r>
            <a:r>
              <a:rPr lang="zh-CN" altLang="en-US" sz="1400"/>
              <a:t>点击</a:t>
            </a:r>
            <a:r>
              <a:rPr lang="zh-CN" altLang="en-US" sz="1400" b="1" u="sng"/>
              <a:t>启动</a:t>
            </a:r>
            <a:r>
              <a:rPr lang="en-US" altLang="zh-CN" sz="1400" b="1" u="sng"/>
              <a:t>button</a:t>
            </a:r>
            <a:r>
              <a:rPr lang="zh-CN" altLang="en-US" sz="1400"/>
              <a:t>，进入</a:t>
            </a:r>
            <a:r>
              <a:rPr lang="zh-CN" altLang="en-US" sz="1400"/>
              <a:t>工作</a:t>
            </a:r>
            <a:endParaRPr lang="zh-CN" altLang="en-US" sz="1400"/>
          </a:p>
          <a:p>
            <a:r>
              <a:rPr lang="zh-CN" altLang="en-US" sz="1400"/>
              <a:t>状态；</a:t>
            </a:r>
            <a:endParaRPr lang="zh-CN" altLang="en-US" sz="140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2412365" y="2060575"/>
            <a:ext cx="2879725" cy="14414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2412365" y="2204720"/>
            <a:ext cx="3239770" cy="14414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endCxn id="6" idx="1"/>
          </p:cNvCxnSpPr>
          <p:nvPr/>
        </p:nvCxnSpPr>
        <p:spPr>
          <a:xfrm>
            <a:off x="1979930" y="2276475"/>
            <a:ext cx="4856480" cy="413385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93040" y="3199765"/>
            <a:ext cx="2532380" cy="11684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备注：上位机功能为获取</a:t>
            </a:r>
            <a:r>
              <a:rPr lang="en-US" altLang="zh-CN" sz="1400"/>
              <a:t>MAC</a:t>
            </a:r>
            <a:endParaRPr lang="en-US" altLang="zh-CN" sz="1400"/>
          </a:p>
          <a:p>
            <a:r>
              <a:rPr lang="zh-CN" altLang="en-US" sz="1400"/>
              <a:t>测试状态的中转</a:t>
            </a:r>
            <a:r>
              <a:rPr lang="zh-CN" altLang="en-US" sz="1400"/>
              <a:t>软件；</a:t>
            </a:r>
            <a:endParaRPr lang="zh-CN" altLang="en-US" sz="1400"/>
          </a:p>
          <a:p>
            <a:r>
              <a:rPr lang="zh-CN" altLang="en-US" sz="1400"/>
              <a:t>通信方式：通过</a:t>
            </a:r>
            <a:r>
              <a:rPr lang="en-US" altLang="zh-CN" sz="1400"/>
              <a:t>USB</a:t>
            </a:r>
            <a:r>
              <a:rPr lang="zh-CN" altLang="en-US" sz="1400"/>
              <a:t>转网口</a:t>
            </a:r>
            <a:r>
              <a:rPr lang="zh-CN" altLang="en-US" sz="1400"/>
              <a:t>将</a:t>
            </a:r>
            <a:endParaRPr lang="zh-CN" altLang="en-US" sz="1400"/>
          </a:p>
          <a:p>
            <a:r>
              <a:rPr lang="en-US" altLang="zh-CN" sz="1400"/>
              <a:t>MAC</a:t>
            </a:r>
            <a:r>
              <a:rPr lang="zh-CN" altLang="en-US" sz="1400"/>
              <a:t>与设备路由器进行</a:t>
            </a:r>
            <a:r>
              <a:rPr lang="en-US" altLang="zh-CN" sz="1400"/>
              <a:t>internet</a:t>
            </a:r>
            <a:endParaRPr lang="en-US" altLang="zh-CN" sz="1400"/>
          </a:p>
          <a:p>
            <a:r>
              <a:rPr lang="zh-CN" altLang="en-US" sz="1400"/>
              <a:t>局域网</a:t>
            </a:r>
            <a:r>
              <a:rPr lang="zh-CN" altLang="en-US" sz="1400"/>
              <a:t>连接；</a:t>
            </a:r>
            <a:endParaRPr lang="zh-CN" altLang="en-US" sz="1400"/>
          </a:p>
        </p:txBody>
      </p:sp>
      <p:sp>
        <p:nvSpPr>
          <p:cNvPr id="16" name="标题 1"/>
          <p:cNvSpPr>
            <a:spLocks noGrp="1"/>
          </p:cNvSpPr>
          <p:nvPr/>
        </p:nvSpPr>
        <p:spPr>
          <a:xfrm>
            <a:off x="0" y="490156"/>
            <a:ext cx="8686800" cy="634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二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设备初始化、启动操作流程</a:t>
            </a:r>
            <a:endParaRPr lang="zh-CN" altLang="en-US" sz="24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5496" y="899428"/>
            <a:ext cx="17945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+mn-ea"/>
              </a:rPr>
              <a:t>2.5:</a:t>
            </a:r>
            <a:r>
              <a:rPr lang="zh-CN" altLang="en-US" b="1" dirty="0" smtClean="0">
                <a:latin typeface="+mn-ea"/>
              </a:rPr>
              <a:t>整机</a:t>
            </a:r>
            <a:r>
              <a:rPr lang="zh-CN" altLang="en-US" b="1" dirty="0" smtClean="0">
                <a:latin typeface="+mn-ea"/>
              </a:rPr>
              <a:t>初始化</a:t>
            </a:r>
            <a:endParaRPr lang="zh-CN" altLang="en-US" b="1" dirty="0" smtClean="0">
              <a:latin typeface="+mn-ea"/>
            </a:endParaRPr>
          </a:p>
        </p:txBody>
      </p:sp>
      <p:sp>
        <p:nvSpPr>
          <p:cNvPr id="16" name="标题 1"/>
          <p:cNvSpPr>
            <a:spLocks noGrp="1"/>
          </p:cNvSpPr>
          <p:nvPr/>
        </p:nvSpPr>
        <p:spPr>
          <a:xfrm>
            <a:off x="0" y="490156"/>
            <a:ext cx="8686800" cy="634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二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设备初始化、启动操作流程</a:t>
            </a:r>
            <a:endParaRPr lang="zh-CN" altLang="en-US" sz="2400" dirty="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844040"/>
            <a:ext cx="7810500" cy="4572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81940" y="1307465"/>
            <a:ext cx="85820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/>
              <a:t>1.</a:t>
            </a:r>
            <a:r>
              <a:rPr lang="zh-CN" altLang="en-US" sz="1400"/>
              <a:t>在</a:t>
            </a:r>
            <a:r>
              <a:rPr lang="en-US" altLang="zh-CN" sz="1400"/>
              <a:t>PLC</a:t>
            </a:r>
            <a:r>
              <a:rPr lang="zh-CN" altLang="en-US" sz="1400"/>
              <a:t>触摸屏上</a:t>
            </a:r>
            <a:r>
              <a:rPr lang="zh-CN" altLang="en-US" sz="1400" b="1" u="sng">
                <a:solidFill>
                  <a:srgbClr val="0070C0"/>
                </a:solidFill>
              </a:rPr>
              <a:t>长按</a:t>
            </a:r>
            <a:r>
              <a:rPr lang="en-US" altLang="zh-CN" sz="1400" b="1" u="sng">
                <a:solidFill>
                  <a:srgbClr val="0070C0"/>
                </a:solidFill>
              </a:rPr>
              <a:t>3s</a:t>
            </a:r>
            <a:r>
              <a:rPr lang="zh-CN" altLang="en-US" sz="1400" b="1" u="sng">
                <a:solidFill>
                  <a:srgbClr val="0070C0"/>
                </a:solidFill>
              </a:rPr>
              <a:t>初始化</a:t>
            </a:r>
            <a:r>
              <a:rPr lang="zh-CN" altLang="en-US" sz="1400"/>
              <a:t>，等待机械手完成复位，初始化完成后将</a:t>
            </a:r>
            <a:r>
              <a:rPr lang="zh-CN" altLang="en-US" sz="1400" b="1" u="sng">
                <a:solidFill>
                  <a:srgbClr val="0070C0"/>
                </a:solidFill>
              </a:rPr>
              <a:t>手动模式切换成自动模式</a:t>
            </a:r>
            <a:r>
              <a:rPr lang="zh-CN" altLang="en-US" sz="1400"/>
              <a:t>，按下设备</a:t>
            </a:r>
            <a:endParaRPr lang="zh-CN" altLang="en-US" sz="1400"/>
          </a:p>
          <a:p>
            <a:r>
              <a:rPr lang="zh-CN" altLang="en-US" sz="1400"/>
              <a:t>左侧按键面板的</a:t>
            </a:r>
            <a:r>
              <a:rPr lang="zh-CN" altLang="en-US" sz="1400" b="1" u="sng">
                <a:solidFill>
                  <a:srgbClr val="0070C0"/>
                </a:solidFill>
              </a:rPr>
              <a:t>启动按钮</a:t>
            </a:r>
            <a:r>
              <a:rPr lang="zh-CN" altLang="en-US" sz="1400"/>
              <a:t>即可完成设备初始化</a:t>
            </a:r>
            <a:r>
              <a:rPr lang="zh-CN" altLang="en-US" sz="1400"/>
              <a:t>流程；</a:t>
            </a:r>
            <a:endParaRPr lang="zh-CN" altLang="en-US" sz="1400"/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2123440" y="1556385"/>
            <a:ext cx="288290" cy="388874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1403350" y="1573530"/>
            <a:ext cx="5469890" cy="387159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418465"/>
            <a:ext cx="4392930" cy="561975"/>
          </a:xfrm>
        </p:spPr>
        <p:txBody>
          <a:bodyPr>
            <a:norm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三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2400" b="1" dirty="0">
                <a:sym typeface="+mn-ea"/>
              </a:rPr>
              <a:t>架设、调试流水线操作流程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5496" y="796642"/>
            <a:ext cx="23685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+mn-ea"/>
              </a:rPr>
              <a:t>3.1</a:t>
            </a:r>
            <a:r>
              <a:rPr lang="zh-CN" altLang="en-US" b="1" dirty="0">
                <a:latin typeface="+mn-ea"/>
              </a:rPr>
              <a:t>：设备固定位置：</a:t>
            </a:r>
            <a:endParaRPr lang="en-US" altLang="zh-CN" b="1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006" y="2560856"/>
            <a:ext cx="2672080" cy="1383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+mn-ea"/>
                <a:cs typeface="+mn-ea"/>
              </a:rPr>
              <a:t>1.</a:t>
            </a:r>
            <a:r>
              <a:rPr lang="zh-CN" altLang="en-US" sz="1400" dirty="0" smtClean="0">
                <a:latin typeface="+mn-ea"/>
                <a:cs typeface="+mn-ea"/>
              </a:rPr>
              <a:t>在固定供料流道后，将设备</a:t>
            </a:r>
            <a:endParaRPr lang="en-US" altLang="zh-CN" sz="1400" dirty="0" smtClean="0">
              <a:latin typeface="+mn-ea"/>
              <a:cs typeface="+mn-ea"/>
            </a:endParaRPr>
          </a:p>
          <a:p>
            <a:r>
              <a:rPr lang="zh-CN" altLang="en-US" sz="1400" dirty="0" smtClean="0">
                <a:latin typeface="+mn-ea"/>
                <a:cs typeface="+mn-ea"/>
              </a:rPr>
              <a:t>停靠流道上（如图一）；</a:t>
            </a:r>
            <a:endParaRPr lang="en-US" altLang="zh-CN" sz="1400" dirty="0" smtClean="0">
              <a:latin typeface="+mn-ea"/>
              <a:cs typeface="+mn-ea"/>
            </a:endParaRPr>
          </a:p>
          <a:p>
            <a:r>
              <a:rPr lang="en-US" altLang="zh-CN" sz="1400" dirty="0" smtClean="0">
                <a:latin typeface="+mn-ea"/>
                <a:cs typeface="+mn-ea"/>
              </a:rPr>
              <a:t>2.</a:t>
            </a:r>
            <a:r>
              <a:rPr lang="zh-CN" altLang="en-US" sz="1400" dirty="0" smtClean="0">
                <a:latin typeface="+mn-ea"/>
                <a:cs typeface="+mn-ea"/>
              </a:rPr>
              <a:t>机械手承重台与供料位呈垂直</a:t>
            </a:r>
            <a:endParaRPr lang="en-US" altLang="zh-CN" sz="1400" dirty="0" smtClean="0">
              <a:latin typeface="+mn-ea"/>
              <a:cs typeface="+mn-ea"/>
            </a:endParaRPr>
          </a:p>
          <a:p>
            <a:r>
              <a:rPr lang="zh-CN" altLang="en-US" sz="1400" dirty="0" smtClean="0">
                <a:latin typeface="+mn-ea"/>
                <a:cs typeface="+mn-ea"/>
              </a:rPr>
              <a:t>状态进行定位（如图二）；</a:t>
            </a:r>
            <a:endParaRPr lang="en-US" altLang="zh-CN" sz="1400" dirty="0" smtClean="0">
              <a:latin typeface="+mn-ea"/>
              <a:cs typeface="+mn-ea"/>
            </a:endParaRPr>
          </a:p>
          <a:p>
            <a:r>
              <a:rPr lang="en-US" altLang="zh-CN" sz="1400" dirty="0" smtClean="0">
                <a:latin typeface="+mn-ea"/>
                <a:cs typeface="+mn-ea"/>
              </a:rPr>
              <a:t>3.</a:t>
            </a:r>
            <a:r>
              <a:rPr lang="zh-CN" altLang="en-US" sz="1400" dirty="0" smtClean="0">
                <a:latin typeface="+mn-ea"/>
                <a:cs typeface="+mn-ea"/>
              </a:rPr>
              <a:t>拧下设备固定脚背，使万向</a:t>
            </a:r>
            <a:endParaRPr lang="en-US" altLang="zh-CN" sz="1400" dirty="0" smtClean="0">
              <a:latin typeface="+mn-ea"/>
              <a:cs typeface="+mn-ea"/>
            </a:endParaRPr>
          </a:p>
          <a:p>
            <a:r>
              <a:rPr lang="zh-CN" altLang="en-US" sz="1400" dirty="0" smtClean="0">
                <a:latin typeface="+mn-ea"/>
                <a:cs typeface="+mn-ea"/>
              </a:rPr>
              <a:t>轮离地</a:t>
            </a:r>
            <a:r>
              <a:rPr lang="en-US" altLang="zh-CN" sz="1400" dirty="0" smtClean="0">
                <a:latin typeface="+mn-ea"/>
                <a:cs typeface="+mn-ea"/>
              </a:rPr>
              <a:t>50mm</a:t>
            </a:r>
            <a:r>
              <a:rPr lang="zh-CN" altLang="en-US" sz="1400" dirty="0" smtClean="0">
                <a:latin typeface="+mn-ea"/>
                <a:cs typeface="+mn-ea"/>
              </a:rPr>
              <a:t>；</a:t>
            </a:r>
            <a:endParaRPr lang="zh-CN" altLang="en-US" sz="1400" dirty="0" smtClean="0">
              <a:latin typeface="+mn-ea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5295" b="3358"/>
          <a:stretch>
            <a:fillRect/>
          </a:stretch>
        </p:blipFill>
        <p:spPr>
          <a:xfrm>
            <a:off x="3636010" y="1208405"/>
            <a:ext cx="4477385" cy="22098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630545" y="932815"/>
            <a:ext cx="6400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/>
              <a:t>图一：</a:t>
            </a:r>
            <a:endParaRPr lang="zh-CN" altLang="en-US" sz="1200"/>
          </a:p>
        </p:txBody>
      </p:sp>
      <p:sp>
        <p:nvSpPr>
          <p:cNvPr id="5" name="文本框 4"/>
          <p:cNvSpPr txBox="1"/>
          <p:nvPr/>
        </p:nvSpPr>
        <p:spPr>
          <a:xfrm>
            <a:off x="5622925" y="3401695"/>
            <a:ext cx="6400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 dirty="0" smtClean="0">
                <a:latin typeface="+mn-ea"/>
                <a:cs typeface="+mn-ea"/>
                <a:sym typeface="+mn-ea"/>
              </a:rPr>
              <a:t>图二：</a:t>
            </a:r>
            <a:endParaRPr lang="zh-CN" altLang="en-US" sz="12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710" y="3691255"/>
            <a:ext cx="3441700" cy="2839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5496" y="868397"/>
            <a:ext cx="259842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+mn-ea"/>
              </a:rPr>
              <a:t>3.2</a:t>
            </a:r>
            <a:r>
              <a:rPr lang="zh-CN" altLang="en-US" b="1" dirty="0" smtClean="0">
                <a:latin typeface="+mn-ea"/>
              </a:rPr>
              <a:t>：流水线固定方式：</a:t>
            </a:r>
            <a:endParaRPr lang="en-US" altLang="zh-CN" b="1" dirty="0">
              <a:latin typeface="+mn-ea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0" y="418465"/>
            <a:ext cx="4392930" cy="561975"/>
          </a:xfrm>
        </p:spPr>
        <p:txBody>
          <a:bodyPr>
            <a:norm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三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2400" b="1" dirty="0">
                <a:sym typeface="+mn-ea"/>
              </a:rPr>
              <a:t>架设、调试流水线操作流程</a:t>
            </a:r>
            <a:endParaRPr lang="zh-CN" altLang="en-US" sz="2400" dirty="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364990"/>
            <a:ext cx="1432560" cy="20110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19075" y="2146935"/>
            <a:ext cx="395668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1.</a:t>
            </a:r>
            <a:r>
              <a:rPr lang="zh-CN" altLang="en-US" sz="1200"/>
              <a:t>使用圆弧形</a:t>
            </a:r>
            <a:r>
              <a:rPr lang="en-US" altLang="zh-CN" sz="1200"/>
              <a:t>M8</a:t>
            </a:r>
            <a:r>
              <a:rPr lang="zh-CN" altLang="en-US" sz="1200"/>
              <a:t>型材螺母</a:t>
            </a:r>
            <a:r>
              <a:rPr lang="en-US" altLang="zh-CN" sz="1200"/>
              <a:t>+M8*25+</a:t>
            </a:r>
            <a:r>
              <a:rPr lang="zh-CN" altLang="en-US" sz="1200"/>
              <a:t>弹平垫固定流水线</a:t>
            </a:r>
            <a:endParaRPr lang="zh-CN" altLang="en-US" sz="1200"/>
          </a:p>
          <a:p>
            <a:r>
              <a:rPr lang="zh-CN" altLang="en-US" sz="1200"/>
              <a:t>支撑架；</a:t>
            </a:r>
            <a:endParaRPr lang="zh-CN" altLang="en-US" sz="1200"/>
          </a:p>
          <a:p>
            <a:r>
              <a:rPr lang="en-US" altLang="zh-CN" sz="1200"/>
              <a:t>2.</a:t>
            </a:r>
            <a:r>
              <a:rPr lang="zh-CN" altLang="en-US" sz="1200"/>
              <a:t>流水线高度、水平度通过支撑螺丝调节；（如图所示）</a:t>
            </a:r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5295" b="3358"/>
          <a:stretch>
            <a:fillRect/>
          </a:stretch>
        </p:blipFill>
        <p:spPr>
          <a:xfrm>
            <a:off x="4500245" y="1268730"/>
            <a:ext cx="4477385" cy="2209800"/>
          </a:xfrm>
          <a:prstGeom prst="rect">
            <a:avLst/>
          </a:prstGeom>
        </p:spPr>
      </p:pic>
      <p:cxnSp>
        <p:nvCxnSpPr>
          <p:cNvPr id="5" name="直接箭头连接符 4"/>
          <p:cNvCxnSpPr>
            <a:stCxn id="2" idx="0"/>
          </p:cNvCxnSpPr>
          <p:nvPr/>
        </p:nvCxnSpPr>
        <p:spPr>
          <a:xfrm flipH="1" flipV="1">
            <a:off x="6876415" y="2852420"/>
            <a:ext cx="1292225" cy="151257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372225" y="2492375"/>
            <a:ext cx="576580" cy="360045"/>
          </a:xfrm>
          <a:prstGeom prst="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418465"/>
            <a:ext cx="4138295" cy="634365"/>
          </a:xfrm>
        </p:spPr>
        <p:txBody>
          <a:bodyPr>
            <a:no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四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2400" b="1" dirty="0">
                <a:sym typeface="+mn-ea"/>
              </a:rPr>
              <a:t>架设、调试治具操作流程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915" y="979969"/>
            <a:ext cx="23685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+mn-ea"/>
              </a:rPr>
              <a:t>4.1</a:t>
            </a:r>
            <a:r>
              <a:rPr lang="zh-CN" altLang="en-US" b="1" dirty="0">
                <a:latin typeface="+mn-ea"/>
              </a:rPr>
              <a:t>：治具外挂装配：</a:t>
            </a:r>
            <a:endParaRPr lang="en-US" altLang="zh-CN" b="1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675" y="1916430"/>
            <a:ext cx="6087110" cy="40436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44145" y="1747520"/>
            <a:ext cx="28924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1.</a:t>
            </a:r>
            <a:r>
              <a:rPr lang="zh-CN" altLang="en-US" sz="1200"/>
              <a:t>将治具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门帘把手</a:t>
            </a:r>
            <a:r>
              <a:rPr lang="zh-CN" altLang="en-US" sz="1200"/>
              <a:t>拆除；（如右图所示）</a:t>
            </a:r>
            <a:endParaRPr lang="zh-CN" altLang="en-US" sz="1200"/>
          </a:p>
          <a:p>
            <a:r>
              <a:rPr lang="zh-CN" altLang="en-US" sz="1200"/>
              <a:t>门帘与钣金件衔接处需要使用两颗螺丝</a:t>
            </a:r>
            <a:endParaRPr lang="zh-CN" altLang="en-US" sz="1200"/>
          </a:p>
          <a:p>
            <a:r>
              <a:rPr lang="zh-CN" altLang="en-US" sz="1200"/>
              <a:t>固定（互锁作用）</a:t>
            </a:r>
            <a:endParaRPr lang="en-US" altLang="zh-CN" sz="1200"/>
          </a:p>
        </p:txBody>
      </p:sp>
      <p:cxnSp>
        <p:nvCxnSpPr>
          <p:cNvPr id="6" name="直接箭头连接符 5"/>
          <p:cNvCxnSpPr/>
          <p:nvPr/>
        </p:nvCxnSpPr>
        <p:spPr>
          <a:xfrm>
            <a:off x="1158875" y="1970405"/>
            <a:ext cx="4205605" cy="124206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84785" y="2812415"/>
            <a:ext cx="258889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2.</a:t>
            </a:r>
            <a:r>
              <a:rPr lang="zh-CN" altLang="en-US" sz="1200"/>
              <a:t>借用治具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原有螺丝孔位</a:t>
            </a:r>
            <a:r>
              <a:rPr lang="zh-CN" altLang="en-US" sz="1200"/>
              <a:t>，固定开门</a:t>
            </a:r>
            <a:endParaRPr lang="zh-CN" altLang="en-US" sz="1200"/>
          </a:p>
          <a:p>
            <a:r>
              <a:rPr lang="zh-CN" altLang="en-US" sz="1200"/>
              <a:t>外挂模组；（如图所示）</a:t>
            </a:r>
            <a:endParaRPr lang="zh-CN" altLang="en-US" sz="120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1403985" y="3039745"/>
            <a:ext cx="6912610" cy="86423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8316595" y="3644900"/>
            <a:ext cx="360045" cy="151193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908214"/>
            <a:ext cx="190881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+mn-ea"/>
              </a:rPr>
              <a:t>4.2</a:t>
            </a:r>
            <a:r>
              <a:rPr lang="zh-CN" altLang="en-US" b="1" dirty="0">
                <a:latin typeface="+mn-ea"/>
              </a:rPr>
              <a:t>：</a:t>
            </a:r>
            <a:r>
              <a:rPr lang="zh-CN" b="1" dirty="0">
                <a:latin typeface="+mn-ea"/>
              </a:rPr>
              <a:t>治具固定</a:t>
            </a:r>
            <a:r>
              <a:rPr lang="zh-CN" altLang="en-US" b="1" dirty="0">
                <a:latin typeface="+mn-ea"/>
              </a:rPr>
              <a:t>：</a:t>
            </a:r>
            <a:endParaRPr lang="en-US" altLang="zh-CN" b="1" dirty="0">
              <a:latin typeface="+mn-ea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418465"/>
            <a:ext cx="4138295" cy="634365"/>
          </a:xfrm>
        </p:spPr>
        <p:txBody>
          <a:bodyPr>
            <a:no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四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2400" b="1" dirty="0">
                <a:sym typeface="+mn-ea"/>
              </a:rPr>
              <a:t>架设、调试治具操作流程</a:t>
            </a:r>
            <a:endParaRPr lang="zh-CN" altLang="en-US" sz="2400" dirty="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875" y="1757680"/>
            <a:ext cx="6522085" cy="34467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2075" y="1757680"/>
            <a:ext cx="235775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1.</a:t>
            </a:r>
            <a:r>
              <a:rPr lang="zh-CN" altLang="en-US" sz="1200"/>
              <a:t>将已装好外挂模组的治具放入</a:t>
            </a:r>
            <a:endParaRPr lang="zh-CN" altLang="en-US" sz="1200"/>
          </a:p>
          <a:p>
            <a:r>
              <a:rPr lang="zh-CN" altLang="en-US" sz="1200"/>
              <a:t>设备的载板内；</a:t>
            </a:r>
            <a:endParaRPr lang="zh-CN" altLang="en-US" sz="1200"/>
          </a:p>
          <a:p>
            <a:r>
              <a:rPr lang="en-US" altLang="zh-CN" sz="1200"/>
              <a:t>2.</a:t>
            </a:r>
            <a:r>
              <a:rPr lang="zh-CN" altLang="en-US" sz="1200"/>
              <a:t>以载板左后的</a:t>
            </a:r>
            <a:r>
              <a:rPr lang="en-US" altLang="zh-CN" sz="1200"/>
              <a:t>4</a:t>
            </a:r>
            <a:r>
              <a:rPr lang="zh-CN" altLang="en-US" sz="1200"/>
              <a:t>根定位柱为基准</a:t>
            </a:r>
            <a:endParaRPr lang="zh-CN" altLang="en-US" sz="1200"/>
          </a:p>
          <a:p>
            <a:r>
              <a:rPr lang="zh-CN" altLang="en-US" sz="1200"/>
              <a:t>，推到底后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固定块</a:t>
            </a:r>
            <a:r>
              <a:rPr lang="zh-CN" altLang="en-US" sz="1200"/>
              <a:t>卡紧治具并固</a:t>
            </a:r>
            <a:endParaRPr lang="zh-CN" altLang="en-US" sz="1200"/>
          </a:p>
          <a:p>
            <a:r>
              <a:rPr lang="zh-CN" altLang="en-US" sz="1200"/>
              <a:t>定；</a:t>
            </a:r>
            <a:endParaRPr lang="zh-CN" altLang="en-US" sz="1200"/>
          </a:p>
        </p:txBody>
      </p:sp>
      <p:cxnSp>
        <p:nvCxnSpPr>
          <p:cNvPr id="4" name="直接箭头连接符 3"/>
          <p:cNvCxnSpPr/>
          <p:nvPr/>
        </p:nvCxnSpPr>
        <p:spPr>
          <a:xfrm>
            <a:off x="1199515" y="2528570"/>
            <a:ext cx="1788795" cy="2520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1199515" y="2538730"/>
            <a:ext cx="1860550" cy="18980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1209675" y="2528570"/>
            <a:ext cx="2570480" cy="2124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908214"/>
            <a:ext cx="23685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b="1" dirty="0">
                <a:latin typeface="+mn-ea"/>
              </a:rPr>
              <a:t>4.3</a:t>
            </a:r>
            <a:r>
              <a:rPr lang="zh-CN" altLang="en-US" b="1" dirty="0">
                <a:latin typeface="+mn-ea"/>
              </a:rPr>
              <a:t>：</a:t>
            </a:r>
            <a:r>
              <a:rPr lang="zh-CN" altLang="en-US" b="1" dirty="0">
                <a:latin typeface="+mn-ea"/>
                <a:sym typeface="+mn-ea"/>
              </a:rPr>
              <a:t>治具外挂调试</a:t>
            </a:r>
            <a:r>
              <a:rPr lang="zh-CN" altLang="en-US" b="1" dirty="0">
                <a:latin typeface="+mn-ea"/>
              </a:rPr>
              <a:t>：</a:t>
            </a:r>
            <a:endParaRPr lang="en-US" altLang="zh-CN" b="1" dirty="0">
              <a:latin typeface="+mn-ea"/>
            </a:endParaRP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0" y="418465"/>
            <a:ext cx="4138295" cy="6343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四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2400" b="1" dirty="0">
                <a:sym typeface="+mn-ea"/>
              </a:rPr>
              <a:t>架设、调试治具操作流程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770" y="1443355"/>
            <a:ext cx="285559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1.</a:t>
            </a:r>
            <a:r>
              <a:rPr lang="en-US" altLang="zh-CN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E75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原位感应器</a:t>
            </a:r>
            <a:r>
              <a:rPr lang="zh-CN" altLang="en-US" sz="1200"/>
              <a:t>：</a:t>
            </a:r>
            <a:endParaRPr lang="zh-CN" altLang="en-US" sz="1200"/>
          </a:p>
          <a:p>
            <a:r>
              <a:rPr lang="zh-CN" altLang="en-US" sz="1200"/>
              <a:t>由</a:t>
            </a:r>
            <a:r>
              <a:rPr lang="en-US" altLang="zh-CN" sz="1200"/>
              <a:t>3</a:t>
            </a:r>
            <a:r>
              <a:rPr lang="zh-CN" altLang="en-US" sz="1200"/>
              <a:t>个感应器串联到一个信号，</a:t>
            </a:r>
            <a:endParaRPr lang="zh-CN" altLang="en-US" sz="1200"/>
          </a:p>
          <a:p>
            <a:r>
              <a:rPr lang="zh-CN" altLang="en-US" sz="1200"/>
              <a:t>分别由治具的</a:t>
            </a:r>
            <a:r>
              <a:rPr lang="en-US" altLang="zh-CN" sz="1200"/>
              <a:t>Cap</a:t>
            </a:r>
            <a:r>
              <a:rPr lang="zh-CN" altLang="en-US" sz="1200"/>
              <a:t>气缸</a:t>
            </a:r>
            <a:r>
              <a:rPr lang="zh-CN" altLang="en-US" sz="1200">
                <a:highlight>
                  <a:srgbClr val="FF0000"/>
                </a:highlight>
              </a:rPr>
              <a:t>①</a:t>
            </a:r>
            <a:r>
              <a:rPr lang="zh-CN" altLang="en-US" sz="1200"/>
              <a:t>、灰卡气缸</a:t>
            </a:r>
            <a:r>
              <a:rPr lang="zh-CN" altLang="en-US" sz="1200">
                <a:highlight>
                  <a:srgbClr val="FF0000"/>
                </a:highlight>
              </a:rPr>
              <a:t>②</a:t>
            </a:r>
            <a:r>
              <a:rPr lang="zh-CN" altLang="en-US" sz="1200"/>
              <a:t>、</a:t>
            </a:r>
            <a:endParaRPr lang="zh-CN" altLang="en-US" sz="1200"/>
          </a:p>
          <a:p>
            <a:r>
              <a:rPr lang="en-US" altLang="zh-CN" sz="1200"/>
              <a:t>E75</a:t>
            </a:r>
            <a:r>
              <a:rPr lang="zh-CN" altLang="en-US" sz="1200"/>
              <a:t>伸缩气缸</a:t>
            </a:r>
            <a:r>
              <a:rPr lang="zh-CN" altLang="en-US" sz="1200">
                <a:highlight>
                  <a:srgbClr val="FF0000"/>
                </a:highlight>
              </a:rPr>
              <a:t>③</a:t>
            </a:r>
            <a:r>
              <a:rPr lang="zh-CN" altLang="en-US" sz="1200"/>
              <a:t>的原位组成；</a:t>
            </a:r>
            <a:endParaRPr lang="zh-CN" altLang="en-US" sz="12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810" y="3890010"/>
            <a:ext cx="4726940" cy="26828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810" y="1052195"/>
            <a:ext cx="4726940" cy="276669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5210810" y="1546860"/>
            <a:ext cx="76200" cy="76200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endCxn id="6" idx="1"/>
          </p:cNvCxnSpPr>
          <p:nvPr/>
        </p:nvCxnSpPr>
        <p:spPr>
          <a:xfrm>
            <a:off x="1305560" y="1584960"/>
            <a:ext cx="39052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385685" y="5098415"/>
            <a:ext cx="335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>
                <a:highlight>
                  <a:srgbClr val="FF0000"/>
                </a:highlight>
                <a:sym typeface="+mn-ea"/>
              </a:rPr>
              <a:t>①</a:t>
            </a:r>
            <a:endParaRPr lang="zh-CN" altLang="en-US" sz="1200"/>
          </a:p>
        </p:txBody>
      </p:sp>
      <p:sp>
        <p:nvSpPr>
          <p:cNvPr id="10" name="文本框 9"/>
          <p:cNvSpPr txBox="1"/>
          <p:nvPr/>
        </p:nvSpPr>
        <p:spPr>
          <a:xfrm>
            <a:off x="7236460" y="4652645"/>
            <a:ext cx="335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>
                <a:highlight>
                  <a:srgbClr val="FF0000"/>
                </a:highlight>
                <a:sym typeface="+mn-ea"/>
              </a:rPr>
              <a:t>②</a:t>
            </a:r>
            <a:endParaRPr lang="zh-CN" altLang="en-US" sz="1200"/>
          </a:p>
        </p:txBody>
      </p:sp>
      <p:sp>
        <p:nvSpPr>
          <p:cNvPr id="12" name="文本框 11"/>
          <p:cNvSpPr txBox="1"/>
          <p:nvPr/>
        </p:nvSpPr>
        <p:spPr>
          <a:xfrm>
            <a:off x="4644390" y="4436745"/>
            <a:ext cx="335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>
                <a:highlight>
                  <a:srgbClr val="FF0000"/>
                </a:highlight>
                <a:sym typeface="+mn-ea"/>
              </a:rPr>
              <a:t>③</a:t>
            </a:r>
            <a:endParaRPr lang="zh-CN" altLang="en-US" sz="1200"/>
          </a:p>
        </p:txBody>
      </p:sp>
      <p:sp>
        <p:nvSpPr>
          <p:cNvPr id="13" name="文本框 12"/>
          <p:cNvSpPr txBox="1"/>
          <p:nvPr/>
        </p:nvSpPr>
        <p:spPr>
          <a:xfrm>
            <a:off x="97155" y="2518410"/>
            <a:ext cx="285115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2.</a:t>
            </a:r>
            <a:r>
              <a:rPr lang="zh-CN" altLang="en-US" sz="1200"/>
              <a:t>调试时治具需通上气源，</a:t>
            </a:r>
            <a:r>
              <a:rPr lang="en-US" altLang="zh-CN" sz="1200"/>
              <a:t>3</a:t>
            </a:r>
            <a:r>
              <a:rPr lang="zh-CN" altLang="en-US" sz="1200"/>
              <a:t>个感应器</a:t>
            </a:r>
            <a:endParaRPr lang="zh-CN" altLang="en-US" sz="1200"/>
          </a:p>
          <a:p>
            <a:r>
              <a:rPr lang="zh-CN" altLang="en-US" sz="1200"/>
              <a:t>同时触发时状态灯正常亮起，如只有</a:t>
            </a:r>
            <a:r>
              <a:rPr lang="en-US" altLang="zh-CN" sz="1200"/>
              <a:t>1</a:t>
            </a:r>
            <a:r>
              <a:rPr lang="zh-CN" altLang="en-US" sz="1200"/>
              <a:t>个</a:t>
            </a:r>
            <a:endParaRPr lang="zh-CN" altLang="en-US" sz="1200"/>
          </a:p>
          <a:p>
            <a:r>
              <a:rPr lang="en-US" altLang="zh-CN" sz="1200"/>
              <a:t>/2</a:t>
            </a:r>
            <a:r>
              <a:rPr lang="zh-CN" altLang="en-US" sz="1200"/>
              <a:t>个感应器触发时，感应器状态灯只会</a:t>
            </a:r>
            <a:endParaRPr lang="zh-CN" altLang="en-US" sz="1200"/>
          </a:p>
          <a:p>
            <a:r>
              <a:rPr lang="zh-CN" altLang="en-US" sz="1200"/>
              <a:t>亮起微微红光；</a:t>
            </a:r>
            <a:endParaRPr lang="zh-CN" altLang="en-US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908214"/>
            <a:ext cx="23685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b="1" dirty="0">
                <a:latin typeface="+mn-ea"/>
              </a:rPr>
              <a:t>4.4</a:t>
            </a:r>
            <a:r>
              <a:rPr lang="zh-CN" altLang="en-US" b="1" dirty="0">
                <a:latin typeface="+mn-ea"/>
              </a:rPr>
              <a:t>：</a:t>
            </a:r>
            <a:r>
              <a:rPr lang="zh-CN" altLang="en-US" b="1" dirty="0">
                <a:latin typeface="+mn-ea"/>
                <a:sym typeface="+mn-ea"/>
              </a:rPr>
              <a:t>治具外挂调试</a:t>
            </a:r>
            <a:r>
              <a:rPr lang="zh-CN" altLang="en-US" b="1" dirty="0">
                <a:latin typeface="+mn-ea"/>
              </a:rPr>
              <a:t>：</a:t>
            </a:r>
            <a:endParaRPr lang="en-US" altLang="zh-CN" b="1" dirty="0">
              <a:latin typeface="+mn-ea"/>
            </a:endParaRP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0" y="418465"/>
            <a:ext cx="4138295" cy="6343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四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2400" b="1" dirty="0">
                <a:sym typeface="+mn-ea"/>
              </a:rPr>
              <a:t>架设、调试治具操作流程</a:t>
            </a:r>
            <a:endParaRPr lang="zh-CN" altLang="en-US" sz="2400" dirty="0">
              <a:latin typeface="+mn-ea"/>
              <a:ea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810" y="1052195"/>
            <a:ext cx="4726940" cy="276669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64465" y="1382395"/>
            <a:ext cx="2588895" cy="13836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1.</a:t>
            </a:r>
            <a:r>
              <a:rPr lang="zh-CN" altLang="en-US" sz="1200"/>
              <a:t>在触摸屏上打开治具状态界面，</a:t>
            </a:r>
            <a:endParaRPr lang="zh-CN" altLang="en-US" sz="1200"/>
          </a:p>
          <a:p>
            <a:r>
              <a:rPr lang="zh-CN" altLang="en-US" sz="1200"/>
              <a:t>输出开门、关门信号；</a:t>
            </a:r>
            <a:endParaRPr lang="zh-CN" altLang="en-US" sz="1200"/>
          </a:p>
          <a:p>
            <a:r>
              <a:rPr lang="en-US" altLang="zh-CN" sz="1200"/>
              <a:t>2.</a:t>
            </a:r>
            <a:r>
              <a:rPr lang="zh-CN" altLang="en-US" sz="1200"/>
              <a:t>观察开门模组活动是否顺畅、</a:t>
            </a:r>
            <a:endParaRPr lang="zh-CN" altLang="en-US" sz="1200"/>
          </a:p>
          <a:p>
            <a:r>
              <a:rPr lang="zh-CN" altLang="en-US" sz="1200"/>
              <a:t>液压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缓冲器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①</a:t>
            </a:r>
            <a:r>
              <a:rPr lang="zh-CN" altLang="en-US" sz="1200"/>
              <a:t>是否起缓冲作用；</a:t>
            </a:r>
            <a:endParaRPr lang="zh-CN" altLang="en-US" sz="1200"/>
          </a:p>
          <a:p>
            <a:r>
              <a:rPr lang="en-US" altLang="zh-CN" sz="1200"/>
              <a:t>3.</a:t>
            </a:r>
            <a:r>
              <a:rPr lang="zh-CN" altLang="en-US" sz="1200"/>
              <a:t>开门触发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原位感应器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②</a:t>
            </a:r>
            <a:r>
              <a:rPr lang="zh-CN" altLang="en-US" sz="1200"/>
              <a:t>，关门触发</a:t>
            </a:r>
            <a:endParaRPr lang="zh-CN" altLang="en-US" sz="1200"/>
          </a:p>
          <a:p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置位感应器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③</a:t>
            </a:r>
            <a:r>
              <a:rPr lang="zh-CN" altLang="en-US" sz="1200"/>
              <a:t>；</a:t>
            </a:r>
            <a:endParaRPr lang="zh-CN" altLang="en-US" sz="1200"/>
          </a:p>
          <a:p>
            <a:r>
              <a:rPr lang="en-US" altLang="zh-CN" sz="1200"/>
              <a:t>4.</a:t>
            </a:r>
            <a:r>
              <a:rPr lang="zh-CN" altLang="en-US" sz="1200"/>
              <a:t>关门时正常触发治具启动信号；</a:t>
            </a:r>
            <a:endParaRPr lang="zh-CN" altLang="en-US" sz="120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190" y="3932555"/>
            <a:ext cx="2990850" cy="261556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668260" y="5949315"/>
            <a:ext cx="3359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sym typeface="+mn-ea"/>
              </a:rPr>
              <a:t>①</a:t>
            </a:r>
            <a:endParaRPr lang="zh-CN" altLang="en-US" sz="1200"/>
          </a:p>
        </p:txBody>
      </p:sp>
      <p:cxnSp>
        <p:nvCxnSpPr>
          <p:cNvPr id="19" name="直接箭头连接符 18"/>
          <p:cNvCxnSpPr/>
          <p:nvPr/>
        </p:nvCxnSpPr>
        <p:spPr>
          <a:xfrm flipH="1" flipV="1">
            <a:off x="7308850" y="6021070"/>
            <a:ext cx="503555" cy="717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7812405" y="5156835"/>
            <a:ext cx="144145" cy="9359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7716520" y="4652645"/>
            <a:ext cx="3359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sym typeface="+mn-ea"/>
              </a:rPr>
              <a:t>②</a:t>
            </a:r>
            <a:endParaRPr lang="zh-CN" altLang="en-US" sz="1200"/>
          </a:p>
        </p:txBody>
      </p:sp>
      <p:sp>
        <p:nvSpPr>
          <p:cNvPr id="22" name="文本框 21"/>
          <p:cNvSpPr txBox="1"/>
          <p:nvPr/>
        </p:nvSpPr>
        <p:spPr>
          <a:xfrm>
            <a:off x="6876415" y="5817235"/>
            <a:ext cx="3359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sym typeface="+mn-ea"/>
              </a:rPr>
              <a:t>③</a:t>
            </a:r>
            <a:endParaRPr lang="zh-CN" altLang="en-US" sz="1200"/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1929765" y="1844675"/>
            <a:ext cx="3290570" cy="3594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1189355" y="1988820"/>
            <a:ext cx="4030980" cy="4483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823" y="1757998"/>
            <a:ext cx="3609177" cy="3744416"/>
          </a:xfrm>
        </p:spPr>
      </p:pic>
      <p:sp>
        <p:nvSpPr>
          <p:cNvPr id="6" name="矩形 5"/>
          <p:cNvSpPr/>
          <p:nvPr/>
        </p:nvSpPr>
        <p:spPr>
          <a:xfrm>
            <a:off x="35496" y="908214"/>
            <a:ext cx="21386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+mn-ea"/>
              </a:rPr>
              <a:t>5.1</a:t>
            </a:r>
            <a:r>
              <a:rPr lang="zh-CN" altLang="en-US" b="1" dirty="0" smtClean="0">
                <a:latin typeface="+mn-ea"/>
              </a:rPr>
              <a:t>：建立通信</a:t>
            </a:r>
            <a:r>
              <a:rPr lang="zh-CN" altLang="en-US" b="1" dirty="0" smtClean="0">
                <a:latin typeface="+mn-ea"/>
              </a:rPr>
              <a:t>连接</a:t>
            </a:r>
            <a:endParaRPr lang="zh-CN" altLang="en-US" b="1" dirty="0" smtClean="0"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59090" y="1556792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图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：</a:t>
            </a:r>
            <a:endParaRPr lang="zh-CN" altLang="en-US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2117888"/>
            <a:ext cx="2848373" cy="33818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36020" y="1729690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图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：</a:t>
            </a:r>
            <a:endParaRPr lang="zh-CN" altLang="en-US" dirty="0"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1581682"/>
            <a:ext cx="2418080" cy="27997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+mn-ea"/>
              </a:rPr>
              <a:t>配置通信</a:t>
            </a:r>
            <a:r>
              <a:rPr lang="zh-CN" altLang="en-US" sz="1600" dirty="0">
                <a:latin typeface="+mn-ea"/>
              </a:rPr>
              <a:t>说明：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图</a:t>
            </a:r>
            <a:r>
              <a:rPr lang="en-US" altLang="zh-CN" sz="1600" dirty="0">
                <a:latin typeface="+mn-ea"/>
              </a:rPr>
              <a:t>1</a:t>
            </a:r>
            <a:r>
              <a:rPr lang="zh-CN" altLang="en-US" sz="1600" dirty="0">
                <a:latin typeface="+mn-ea"/>
              </a:rPr>
              <a:t>：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1.USB</a:t>
            </a:r>
            <a:r>
              <a:rPr lang="zh-CN" altLang="en-US" sz="1600" dirty="0">
                <a:latin typeface="+mn-ea"/>
              </a:rPr>
              <a:t>口插在</a:t>
            </a:r>
            <a:r>
              <a:rPr lang="en-US" altLang="zh-CN" sz="1600" dirty="0">
                <a:latin typeface="+mn-ea"/>
              </a:rPr>
              <a:t>MAC MINI</a:t>
            </a:r>
            <a:r>
              <a:rPr lang="zh-CN" altLang="en-US" sz="1600" dirty="0">
                <a:latin typeface="+mn-ea"/>
              </a:rPr>
              <a:t>端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2.</a:t>
            </a:r>
            <a:r>
              <a:rPr lang="zh-CN" altLang="en-US" sz="1600" dirty="0">
                <a:latin typeface="+mn-ea"/>
              </a:rPr>
              <a:t>网线连接到路由器的</a:t>
            </a:r>
            <a:endParaRPr lang="zh-CN" altLang="en-US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LAN</a:t>
            </a:r>
            <a:r>
              <a:rPr lang="zh-CN" altLang="en-US" sz="1600" dirty="0">
                <a:latin typeface="+mn-ea"/>
              </a:rPr>
              <a:t>网口上；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图</a:t>
            </a:r>
            <a:r>
              <a:rPr lang="en-US" altLang="zh-CN" sz="1600" dirty="0">
                <a:latin typeface="+mn-ea"/>
              </a:rPr>
              <a:t>2</a:t>
            </a:r>
            <a:r>
              <a:rPr lang="zh-CN" altLang="en-US" sz="1600" dirty="0">
                <a:latin typeface="+mn-ea"/>
              </a:rPr>
              <a:t>：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1.</a:t>
            </a:r>
            <a:r>
              <a:rPr lang="zh-CN" altLang="en-US" sz="1600" dirty="0">
                <a:latin typeface="+mn-ea"/>
              </a:rPr>
              <a:t>打开浏览器，输入路由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器</a:t>
            </a:r>
            <a:r>
              <a:rPr lang="en-US" altLang="zh-CN" sz="1600" dirty="0">
                <a:latin typeface="+mn-ea"/>
              </a:rPr>
              <a:t>IP</a:t>
            </a:r>
            <a:r>
              <a:rPr lang="zh-CN" altLang="en-US" sz="1600" dirty="0">
                <a:latin typeface="+mn-ea"/>
              </a:rPr>
              <a:t>：</a:t>
            </a:r>
            <a:r>
              <a:rPr lang="en-US" altLang="zh-CN" sz="1600" dirty="0">
                <a:latin typeface="+mn-ea"/>
              </a:rPr>
              <a:t>192.168.1.1</a:t>
            </a:r>
            <a:r>
              <a:rPr lang="zh-CN" altLang="en-US" sz="1600" dirty="0">
                <a:latin typeface="+mn-ea"/>
              </a:rPr>
              <a:t>；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2.</a:t>
            </a:r>
            <a:r>
              <a:rPr lang="zh-CN" altLang="en-US" sz="1600" dirty="0">
                <a:latin typeface="+mn-ea"/>
              </a:rPr>
              <a:t>用户名：</a:t>
            </a:r>
            <a:r>
              <a:rPr lang="en-US" altLang="zh-CN" sz="1600" dirty="0">
                <a:latin typeface="+mn-ea"/>
              </a:rPr>
              <a:t>Strong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3.</a:t>
            </a:r>
            <a:r>
              <a:rPr lang="zh-CN" altLang="en-US" sz="1600" dirty="0">
                <a:latin typeface="+mn-ea"/>
              </a:rPr>
              <a:t>密码：</a:t>
            </a:r>
            <a:r>
              <a:rPr lang="en-US" altLang="zh-CN" sz="1600" dirty="0">
                <a:latin typeface="+mn-ea"/>
              </a:rPr>
              <a:t>sr123456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4.</a:t>
            </a:r>
            <a:r>
              <a:rPr lang="zh-CN" altLang="en-US" sz="1600" dirty="0">
                <a:latin typeface="+mn-ea"/>
              </a:rPr>
              <a:t>点击登录</a:t>
            </a:r>
            <a:endParaRPr lang="en-US" altLang="zh-CN" sz="1600" dirty="0">
              <a:latin typeface="+mn-ea"/>
            </a:endParaRPr>
          </a:p>
        </p:txBody>
      </p:sp>
      <p:sp>
        <p:nvSpPr>
          <p:cNvPr id="8" name="标题 7"/>
          <p:cNvSpPr>
            <a:spLocks noGrp="1"/>
          </p:cNvSpPr>
          <p:nvPr/>
        </p:nvSpPr>
        <p:spPr>
          <a:xfrm>
            <a:off x="0" y="418465"/>
            <a:ext cx="4138295" cy="6343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ym typeface="+mn-ea"/>
              </a:rPr>
              <a:t>五</a:t>
            </a:r>
            <a:r>
              <a:rPr lang="en-US" altLang="zh-CN" sz="2400" b="1" dirty="0" smtClean="0">
                <a:sym typeface="+mn-ea"/>
              </a:rPr>
              <a:t>.</a:t>
            </a:r>
            <a:r>
              <a:rPr lang="zh-CN" altLang="en-US" sz="2400" b="1" dirty="0" smtClean="0">
                <a:sym typeface="+mn-ea"/>
              </a:rPr>
              <a:t>设备通信配置、调试流程</a:t>
            </a:r>
            <a:endParaRPr lang="zh-CN" altLang="en-US" sz="24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418465"/>
            <a:ext cx="4138295" cy="634365"/>
          </a:xfrm>
        </p:spPr>
        <p:txBody>
          <a:bodyPr>
            <a:noAutofit/>
          </a:bodyPr>
          <a:p>
            <a:pPr algn="l"/>
            <a:r>
              <a:rPr lang="zh-CN" altLang="en-US" sz="2400" b="1" dirty="0">
                <a:sym typeface="+mn-ea"/>
              </a:rPr>
              <a:t>五</a:t>
            </a:r>
            <a:r>
              <a:rPr lang="en-US" altLang="zh-CN" sz="2400" b="1" dirty="0" smtClean="0">
                <a:sym typeface="+mn-ea"/>
              </a:rPr>
              <a:t>.</a:t>
            </a:r>
            <a:r>
              <a:rPr lang="zh-CN" altLang="en-US" sz="2400" b="1" dirty="0" smtClean="0">
                <a:sym typeface="+mn-ea"/>
              </a:rPr>
              <a:t>设备通信配置、调试流程</a:t>
            </a:r>
            <a:endParaRPr lang="zh-CN" altLang="en-US" sz="2400" dirty="0">
              <a:latin typeface="+mn-ea"/>
              <a:ea typeface="+mn-ea"/>
            </a:endParaRP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880" y="1556792"/>
            <a:ext cx="6408712" cy="4653136"/>
          </a:xfrm>
        </p:spPr>
      </p:pic>
      <p:sp>
        <p:nvSpPr>
          <p:cNvPr id="7" name="TextBox 6"/>
          <p:cNvSpPr txBox="1"/>
          <p:nvPr/>
        </p:nvSpPr>
        <p:spPr>
          <a:xfrm>
            <a:off x="179512" y="1556792"/>
            <a:ext cx="223651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 dirty="0">
                <a:latin typeface="+mn-ea"/>
              </a:rPr>
              <a:t>配置说明：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1.</a:t>
            </a:r>
            <a:r>
              <a:rPr lang="zh-CN" altLang="en-US" sz="1600" dirty="0">
                <a:latin typeface="+mn-ea"/>
              </a:rPr>
              <a:t>进入路由器界面后，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点击“基本设置”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2.</a:t>
            </a:r>
            <a:r>
              <a:rPr lang="zh-CN" altLang="en-US" sz="1600" dirty="0">
                <a:latin typeface="+mn-ea"/>
              </a:rPr>
              <a:t>选择“</a:t>
            </a:r>
            <a:r>
              <a:rPr lang="en-US" altLang="zh-CN" sz="1600" dirty="0">
                <a:latin typeface="+mn-ea"/>
              </a:rPr>
              <a:t>LAN</a:t>
            </a:r>
            <a:r>
              <a:rPr lang="zh-CN" altLang="en-US" sz="1600" dirty="0">
                <a:latin typeface="+mn-ea"/>
              </a:rPr>
              <a:t>设置”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3.</a:t>
            </a:r>
            <a:r>
              <a:rPr lang="zh-CN" altLang="en-US" sz="1600" dirty="0">
                <a:latin typeface="+mn-ea"/>
              </a:rPr>
              <a:t>选择“客户端列表”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4.</a:t>
            </a:r>
            <a:r>
              <a:rPr lang="zh-CN" altLang="en-US" sz="1600" dirty="0">
                <a:latin typeface="+mn-ea"/>
              </a:rPr>
              <a:t>将识别出来的通信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MINI</a:t>
            </a:r>
            <a:r>
              <a:rPr lang="zh-CN" altLang="en-US" sz="1600" dirty="0">
                <a:latin typeface="+mn-ea"/>
              </a:rPr>
              <a:t>添加到静态地址</a:t>
            </a:r>
            <a:endParaRPr lang="zh-CN" altLang="en-US" sz="1600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496" y="908214"/>
            <a:ext cx="2138680" cy="36830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b="1" dirty="0">
                <a:latin typeface="+mn-ea"/>
              </a:rPr>
              <a:t>5.2</a:t>
            </a:r>
            <a:r>
              <a:rPr lang="zh-CN" altLang="en-US" b="1" dirty="0" smtClean="0">
                <a:latin typeface="+mn-ea"/>
              </a:rPr>
              <a:t>：</a:t>
            </a:r>
            <a:r>
              <a:rPr lang="zh-CN" altLang="en-US" b="1" dirty="0" smtClean="0">
                <a:latin typeface="+mn-ea"/>
              </a:rPr>
              <a:t>配置通信</a:t>
            </a:r>
            <a:r>
              <a:rPr lang="zh-CN" altLang="en-US" b="1" dirty="0" smtClean="0">
                <a:latin typeface="+mn-ea"/>
              </a:rPr>
              <a:t>连接</a:t>
            </a:r>
            <a:endParaRPr lang="zh-CN" altLang="en-US" b="1" dirty="0" smtClean="0">
              <a:latin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88865" y="1287780"/>
            <a:ext cx="716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图一：</a:t>
            </a:r>
            <a:endParaRPr lang="zh-CN" altLang="en-US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418465"/>
            <a:ext cx="4138295" cy="634365"/>
          </a:xfrm>
        </p:spPr>
        <p:txBody>
          <a:bodyPr>
            <a:noAutofit/>
          </a:bodyPr>
          <a:p>
            <a:pPr algn="l"/>
            <a:r>
              <a:rPr lang="zh-CN" altLang="en-US" sz="2400" b="1" dirty="0">
                <a:sym typeface="+mn-ea"/>
              </a:rPr>
              <a:t>五</a:t>
            </a:r>
            <a:r>
              <a:rPr lang="en-US" altLang="zh-CN" sz="2400" b="1" dirty="0" smtClean="0">
                <a:sym typeface="+mn-ea"/>
              </a:rPr>
              <a:t>.</a:t>
            </a:r>
            <a:r>
              <a:rPr lang="zh-CN" altLang="en-US" sz="2400" b="1" dirty="0" smtClean="0">
                <a:sym typeface="+mn-ea"/>
              </a:rPr>
              <a:t>设备通信配置、调试流程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861" y="908849"/>
            <a:ext cx="2138680" cy="36830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b="1" dirty="0">
                <a:latin typeface="+mn-ea"/>
              </a:rPr>
              <a:t>5.3</a:t>
            </a:r>
            <a:r>
              <a:rPr lang="zh-CN" altLang="en-US" b="1" dirty="0" smtClean="0">
                <a:latin typeface="+mn-ea"/>
              </a:rPr>
              <a:t>：</a:t>
            </a:r>
            <a:r>
              <a:rPr lang="zh-CN" altLang="en-US" b="1" dirty="0" smtClean="0">
                <a:latin typeface="+mn-ea"/>
              </a:rPr>
              <a:t>配置通信</a:t>
            </a:r>
            <a:r>
              <a:rPr lang="zh-CN" altLang="en-US" b="1" dirty="0" smtClean="0">
                <a:latin typeface="+mn-ea"/>
              </a:rPr>
              <a:t>连接</a:t>
            </a:r>
            <a:endParaRPr lang="zh-CN" altLang="en-US" b="1" dirty="0" smtClean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9430" y="1412875"/>
            <a:ext cx="960755" cy="10502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19075" y="1437640"/>
            <a:ext cx="2584450" cy="13836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/>
              <a:t>1.</a:t>
            </a:r>
            <a:r>
              <a:rPr lang="zh-CN" altLang="en-US" sz="1400"/>
              <a:t>打开</a:t>
            </a:r>
            <a:r>
              <a:rPr lang="en-US" altLang="zh-CN" sz="1400"/>
              <a:t>VNC</a:t>
            </a:r>
            <a:r>
              <a:rPr lang="zh-CN" altLang="en-US" sz="1400"/>
              <a:t>软件；</a:t>
            </a:r>
            <a:endParaRPr lang="zh-CN" altLang="en-US" sz="1400"/>
          </a:p>
          <a:p>
            <a:r>
              <a:rPr lang="en-US" altLang="zh-CN" sz="1400"/>
              <a:t>2.</a:t>
            </a:r>
            <a:r>
              <a:rPr lang="zh-CN" altLang="en-US" sz="1400"/>
              <a:t>按快捷键</a:t>
            </a:r>
            <a:r>
              <a:rPr lang="en-US" altLang="zh-CN" sz="1400"/>
              <a:t>Ctrl+N</a:t>
            </a:r>
            <a:r>
              <a:rPr lang="zh-CN" altLang="en-US" sz="1400"/>
              <a:t>，新建</a:t>
            </a:r>
            <a:r>
              <a:rPr lang="zh-CN" altLang="en-US" sz="1400"/>
              <a:t>连接；</a:t>
            </a:r>
            <a:endParaRPr lang="zh-CN" altLang="en-US" sz="1400"/>
          </a:p>
          <a:p>
            <a:r>
              <a:rPr lang="en-US" altLang="zh-CN" sz="1400"/>
              <a:t>3.VNC Server</a:t>
            </a:r>
            <a:r>
              <a:rPr lang="zh-CN" altLang="en-US" sz="1400"/>
              <a:t>栏</a:t>
            </a:r>
            <a:r>
              <a:rPr lang="zh-CN" altLang="en-US" sz="1400" b="1" u="sng">
                <a:solidFill>
                  <a:srgbClr val="00B0F0"/>
                </a:solidFill>
              </a:rPr>
              <a:t>输入当前路由器</a:t>
            </a:r>
            <a:endParaRPr lang="zh-CN" altLang="en-US" sz="1400" b="1" u="sng">
              <a:solidFill>
                <a:srgbClr val="00B0F0"/>
              </a:solidFill>
            </a:endParaRPr>
          </a:p>
          <a:p>
            <a:r>
              <a:rPr lang="zh-CN" altLang="en-US" sz="1400" b="1" u="sng">
                <a:solidFill>
                  <a:srgbClr val="00B0F0"/>
                </a:solidFill>
              </a:rPr>
              <a:t>客户端中的</a:t>
            </a:r>
            <a:r>
              <a:rPr lang="en-US" altLang="zh-CN" sz="1400" b="1" u="sng">
                <a:solidFill>
                  <a:srgbClr val="00B0F0"/>
                </a:solidFill>
              </a:rPr>
              <a:t>IP</a:t>
            </a:r>
            <a:r>
              <a:rPr lang="zh-CN" altLang="en-US" sz="1400" b="1" u="sng">
                <a:solidFill>
                  <a:srgbClr val="00B0F0"/>
                </a:solidFill>
              </a:rPr>
              <a:t>地址</a:t>
            </a:r>
            <a:r>
              <a:rPr lang="zh-CN" altLang="en-US" sz="1400"/>
              <a:t>；</a:t>
            </a:r>
            <a:endParaRPr lang="zh-CN" altLang="en-US" sz="1400"/>
          </a:p>
          <a:p>
            <a:r>
              <a:rPr lang="en-US" altLang="zh-CN" sz="1400"/>
              <a:t>4.</a:t>
            </a:r>
            <a:r>
              <a:rPr lang="zh-CN" altLang="en-US" sz="1400"/>
              <a:t>打开新建的</a:t>
            </a:r>
            <a:r>
              <a:rPr lang="en-US" altLang="zh-CN" sz="1400"/>
              <a:t>VNC</a:t>
            </a:r>
            <a:r>
              <a:rPr lang="zh-CN" altLang="en-US" sz="1400"/>
              <a:t>，输入</a:t>
            </a:r>
            <a:r>
              <a:rPr lang="zh-CN" altLang="en-US" sz="1400"/>
              <a:t>用户名</a:t>
            </a:r>
            <a:endParaRPr lang="zh-CN" altLang="en-US" sz="1400"/>
          </a:p>
          <a:p>
            <a:r>
              <a:rPr lang="en-US" altLang="zh-CN" sz="1400"/>
              <a:t>gdlocal</a:t>
            </a:r>
            <a:r>
              <a:rPr lang="zh-CN" altLang="en-US" sz="1400"/>
              <a:t>，密码</a:t>
            </a:r>
            <a:r>
              <a:rPr lang="en-US" altLang="zh-CN" sz="1400"/>
              <a:t>gdlocal</a:t>
            </a:r>
            <a:r>
              <a:rPr lang="zh-CN" altLang="en-US" sz="1400"/>
              <a:t>；</a:t>
            </a:r>
            <a:endParaRPr lang="zh-CN" altLang="en-US" sz="14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855" y="1412875"/>
            <a:ext cx="3391535" cy="46316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023235" y="1144270"/>
            <a:ext cx="716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图</a:t>
            </a:r>
            <a:r>
              <a:rPr lang="zh-CN" altLang="en-US" sz="1400"/>
              <a:t>二：</a:t>
            </a:r>
            <a:endParaRPr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5032375" y="1144270"/>
            <a:ext cx="716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图</a:t>
            </a:r>
            <a:r>
              <a:rPr lang="zh-CN" altLang="en-US" sz="1400"/>
              <a:t>三：</a:t>
            </a:r>
            <a:endParaRPr lang="zh-CN" altLang="en-US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418465"/>
            <a:ext cx="4138295" cy="634365"/>
          </a:xfrm>
        </p:spPr>
        <p:txBody>
          <a:bodyPr>
            <a:noAutofit/>
          </a:bodyPr>
          <a:p>
            <a:pPr algn="l"/>
            <a:r>
              <a:rPr lang="zh-CN" altLang="en-US" sz="2400" b="1" dirty="0">
                <a:sym typeface="+mn-ea"/>
              </a:rPr>
              <a:t>五</a:t>
            </a:r>
            <a:r>
              <a:rPr lang="en-US" altLang="zh-CN" sz="2400" b="1" dirty="0" smtClean="0">
                <a:sym typeface="+mn-ea"/>
              </a:rPr>
              <a:t>.</a:t>
            </a:r>
            <a:r>
              <a:rPr lang="zh-CN" altLang="en-US" sz="2400" b="1" dirty="0" smtClean="0">
                <a:sym typeface="+mn-ea"/>
              </a:rPr>
              <a:t>设备通信配置、调试流程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861" y="908849"/>
            <a:ext cx="2138680" cy="36830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b="1" dirty="0">
                <a:latin typeface="+mn-ea"/>
              </a:rPr>
              <a:t>5.4</a:t>
            </a:r>
            <a:r>
              <a:rPr lang="zh-CN" altLang="en-US" b="1" dirty="0" smtClean="0">
                <a:latin typeface="+mn-ea"/>
              </a:rPr>
              <a:t>：</a:t>
            </a:r>
            <a:r>
              <a:rPr lang="zh-CN" altLang="en-US" b="1" dirty="0" smtClean="0">
                <a:latin typeface="+mn-ea"/>
              </a:rPr>
              <a:t>配置通信</a:t>
            </a:r>
            <a:r>
              <a:rPr lang="zh-CN" altLang="en-US" b="1" dirty="0" smtClean="0">
                <a:latin typeface="+mn-ea"/>
              </a:rPr>
              <a:t>连接</a:t>
            </a:r>
            <a:endParaRPr lang="zh-CN" altLang="en-US" b="1" dirty="0" smtClean="0"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032375" y="2722880"/>
            <a:ext cx="716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图</a:t>
            </a:r>
            <a:r>
              <a:rPr lang="zh-CN" altLang="en-US" sz="1400"/>
              <a:t>四：</a:t>
            </a:r>
            <a:endParaRPr lang="zh-CN" altLang="en-US" sz="1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0710" y="3140710"/>
            <a:ext cx="7273290" cy="24269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5575" y="1619885"/>
            <a:ext cx="2588895" cy="20300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1400"/>
              <a:t>1.</a:t>
            </a:r>
            <a:r>
              <a:rPr lang="zh-CN" altLang="en-US" sz="1400"/>
              <a:t>将已添加到静态地址的</a:t>
            </a:r>
            <a:r>
              <a:rPr lang="en-US" altLang="zh-CN" sz="1400"/>
              <a:t>IP</a:t>
            </a:r>
            <a:r>
              <a:rPr lang="zh-CN" altLang="en-US" sz="1400"/>
              <a:t>进行</a:t>
            </a:r>
            <a:endParaRPr lang="zh-CN" altLang="en-US" sz="1400"/>
          </a:p>
          <a:p>
            <a:pPr algn="l"/>
            <a:r>
              <a:rPr lang="zh-CN" altLang="en-US" sz="1400"/>
              <a:t>以下</a:t>
            </a:r>
            <a:r>
              <a:rPr lang="zh-CN" altLang="en-US" sz="1400"/>
              <a:t>分配：</a:t>
            </a:r>
            <a:endParaRPr lang="zh-CN" altLang="en-US" sz="1400"/>
          </a:p>
          <a:p>
            <a:pPr algn="l"/>
            <a:r>
              <a:rPr lang="en-US" altLang="zh-CN" sz="1400"/>
              <a:t>MINI1:192.168.1.100</a:t>
            </a:r>
            <a:endParaRPr lang="en-US" altLang="zh-CN" sz="1400"/>
          </a:p>
          <a:p>
            <a:pPr algn="l"/>
            <a:r>
              <a:rPr lang="en-US" altLang="zh-CN" sz="1400">
                <a:sym typeface="+mn-ea"/>
              </a:rPr>
              <a:t>MINI2:192.168.1.101</a:t>
            </a:r>
            <a:endParaRPr lang="en-US" altLang="zh-CN" sz="1400">
              <a:sym typeface="+mn-ea"/>
            </a:endParaRPr>
          </a:p>
          <a:p>
            <a:pPr algn="l"/>
            <a:r>
              <a:rPr lang="en-US" altLang="zh-CN" sz="1400">
                <a:sym typeface="+mn-ea"/>
              </a:rPr>
              <a:t>MINI3:192.168.1.102</a:t>
            </a:r>
            <a:endParaRPr lang="en-US" altLang="zh-CN" sz="1400"/>
          </a:p>
          <a:p>
            <a:pPr algn="l"/>
            <a:r>
              <a:rPr lang="en-US" altLang="zh-CN" sz="1400">
                <a:sym typeface="+mn-ea"/>
              </a:rPr>
              <a:t>MINI4:192.168.1.103</a:t>
            </a:r>
            <a:endParaRPr lang="en-US" altLang="zh-CN" sz="1400">
              <a:sym typeface="+mn-ea"/>
            </a:endParaRPr>
          </a:p>
          <a:p>
            <a:pPr algn="l"/>
            <a:r>
              <a:rPr lang="en-US" altLang="zh-CN" sz="1400"/>
              <a:t>2.</a:t>
            </a:r>
            <a:r>
              <a:rPr lang="zh-CN" altLang="en-US" sz="1400"/>
              <a:t>分配后请重启</a:t>
            </a:r>
            <a:r>
              <a:rPr lang="en-US" altLang="zh-CN" sz="1400"/>
              <a:t>MAC</a:t>
            </a:r>
            <a:endParaRPr lang="en-US" altLang="zh-CN" sz="1400"/>
          </a:p>
          <a:p>
            <a:pPr algn="l"/>
            <a:r>
              <a:rPr lang="en-US" altLang="zh-CN" sz="1400"/>
              <a:t>MINI</a:t>
            </a:r>
            <a:r>
              <a:rPr lang="zh-CN" altLang="en-US" sz="1400"/>
              <a:t>，并将</a:t>
            </a:r>
            <a:r>
              <a:rPr lang="en-US" altLang="zh-CN" sz="1400"/>
              <a:t>VNC</a:t>
            </a:r>
            <a:r>
              <a:rPr lang="zh-CN" altLang="en-US" sz="1400"/>
              <a:t>的</a:t>
            </a:r>
            <a:r>
              <a:rPr lang="en-US" altLang="zh-CN" sz="1400"/>
              <a:t>IP</a:t>
            </a:r>
            <a:endParaRPr lang="en-US" altLang="zh-CN" sz="1400"/>
          </a:p>
          <a:p>
            <a:pPr algn="l"/>
            <a:r>
              <a:rPr lang="zh-CN" altLang="en-US" sz="1400"/>
              <a:t>进行</a:t>
            </a:r>
            <a:r>
              <a:rPr lang="zh-CN" altLang="en-US" sz="1400"/>
              <a:t>修改；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298450" y="5873115"/>
            <a:ext cx="772985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/>
              <a:t>备注：将</a:t>
            </a:r>
            <a:r>
              <a:rPr lang="en-US" altLang="zh-CN" sz="1200"/>
              <a:t>IP</a:t>
            </a:r>
            <a:r>
              <a:rPr lang="zh-CN" altLang="en-US" sz="1200"/>
              <a:t>添加到静态地址后，工控机与</a:t>
            </a:r>
            <a:r>
              <a:rPr lang="en-US" altLang="zh-CN" sz="1200"/>
              <a:t>MAC MINI</a:t>
            </a:r>
            <a:r>
              <a:rPr lang="zh-CN" altLang="en-US" sz="1200"/>
              <a:t>的通信</a:t>
            </a:r>
            <a:r>
              <a:rPr lang="en-US" altLang="zh-CN" sz="1200"/>
              <a:t>IP</a:t>
            </a:r>
            <a:r>
              <a:rPr lang="zh-CN" altLang="en-US" sz="1200"/>
              <a:t>不再受</a:t>
            </a:r>
            <a:r>
              <a:rPr lang="en-US" altLang="zh-CN" sz="1200"/>
              <a:t>DHCP</a:t>
            </a:r>
            <a:r>
              <a:rPr lang="zh-CN" altLang="en-US" sz="1200"/>
              <a:t>自动分配，</a:t>
            </a:r>
            <a:r>
              <a:rPr lang="en-US" altLang="zh-CN" sz="1200"/>
              <a:t>VNC</a:t>
            </a:r>
            <a:r>
              <a:rPr lang="zh-CN" altLang="en-US" sz="1200"/>
              <a:t>的</a:t>
            </a:r>
            <a:r>
              <a:rPr lang="en-US" altLang="zh-CN" sz="1200"/>
              <a:t>IP</a:t>
            </a:r>
            <a:r>
              <a:rPr lang="zh-CN" altLang="en-US" sz="1200"/>
              <a:t>地址也需要同步修改；</a:t>
            </a:r>
            <a:endParaRPr lang="zh-CN" altLang="en-US" sz="1200"/>
          </a:p>
        </p:txBody>
      </p:sp>
      <p:sp>
        <p:nvSpPr>
          <p:cNvPr id="7" name="圆角矩形 6"/>
          <p:cNvSpPr/>
          <p:nvPr/>
        </p:nvSpPr>
        <p:spPr>
          <a:xfrm>
            <a:off x="4356100" y="3152775"/>
            <a:ext cx="863600" cy="288290"/>
          </a:xfrm>
          <a:prstGeom prst="round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418465"/>
            <a:ext cx="4138295" cy="634365"/>
          </a:xfrm>
        </p:spPr>
        <p:txBody>
          <a:bodyPr>
            <a:noAutofit/>
          </a:bodyPr>
          <a:p>
            <a:pPr algn="l"/>
            <a:r>
              <a:rPr lang="zh-CN" altLang="en-US" sz="2400" b="1" dirty="0">
                <a:sym typeface="+mn-ea"/>
              </a:rPr>
              <a:t>五</a:t>
            </a:r>
            <a:r>
              <a:rPr lang="en-US" altLang="zh-CN" sz="2400" b="1" dirty="0" smtClean="0">
                <a:sym typeface="+mn-ea"/>
              </a:rPr>
              <a:t>.</a:t>
            </a:r>
            <a:r>
              <a:rPr lang="zh-CN" altLang="en-US" sz="2400" b="1" dirty="0" smtClean="0">
                <a:sym typeface="+mn-ea"/>
              </a:rPr>
              <a:t>设备通信配置、调试流程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861" y="908849"/>
            <a:ext cx="2138680" cy="36830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b="1" dirty="0">
                <a:latin typeface="+mn-ea"/>
              </a:rPr>
              <a:t>5.5</a:t>
            </a:r>
            <a:r>
              <a:rPr lang="zh-CN" altLang="en-US" b="1" dirty="0">
                <a:latin typeface="+mn-ea"/>
              </a:rPr>
              <a:t>上位机通信配置</a:t>
            </a:r>
            <a:endParaRPr lang="zh-CN" altLang="en-US" b="1" dirty="0" smtClean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705" y="1557020"/>
            <a:ext cx="6544945" cy="477837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1570990" y="1772920"/>
            <a:ext cx="431800" cy="431800"/>
          </a:xfrm>
          <a:prstGeom prst="round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788160" y="2296160"/>
            <a:ext cx="1069975" cy="141605"/>
          </a:xfrm>
          <a:prstGeom prst="round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364615" y="2464435"/>
            <a:ext cx="575945" cy="144145"/>
          </a:xfrm>
          <a:prstGeom prst="round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5796280" y="3141345"/>
            <a:ext cx="215900" cy="1435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>
            <a:stCxn id="13" idx="3"/>
          </p:cNvCxnSpPr>
          <p:nvPr/>
        </p:nvCxnSpPr>
        <p:spPr>
          <a:xfrm>
            <a:off x="6012180" y="3213100"/>
            <a:ext cx="1296035" cy="648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308215" y="3645535"/>
            <a:ext cx="1554480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zh-CN" altLang="en-US" sz="1200"/>
              <a:t>鼠标右键点击空白处</a:t>
            </a:r>
            <a:endParaRPr lang="zh-CN" altLang="en-US" sz="1200"/>
          </a:p>
          <a:p>
            <a:r>
              <a:rPr lang="zh-CN" altLang="en-US" sz="1200"/>
              <a:t>完成保存；</a:t>
            </a:r>
            <a:endParaRPr lang="zh-CN" altLang="en-US" sz="1200"/>
          </a:p>
        </p:txBody>
      </p:sp>
      <p:sp>
        <p:nvSpPr>
          <p:cNvPr id="16" name="圆角矩形 15"/>
          <p:cNvSpPr/>
          <p:nvPr/>
        </p:nvSpPr>
        <p:spPr>
          <a:xfrm>
            <a:off x="3491865" y="2674620"/>
            <a:ext cx="2664460" cy="215900"/>
          </a:xfrm>
          <a:prstGeom prst="round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>
            <a:stCxn id="16" idx="3"/>
          </p:cNvCxnSpPr>
          <p:nvPr/>
        </p:nvCxnSpPr>
        <p:spPr>
          <a:xfrm>
            <a:off x="6156325" y="2782570"/>
            <a:ext cx="1151890" cy="2139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319010" y="2644775"/>
            <a:ext cx="1483360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zh-CN" altLang="en-US" sz="1200"/>
              <a:t>备注栏：</a:t>
            </a:r>
            <a:r>
              <a:rPr lang="en-US" altLang="zh-CN" sz="1200"/>
              <a:t>mini#</a:t>
            </a:r>
            <a:endParaRPr lang="en-US" altLang="zh-CN" sz="1200"/>
          </a:p>
          <a:p>
            <a:r>
              <a:rPr lang="en-US" altLang="zh-CN" sz="1200"/>
              <a:t>IP</a:t>
            </a:r>
            <a:r>
              <a:rPr lang="zh-CN" altLang="en-US" sz="1200"/>
              <a:t>栏：对应的</a:t>
            </a:r>
            <a:r>
              <a:rPr lang="en-US" altLang="zh-CN" sz="1200"/>
              <a:t>IP</a:t>
            </a:r>
            <a:r>
              <a:rPr lang="zh-CN" altLang="en-US" sz="1200"/>
              <a:t>地址</a:t>
            </a:r>
            <a:endParaRPr lang="zh-CN" altLang="en-US" sz="1200"/>
          </a:p>
          <a:p>
            <a:r>
              <a:rPr lang="zh-CN" altLang="en-US" sz="1200"/>
              <a:t>端口：</a:t>
            </a:r>
            <a:r>
              <a:rPr lang="en-US" altLang="zh-CN" sz="1200"/>
              <a:t>8080</a:t>
            </a:r>
            <a:endParaRPr lang="en-US" altLang="zh-CN" sz="1200"/>
          </a:p>
          <a:p>
            <a:r>
              <a:rPr lang="zh-CN" altLang="en-US" sz="1200"/>
              <a:t>修改：</a:t>
            </a:r>
            <a:r>
              <a:rPr lang="zh-CN" altLang="en-US" sz="1200"/>
              <a:t>写入</a:t>
            </a:r>
            <a:endParaRPr lang="zh-CN" altLang="en-US" sz="1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496" y="476672"/>
            <a:ext cx="393700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六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机械手点位示教操作流程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496" y="899428"/>
            <a:ext cx="282829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+mn-ea"/>
              </a:rPr>
              <a:t>6.1</a:t>
            </a:r>
            <a:r>
              <a:rPr lang="zh-CN" altLang="en-US" b="1" dirty="0" smtClean="0">
                <a:latin typeface="+mn-ea"/>
              </a:rPr>
              <a:t>：机械手过渡点说明：</a:t>
            </a:r>
            <a:endParaRPr lang="en-US" altLang="zh-CN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5496" y="1443841"/>
            <a:ext cx="2788504" cy="483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zh-CN" sz="1400" dirty="0"/>
              <a:t>过渡</a:t>
            </a:r>
            <a:r>
              <a:rPr lang="zh-CN" altLang="zh-CN" sz="1400" dirty="0" smtClean="0"/>
              <a:t>点</a:t>
            </a:r>
            <a:r>
              <a:rPr lang="zh-CN" altLang="en-US" sz="1400" dirty="0"/>
              <a:t>说明</a:t>
            </a:r>
            <a:r>
              <a:rPr lang="zh-CN" altLang="zh-CN" sz="1400" dirty="0" smtClean="0"/>
              <a:t>：</a:t>
            </a:r>
            <a:endParaRPr lang="zh-CN" altLang="zh-CN" sz="1400" dirty="0"/>
          </a:p>
          <a:p>
            <a:pPr lvl="0"/>
            <a:r>
              <a:rPr lang="en-US" altLang="zh-CN" sz="1400" dirty="0" smtClean="0"/>
              <a:t>1.QT1-PNP</a:t>
            </a:r>
            <a:r>
              <a:rPr lang="zh-CN" altLang="zh-CN" sz="1400" dirty="0"/>
              <a:t>设备共有</a:t>
            </a:r>
            <a:r>
              <a:rPr lang="en-US" altLang="zh-CN" sz="1400" dirty="0"/>
              <a:t>4</a:t>
            </a:r>
            <a:r>
              <a:rPr lang="zh-CN" altLang="zh-CN" sz="1400" dirty="0"/>
              <a:t>个过渡</a:t>
            </a:r>
            <a:r>
              <a:rPr lang="zh-CN" altLang="zh-CN" sz="1400" dirty="0" smtClean="0"/>
              <a:t>点</a:t>
            </a:r>
            <a:endParaRPr lang="en-US" altLang="zh-CN" sz="1400" dirty="0" smtClean="0"/>
          </a:p>
          <a:p>
            <a:pPr lvl="0"/>
            <a:r>
              <a:rPr lang="en-US" altLang="zh-CN" sz="1400" dirty="0" smtClean="0"/>
              <a:t>guodu_1</a:t>
            </a:r>
            <a:r>
              <a:rPr lang="zh-CN" altLang="zh-CN" sz="1400" dirty="0"/>
              <a:t>和</a:t>
            </a:r>
            <a:r>
              <a:rPr lang="en-US" altLang="zh-CN" sz="1400" dirty="0"/>
              <a:t>guodu_4</a:t>
            </a:r>
            <a:r>
              <a:rPr lang="zh-CN" altLang="zh-CN" sz="1400" dirty="0"/>
              <a:t>在右边</a:t>
            </a:r>
            <a:endParaRPr lang="zh-CN" altLang="zh-CN" sz="1400" dirty="0"/>
          </a:p>
          <a:p>
            <a:r>
              <a:rPr lang="en-US" altLang="zh-CN" sz="1400" dirty="0"/>
              <a:t>guodu_2</a:t>
            </a:r>
            <a:r>
              <a:rPr lang="zh-CN" altLang="zh-CN" sz="1400" dirty="0"/>
              <a:t>和</a:t>
            </a:r>
            <a:r>
              <a:rPr lang="en-US" altLang="zh-CN" sz="1400" dirty="0"/>
              <a:t>guodu_3</a:t>
            </a:r>
            <a:r>
              <a:rPr lang="zh-CN" altLang="zh-CN" sz="1400" dirty="0"/>
              <a:t>在</a:t>
            </a:r>
            <a:r>
              <a:rPr lang="zh-CN" altLang="zh-CN" sz="1400" dirty="0" smtClean="0"/>
              <a:t>左边</a:t>
            </a:r>
            <a:r>
              <a:rPr lang="zh-CN" altLang="en-US" sz="1400" dirty="0" smtClean="0"/>
              <a:t>；</a:t>
            </a:r>
            <a:endParaRPr lang="en-US" altLang="zh-CN" sz="1400" dirty="0" smtClean="0"/>
          </a:p>
          <a:p>
            <a:endParaRPr lang="zh-CN" altLang="zh-CN" sz="1400" dirty="0"/>
          </a:p>
          <a:p>
            <a:pPr lvl="0"/>
            <a:r>
              <a:rPr lang="en-US" altLang="zh-CN" sz="1400" dirty="0" smtClean="0"/>
              <a:t>2.</a:t>
            </a:r>
            <a:r>
              <a:rPr lang="zh-CN" altLang="zh-CN" sz="1400" dirty="0" smtClean="0"/>
              <a:t>当</a:t>
            </a:r>
            <a:r>
              <a:rPr lang="zh-CN" altLang="zh-CN" sz="1400" dirty="0"/>
              <a:t>机械手要放料到</a:t>
            </a:r>
            <a:r>
              <a:rPr lang="en-US" altLang="zh-CN" sz="1400" dirty="0"/>
              <a:t>1</a:t>
            </a:r>
            <a:r>
              <a:rPr lang="zh-CN" altLang="en-US" sz="1400" dirty="0"/>
              <a:t>、</a:t>
            </a:r>
            <a:r>
              <a:rPr lang="en-US" altLang="zh-CN" sz="1400" dirty="0"/>
              <a:t>2</a:t>
            </a:r>
            <a:r>
              <a:rPr lang="zh-CN" altLang="en-US" sz="1400" dirty="0"/>
              <a:t>、</a:t>
            </a:r>
            <a:r>
              <a:rPr lang="en-US" altLang="zh-CN" sz="1400" dirty="0"/>
              <a:t>3</a:t>
            </a:r>
            <a:r>
              <a:rPr lang="zh-CN" altLang="en-US" sz="1400" dirty="0"/>
              <a:t>、</a:t>
            </a:r>
            <a:r>
              <a:rPr lang="en-US" altLang="zh-CN" sz="1400" dirty="0"/>
              <a:t>4</a:t>
            </a:r>
            <a:r>
              <a:rPr lang="zh-CN" altLang="zh-CN" sz="1400" dirty="0"/>
              <a:t>号治具时</a:t>
            </a:r>
            <a:r>
              <a:rPr lang="zh-CN" altLang="zh-CN" sz="1400" dirty="0" smtClean="0"/>
              <a:t>，</a:t>
            </a:r>
            <a:endParaRPr lang="en-US" altLang="zh-CN" sz="1400" dirty="0" smtClean="0"/>
          </a:p>
          <a:p>
            <a:pPr lvl="0"/>
            <a:r>
              <a:rPr lang="zh-CN" altLang="zh-CN" sz="1400" dirty="0" smtClean="0"/>
              <a:t>必须</a:t>
            </a:r>
            <a:r>
              <a:rPr lang="zh-CN" altLang="zh-CN" sz="1400" dirty="0"/>
              <a:t>先执行</a:t>
            </a:r>
            <a:r>
              <a:rPr lang="en-US" altLang="zh-CN" sz="1400" dirty="0"/>
              <a:t>guodu_4</a:t>
            </a:r>
            <a:r>
              <a:rPr lang="zh-CN" altLang="zh-CN" sz="1400" dirty="0"/>
              <a:t>的目标</a:t>
            </a:r>
            <a:r>
              <a:rPr lang="zh-CN" altLang="zh-CN" sz="1400" dirty="0" smtClean="0"/>
              <a:t>位</a:t>
            </a:r>
            <a:endParaRPr lang="en-US" altLang="zh-CN" sz="1400" dirty="0" smtClean="0"/>
          </a:p>
          <a:p>
            <a:pPr lvl="0"/>
            <a:r>
              <a:rPr lang="zh-CN" altLang="zh-CN" sz="1400" dirty="0" smtClean="0"/>
              <a:t>再</a:t>
            </a:r>
            <a:r>
              <a:rPr lang="zh-CN" altLang="zh-CN" sz="1400" dirty="0"/>
              <a:t>到</a:t>
            </a:r>
            <a:r>
              <a:rPr lang="en-US" altLang="zh-CN" sz="1400" dirty="0"/>
              <a:t>pallent1_1.........</a:t>
            </a:r>
            <a:r>
              <a:rPr lang="zh-CN" altLang="zh-CN" sz="1400" dirty="0"/>
              <a:t>的点</a:t>
            </a:r>
            <a:r>
              <a:rPr lang="zh-CN" altLang="zh-CN" sz="1400" dirty="0" smtClean="0"/>
              <a:t>位</a:t>
            </a:r>
            <a:r>
              <a:rPr lang="zh-CN" altLang="en-US" sz="1400" dirty="0" smtClean="0"/>
              <a:t>；</a:t>
            </a:r>
            <a:endParaRPr lang="en-US" altLang="zh-CN" sz="1400" dirty="0" smtClean="0"/>
          </a:p>
          <a:p>
            <a:pPr lvl="0"/>
            <a:endParaRPr lang="zh-CN" altLang="zh-CN" sz="1400" dirty="0"/>
          </a:p>
          <a:p>
            <a:pPr lvl="0"/>
            <a:r>
              <a:rPr lang="en-US" altLang="zh-CN" sz="1400" dirty="0" smtClean="0"/>
              <a:t>3.</a:t>
            </a:r>
            <a:r>
              <a:rPr lang="zh-CN" altLang="zh-CN" sz="1400" dirty="0" smtClean="0">
                <a:sym typeface="+mn-ea"/>
              </a:rPr>
              <a:t>当</a:t>
            </a:r>
            <a:r>
              <a:rPr lang="zh-CN" altLang="zh-CN" sz="1400" dirty="0">
                <a:sym typeface="+mn-ea"/>
              </a:rPr>
              <a:t>机械手要放料到</a:t>
            </a:r>
            <a:r>
              <a:rPr lang="en-US" altLang="zh-CN" sz="1400" dirty="0">
                <a:sym typeface="+mn-ea"/>
              </a:rPr>
              <a:t>5</a:t>
            </a:r>
            <a:r>
              <a:rPr lang="zh-CN" altLang="en-US" sz="1400" dirty="0">
                <a:sym typeface="+mn-ea"/>
              </a:rPr>
              <a:t>、</a:t>
            </a:r>
            <a:r>
              <a:rPr lang="en-US" altLang="zh-CN" sz="1400" dirty="0">
                <a:sym typeface="+mn-ea"/>
              </a:rPr>
              <a:t>6</a:t>
            </a:r>
            <a:r>
              <a:rPr lang="zh-CN" altLang="en-US" sz="1400" dirty="0">
                <a:sym typeface="+mn-ea"/>
              </a:rPr>
              <a:t>、</a:t>
            </a:r>
            <a:r>
              <a:rPr lang="en-US" altLang="zh-CN" sz="1400" dirty="0">
                <a:sym typeface="+mn-ea"/>
              </a:rPr>
              <a:t>7</a:t>
            </a:r>
            <a:r>
              <a:rPr lang="zh-CN" altLang="en-US" sz="1400" dirty="0">
                <a:sym typeface="+mn-ea"/>
              </a:rPr>
              <a:t>、</a:t>
            </a:r>
            <a:r>
              <a:rPr lang="en-US" altLang="zh-CN" sz="1400" dirty="0">
                <a:sym typeface="+mn-ea"/>
              </a:rPr>
              <a:t>8</a:t>
            </a:r>
            <a:r>
              <a:rPr lang="zh-CN" altLang="zh-CN" sz="1400" dirty="0">
                <a:sym typeface="+mn-ea"/>
              </a:rPr>
              <a:t>号治具时</a:t>
            </a:r>
            <a:r>
              <a:rPr lang="zh-CN" altLang="zh-CN" sz="1400" dirty="0" smtClean="0">
                <a:sym typeface="+mn-ea"/>
              </a:rPr>
              <a:t>，</a:t>
            </a:r>
            <a:endParaRPr lang="en-US" altLang="zh-CN" sz="1400" dirty="0" smtClean="0"/>
          </a:p>
          <a:p>
            <a:pPr lvl="0"/>
            <a:r>
              <a:rPr lang="zh-CN" altLang="zh-CN" sz="1400" dirty="0" smtClean="0">
                <a:sym typeface="+mn-ea"/>
              </a:rPr>
              <a:t>必须</a:t>
            </a:r>
            <a:r>
              <a:rPr lang="zh-CN" altLang="zh-CN" sz="1400" dirty="0">
                <a:sym typeface="+mn-ea"/>
              </a:rPr>
              <a:t>先执行</a:t>
            </a:r>
            <a:r>
              <a:rPr lang="en-US" altLang="zh-CN" sz="1400" dirty="0">
                <a:sym typeface="+mn-ea"/>
              </a:rPr>
              <a:t>guodu_3</a:t>
            </a:r>
            <a:r>
              <a:rPr lang="zh-CN" altLang="zh-CN" sz="1400" dirty="0">
                <a:sym typeface="+mn-ea"/>
              </a:rPr>
              <a:t>的目标</a:t>
            </a:r>
            <a:r>
              <a:rPr lang="zh-CN" altLang="zh-CN" sz="1400" dirty="0" smtClean="0">
                <a:sym typeface="+mn-ea"/>
              </a:rPr>
              <a:t>位</a:t>
            </a:r>
            <a:endParaRPr lang="en-US" altLang="zh-CN" sz="1400" dirty="0" smtClean="0"/>
          </a:p>
          <a:p>
            <a:pPr lvl="0"/>
            <a:r>
              <a:rPr lang="zh-CN" altLang="zh-CN" sz="1400" dirty="0" smtClean="0">
                <a:sym typeface="+mn-ea"/>
              </a:rPr>
              <a:t>再</a:t>
            </a:r>
            <a:r>
              <a:rPr lang="zh-CN" altLang="zh-CN" sz="1400" dirty="0">
                <a:sym typeface="+mn-ea"/>
              </a:rPr>
              <a:t>到</a:t>
            </a:r>
            <a:r>
              <a:rPr lang="en-US" altLang="zh-CN" sz="1400" dirty="0">
                <a:sym typeface="+mn-ea"/>
              </a:rPr>
              <a:t>pallent2_1........</a:t>
            </a:r>
            <a:r>
              <a:rPr lang="zh-CN" altLang="zh-CN" sz="1400" dirty="0">
                <a:sym typeface="+mn-ea"/>
              </a:rPr>
              <a:t>的点</a:t>
            </a:r>
            <a:r>
              <a:rPr lang="zh-CN" altLang="zh-CN" sz="1400" dirty="0" smtClean="0">
                <a:sym typeface="+mn-ea"/>
              </a:rPr>
              <a:t>位</a:t>
            </a:r>
            <a:r>
              <a:rPr lang="zh-CN" altLang="en-US" sz="1400" dirty="0" smtClean="0">
                <a:sym typeface="+mn-ea"/>
              </a:rPr>
              <a:t>；</a:t>
            </a:r>
            <a:endParaRPr lang="en-US" altLang="zh-CN" sz="1400" dirty="0" smtClean="0"/>
          </a:p>
          <a:p>
            <a:pPr lvl="0"/>
            <a:endParaRPr lang="zh-CN" altLang="zh-CN" sz="1400" dirty="0"/>
          </a:p>
          <a:p>
            <a:pPr lvl="0"/>
            <a:r>
              <a:rPr lang="en-US" altLang="zh-CN" sz="1400" dirty="0" smtClean="0"/>
              <a:t>4.</a:t>
            </a:r>
            <a:r>
              <a:rPr lang="zh-CN" altLang="zh-CN" sz="1400" dirty="0" smtClean="0"/>
              <a:t>当</a:t>
            </a:r>
            <a:r>
              <a:rPr lang="zh-CN" altLang="zh-CN" sz="1400" dirty="0"/>
              <a:t>机械手要放料到</a:t>
            </a:r>
            <a:r>
              <a:rPr lang="en-US" sz="1400" dirty="0"/>
              <a:t>NG_OUT</a:t>
            </a:r>
            <a:r>
              <a:rPr lang="zh-CN" altLang="zh-CN" sz="1400" dirty="0"/>
              <a:t>时</a:t>
            </a:r>
            <a:r>
              <a:rPr lang="zh-CN" altLang="zh-CN" sz="1400" dirty="0" smtClean="0"/>
              <a:t>，</a:t>
            </a:r>
            <a:endParaRPr lang="en-US" altLang="zh-CN" sz="1400" dirty="0" smtClean="0"/>
          </a:p>
          <a:p>
            <a:pPr lvl="0"/>
            <a:r>
              <a:rPr lang="zh-CN" altLang="zh-CN" sz="1400" dirty="0" smtClean="0"/>
              <a:t>必须</a:t>
            </a:r>
            <a:r>
              <a:rPr lang="zh-CN" altLang="zh-CN" sz="1400" dirty="0"/>
              <a:t>先执行</a:t>
            </a:r>
            <a:r>
              <a:rPr lang="en-US" altLang="zh-CN" sz="1400" dirty="0"/>
              <a:t>guodu_2</a:t>
            </a:r>
            <a:r>
              <a:rPr lang="zh-CN" altLang="zh-CN" sz="1400" dirty="0"/>
              <a:t>的目标</a:t>
            </a:r>
            <a:r>
              <a:rPr lang="zh-CN" altLang="zh-CN" sz="1400" dirty="0" smtClean="0"/>
              <a:t>位</a:t>
            </a:r>
            <a:endParaRPr lang="en-US" altLang="zh-CN" sz="1400" dirty="0" smtClean="0"/>
          </a:p>
          <a:p>
            <a:pPr lvl="0"/>
            <a:r>
              <a:rPr lang="zh-CN" altLang="zh-CN" sz="1400" dirty="0" smtClean="0"/>
              <a:t>再</a:t>
            </a:r>
            <a:r>
              <a:rPr lang="zh-CN" altLang="zh-CN" sz="1400" dirty="0"/>
              <a:t>到</a:t>
            </a:r>
            <a:r>
              <a:rPr lang="en-US" altLang="zh-CN" sz="1400" dirty="0"/>
              <a:t>NG_2L</a:t>
            </a:r>
            <a:r>
              <a:rPr lang="zh-CN" altLang="zh-CN" sz="1400" dirty="0"/>
              <a:t>的点</a:t>
            </a:r>
            <a:r>
              <a:rPr lang="zh-CN" altLang="zh-CN" sz="1400" dirty="0" smtClean="0"/>
              <a:t>位</a:t>
            </a:r>
            <a:r>
              <a:rPr lang="zh-CN" altLang="en-US" sz="1400" dirty="0" smtClean="0"/>
              <a:t>；</a:t>
            </a:r>
            <a:endParaRPr lang="en-US" altLang="zh-CN" sz="1400" dirty="0" smtClean="0"/>
          </a:p>
          <a:p>
            <a:pPr lvl="0"/>
            <a:endParaRPr lang="zh-CN" altLang="zh-CN" sz="1400" dirty="0"/>
          </a:p>
          <a:p>
            <a:r>
              <a:rPr lang="en-US" altLang="zh-CN" sz="1400" dirty="0" smtClean="0"/>
              <a:t>5.</a:t>
            </a:r>
            <a:r>
              <a:rPr lang="zh-CN" altLang="zh-CN" sz="1400" dirty="0" smtClean="0"/>
              <a:t>当</a:t>
            </a:r>
            <a:r>
              <a:rPr lang="zh-CN" altLang="zh-CN" sz="1400" dirty="0"/>
              <a:t>机械手要从</a:t>
            </a:r>
            <a:r>
              <a:rPr lang="en-US" altLang="zh-CN" sz="1400" dirty="0"/>
              <a:t>NG_IN</a:t>
            </a:r>
            <a:r>
              <a:rPr lang="zh-CN" altLang="zh-CN" sz="1400" dirty="0"/>
              <a:t>抓料放</a:t>
            </a:r>
            <a:r>
              <a:rPr lang="zh-CN" altLang="zh-CN" sz="1400" dirty="0" smtClean="0"/>
              <a:t>到</a:t>
            </a:r>
            <a:endParaRPr lang="en-US" altLang="zh-CN" sz="1400" dirty="0" smtClean="0"/>
          </a:p>
          <a:p>
            <a:r>
              <a:rPr lang="zh-CN" altLang="zh-CN" sz="1400" dirty="0"/>
              <a:t>治具时必须先执行</a:t>
            </a:r>
            <a:r>
              <a:rPr lang="zh-CN" altLang="zh-CN" sz="1400" dirty="0" smtClean="0"/>
              <a:t>到</a:t>
            </a:r>
            <a:endParaRPr lang="en-US" altLang="zh-CN" sz="1400" dirty="0" smtClean="0"/>
          </a:p>
          <a:p>
            <a:r>
              <a:rPr lang="en-US" altLang="zh-CN" sz="1400" dirty="0" smtClean="0"/>
              <a:t>guodu_1</a:t>
            </a:r>
            <a:r>
              <a:rPr lang="zh-CN" altLang="zh-CN" sz="1400" dirty="0"/>
              <a:t>的目标位再执行</a:t>
            </a:r>
            <a:r>
              <a:rPr lang="en-US" altLang="zh-CN" sz="1400" dirty="0"/>
              <a:t>NG_1R</a:t>
            </a:r>
            <a:r>
              <a:rPr lang="zh-CN" altLang="en-US" sz="1400" dirty="0" smtClean="0"/>
              <a:t>；</a:t>
            </a:r>
            <a:endParaRPr lang="zh-CN" altLang="en-US" sz="1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9475" y="1123950"/>
            <a:ext cx="5405120" cy="53587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37325" y="4538345"/>
            <a:ext cx="56642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过渡</a:t>
            </a:r>
            <a:r>
              <a:rPr lang="en-US" altLang="zh-CN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1</a:t>
            </a:r>
            <a:endParaRPr lang="en-US" altLang="zh-CN" sz="12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85715" y="4540885"/>
            <a:ext cx="56642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过渡</a:t>
            </a:r>
            <a:r>
              <a:rPr lang="en-US" altLang="zh-CN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2</a:t>
            </a:r>
            <a:endParaRPr lang="en-US" altLang="zh-CN" sz="12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78730" y="3448050"/>
            <a:ext cx="56642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过渡</a:t>
            </a:r>
            <a:r>
              <a:rPr lang="en-US" altLang="zh-CN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3</a:t>
            </a:r>
            <a:endParaRPr lang="en-US" altLang="zh-CN" sz="12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06845" y="3450590"/>
            <a:ext cx="56642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过渡</a:t>
            </a:r>
            <a:r>
              <a:rPr lang="en-US" altLang="zh-CN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4</a:t>
            </a:r>
            <a:endParaRPr lang="en-US" altLang="zh-CN" sz="12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496" y="476672"/>
            <a:ext cx="393700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六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机械手点位示教操作流程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496" y="829161"/>
            <a:ext cx="3561080" cy="1229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+mn-ea"/>
              </a:rPr>
              <a:t>6.2</a:t>
            </a:r>
            <a:r>
              <a:rPr lang="zh-CN" altLang="en-US" b="1" dirty="0" smtClean="0">
                <a:latin typeface="+mn-ea"/>
              </a:rPr>
              <a:t>：机械手点位说明：</a:t>
            </a:r>
            <a:endParaRPr lang="en-US" altLang="zh-CN" b="1" dirty="0" smtClean="0">
              <a:latin typeface="+mn-ea"/>
            </a:endParaRPr>
          </a:p>
          <a:p>
            <a:r>
              <a:rPr lang="en-US" altLang="zh-CN" sz="1400" dirty="0" smtClean="0">
                <a:latin typeface="+mn-ea"/>
              </a:rPr>
              <a:t>1.</a:t>
            </a:r>
            <a:r>
              <a:rPr lang="zh-CN" altLang="en-US" sz="1400" dirty="0" smtClean="0">
                <a:latin typeface="+mn-ea"/>
              </a:rPr>
              <a:t>变量名；</a:t>
            </a:r>
            <a:endParaRPr lang="en-US" altLang="zh-CN" sz="1400" dirty="0" smtClean="0">
              <a:latin typeface="+mn-ea"/>
            </a:endParaRPr>
          </a:p>
          <a:p>
            <a:r>
              <a:rPr lang="en-US" altLang="zh-CN" sz="1400" dirty="0" smtClean="0">
                <a:latin typeface="+mn-ea"/>
              </a:rPr>
              <a:t>2.4</a:t>
            </a:r>
            <a:r>
              <a:rPr lang="zh-CN" altLang="en-US" sz="1400" dirty="0" smtClean="0">
                <a:latin typeface="+mn-ea"/>
              </a:rPr>
              <a:t>轴点位坐标</a:t>
            </a:r>
            <a:endParaRPr lang="en-US" altLang="zh-CN" sz="1400" dirty="0" smtClean="0">
              <a:latin typeface="+mn-ea"/>
            </a:endParaRPr>
          </a:p>
          <a:p>
            <a:r>
              <a:rPr lang="en-US" altLang="zh-CN" sz="1400" dirty="0" smtClean="0">
                <a:latin typeface="+mn-ea"/>
              </a:rPr>
              <a:t>3.</a:t>
            </a:r>
            <a:r>
              <a:rPr lang="zh-CN" altLang="en-US" sz="1400" dirty="0" smtClean="0">
                <a:latin typeface="+mn-ea"/>
              </a:rPr>
              <a:t>点位备注</a:t>
            </a:r>
            <a:r>
              <a:rPr lang="en-US" altLang="zh-CN" sz="1400" dirty="0" smtClean="0">
                <a:latin typeface="+mn-ea"/>
              </a:rPr>
              <a:t>/</a:t>
            </a:r>
            <a:r>
              <a:rPr lang="zh-CN" altLang="en-US" sz="1400" dirty="0" smtClean="0">
                <a:latin typeface="+mn-ea"/>
              </a:rPr>
              <a:t>描述</a:t>
            </a:r>
            <a:endParaRPr lang="en-US" altLang="zh-CN" sz="1400" dirty="0" smtClean="0">
              <a:latin typeface="+mn-ea"/>
            </a:endParaRPr>
          </a:p>
          <a:p>
            <a:r>
              <a:rPr lang="en-US" altLang="zh-CN" sz="1400" dirty="0" smtClean="0">
                <a:latin typeface="+mn-ea"/>
              </a:rPr>
              <a:t>4.</a:t>
            </a:r>
            <a:r>
              <a:rPr lang="zh-CN" altLang="en-US" sz="1400" dirty="0" smtClean="0">
                <a:latin typeface="+mn-ea"/>
              </a:rPr>
              <a:t>左右姿态（不可混淆，否则会发生撞机）</a:t>
            </a:r>
            <a:endParaRPr lang="en-US" altLang="zh-CN" sz="1400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00402"/>
            <a:ext cx="9144000" cy="45969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115616" y="2000402"/>
            <a:ext cx="1560346" cy="459695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95536" y="2000402"/>
            <a:ext cx="648072" cy="459695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316416" y="2000402"/>
            <a:ext cx="827584" cy="459695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3568" y="1988840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+mn-ea"/>
              </a:rPr>
              <a:t>1</a:t>
            </a:r>
            <a:r>
              <a:rPr lang="zh-CN" altLang="en-US" dirty="0" smtClean="0">
                <a:latin typeface="+mn-ea"/>
              </a:rPr>
              <a:t>：</a:t>
            </a:r>
            <a:endParaRPr lang="zh-CN" altLang="en-US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67274" y="1988840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n-ea"/>
              </a:rPr>
              <a:t>2</a:t>
            </a:r>
            <a:r>
              <a:rPr lang="zh-CN" altLang="en-US" dirty="0" smtClean="0">
                <a:latin typeface="+mn-ea"/>
              </a:rPr>
              <a:t>：</a:t>
            </a:r>
            <a:endParaRPr lang="zh-CN" altLang="en-US" dirty="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92010" y="1988840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n-ea"/>
              </a:rPr>
              <a:t>3</a:t>
            </a:r>
            <a:r>
              <a:rPr lang="zh-CN" altLang="en-US" dirty="0" smtClean="0">
                <a:latin typeface="+mn-ea"/>
              </a:rPr>
              <a:t>：</a:t>
            </a:r>
            <a:endParaRPr lang="zh-CN" altLang="en-US" dirty="0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28487" y="1013827"/>
            <a:ext cx="409989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路径：假设取料点为</a:t>
            </a:r>
            <a:r>
              <a:rPr lang="en-US" altLang="zh-CN" sz="1600" dirty="0">
                <a:latin typeface="+mn-ea"/>
              </a:rPr>
              <a:t>A</a:t>
            </a:r>
            <a:r>
              <a:rPr lang="zh-CN" altLang="en-US" sz="1600" dirty="0">
                <a:latin typeface="+mn-ea"/>
              </a:rPr>
              <a:t>，放料点为</a:t>
            </a:r>
            <a:r>
              <a:rPr lang="en-US" altLang="zh-CN" sz="1600" dirty="0">
                <a:latin typeface="+mn-ea"/>
              </a:rPr>
              <a:t>C</a:t>
            </a:r>
            <a:r>
              <a:rPr lang="zh-CN" altLang="en-US" sz="1600" dirty="0" smtClean="0">
                <a:latin typeface="+mn-ea"/>
              </a:rPr>
              <a:t>。从</a:t>
            </a:r>
            <a:r>
              <a:rPr lang="zh-CN" altLang="en-US" sz="1600" dirty="0">
                <a:latin typeface="+mn-ea"/>
              </a:rPr>
              <a:t>取料</a:t>
            </a:r>
            <a:r>
              <a:rPr lang="en-US" altLang="zh-CN" sz="1600" dirty="0">
                <a:latin typeface="+mn-ea"/>
              </a:rPr>
              <a:t>A</a:t>
            </a:r>
            <a:r>
              <a:rPr lang="zh-CN" altLang="en-US" sz="1600" dirty="0">
                <a:latin typeface="+mn-ea"/>
              </a:rPr>
              <a:t>点移动到放料</a:t>
            </a:r>
            <a:r>
              <a:rPr lang="en-US" altLang="zh-CN" sz="1600" dirty="0">
                <a:latin typeface="+mn-ea"/>
              </a:rPr>
              <a:t>C</a:t>
            </a:r>
            <a:r>
              <a:rPr lang="zh-CN" altLang="en-US" sz="1600" dirty="0">
                <a:latin typeface="+mn-ea"/>
              </a:rPr>
              <a:t>点</a:t>
            </a:r>
            <a:r>
              <a:rPr lang="zh-CN" altLang="en-US" sz="1600" dirty="0" smtClean="0">
                <a:latin typeface="+mn-ea"/>
              </a:rPr>
              <a:t>，称为</a:t>
            </a:r>
            <a:r>
              <a:rPr lang="zh-CN" altLang="en-US" sz="1600" dirty="0">
                <a:latin typeface="+mn-ea"/>
              </a:rPr>
              <a:t>路径</a:t>
            </a:r>
            <a:r>
              <a:rPr lang="zh-CN" altLang="en-US" sz="1600" dirty="0" smtClean="0">
                <a:latin typeface="+mn-ea"/>
              </a:rPr>
              <a:t>；</a:t>
            </a:r>
            <a:endParaRPr lang="en-US" altLang="zh-CN" sz="1600" dirty="0" smtClean="0">
              <a:latin typeface="+mn-ea"/>
            </a:endParaRPr>
          </a:p>
          <a:p>
            <a:r>
              <a:rPr lang="zh-CN" altLang="en-US" sz="1600" dirty="0" smtClean="0">
                <a:latin typeface="+mn-ea"/>
              </a:rPr>
              <a:t>该</a:t>
            </a:r>
            <a:r>
              <a:rPr lang="zh-CN" altLang="en-US" sz="1600" dirty="0">
                <a:latin typeface="+mn-ea"/>
              </a:rPr>
              <a:t>路径是由</a:t>
            </a:r>
            <a:r>
              <a:rPr lang="en-US" altLang="zh-CN" sz="1600" dirty="0">
                <a:latin typeface="+mn-ea"/>
              </a:rPr>
              <a:t>A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dirty="0">
                <a:latin typeface="+mn-ea"/>
              </a:rPr>
              <a:t>B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dirty="0">
                <a:latin typeface="+mn-ea"/>
              </a:rPr>
              <a:t>C</a:t>
            </a:r>
            <a:r>
              <a:rPr lang="zh-CN" altLang="en-US" sz="1600" dirty="0">
                <a:latin typeface="+mn-ea"/>
              </a:rPr>
              <a:t>多个点位组成；</a:t>
            </a:r>
            <a:endParaRPr lang="zh-CN" altLang="en-US" sz="1600" dirty="0">
              <a:latin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932040" y="1988840"/>
            <a:ext cx="360040" cy="460851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004048" y="1979548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916" y="899428"/>
            <a:ext cx="305816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+mn-ea"/>
              </a:rPr>
              <a:t>6.4</a:t>
            </a:r>
            <a:r>
              <a:rPr lang="zh-CN" altLang="en-US" b="1" dirty="0" smtClean="0">
                <a:latin typeface="+mn-ea"/>
              </a:rPr>
              <a:t>：</a:t>
            </a:r>
            <a:r>
              <a:rPr lang="zh-CN" altLang="en-US" b="1" dirty="0">
                <a:latin typeface="+mn-ea"/>
              </a:rPr>
              <a:t>机械手夹爪信号说明：</a:t>
            </a:r>
            <a:endParaRPr lang="en-US" altLang="zh-CN" b="1" dirty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251" y="1485543"/>
            <a:ext cx="3205480" cy="1383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+mn-ea"/>
              </a:rPr>
              <a:t>1.</a:t>
            </a:r>
            <a:r>
              <a:rPr lang="zh-CN" altLang="en-US" sz="1400" dirty="0" smtClean="0">
                <a:latin typeface="+mn-ea"/>
              </a:rPr>
              <a:t>打开机械手</a:t>
            </a:r>
            <a:r>
              <a:rPr lang="en-US" altLang="zh-CN" sz="1400" dirty="0" smtClean="0">
                <a:latin typeface="+mn-ea"/>
              </a:rPr>
              <a:t>I/O</a:t>
            </a:r>
            <a:r>
              <a:rPr lang="zh-CN" altLang="en-US" sz="1400" dirty="0" smtClean="0">
                <a:latin typeface="+mn-ea"/>
              </a:rPr>
              <a:t>监视表；</a:t>
            </a:r>
            <a:endParaRPr lang="en-US" altLang="zh-CN" sz="1400" dirty="0" smtClean="0">
              <a:latin typeface="+mn-ea"/>
            </a:endParaRPr>
          </a:p>
          <a:p>
            <a:r>
              <a:rPr lang="zh-CN" altLang="en-US" sz="1400" dirty="0" smtClean="0">
                <a:latin typeface="+mn-ea"/>
              </a:rPr>
              <a:t>输入信号栏：</a:t>
            </a:r>
            <a:r>
              <a:rPr lang="zh-CN" altLang="en-US" sz="1400" dirty="0" smtClean="0">
                <a:latin typeface="+mn-ea"/>
              </a:rPr>
              <a:t>监控夹爪感应器</a:t>
            </a:r>
            <a:endParaRPr lang="en-US" altLang="zh-CN" sz="1400" dirty="0" smtClean="0">
              <a:latin typeface="+mn-ea"/>
            </a:endParaRPr>
          </a:p>
          <a:p>
            <a:r>
              <a:rPr lang="zh-CN" altLang="en-US" sz="1400" dirty="0" smtClean="0">
                <a:latin typeface="+mn-ea"/>
              </a:rPr>
              <a:t>状态；</a:t>
            </a:r>
            <a:endParaRPr lang="en-US" altLang="zh-CN" sz="1400" dirty="0" smtClean="0">
              <a:latin typeface="+mn-ea"/>
            </a:endParaRPr>
          </a:p>
          <a:p>
            <a:r>
              <a:rPr lang="zh-CN" altLang="en-US" sz="1400" dirty="0" smtClean="0">
                <a:latin typeface="+mn-ea"/>
              </a:rPr>
              <a:t>输出信号栏：控制夹爪气缸</a:t>
            </a:r>
            <a:r>
              <a:rPr lang="zh-CN" altLang="en-US" sz="1400" dirty="0" smtClean="0">
                <a:latin typeface="+mn-ea"/>
              </a:rPr>
              <a:t>执行信号；</a:t>
            </a:r>
            <a:endParaRPr lang="zh-CN" altLang="en-US" sz="1400" dirty="0" smtClean="0">
              <a:latin typeface="+mn-ea"/>
            </a:endParaRPr>
          </a:p>
          <a:p>
            <a:r>
              <a:rPr lang="zh-CN" altLang="en-US" sz="1400" dirty="0">
                <a:latin typeface="+mn-ea"/>
              </a:rPr>
              <a:t>备注：鼠标光标停留</a:t>
            </a:r>
            <a:r>
              <a:rPr lang="en-US" altLang="zh-CN" sz="1400" dirty="0">
                <a:latin typeface="+mn-ea"/>
              </a:rPr>
              <a:t>3s</a:t>
            </a:r>
            <a:r>
              <a:rPr lang="zh-CN" altLang="en-US" sz="1400" dirty="0">
                <a:latin typeface="+mn-ea"/>
              </a:rPr>
              <a:t>后可以查看</a:t>
            </a:r>
            <a:endParaRPr lang="zh-CN" altLang="en-US" sz="1400" dirty="0">
              <a:latin typeface="+mn-ea"/>
            </a:endParaRPr>
          </a:p>
          <a:p>
            <a:r>
              <a:rPr lang="zh-CN" altLang="en-US" sz="1400" dirty="0">
                <a:latin typeface="+mn-ea"/>
              </a:rPr>
              <a:t>批注；</a:t>
            </a:r>
            <a:endParaRPr lang="zh-CN" altLang="en-US" sz="1400" dirty="0">
              <a:latin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11776"/>
          <a:stretch>
            <a:fillRect/>
          </a:stretch>
        </p:blipFill>
        <p:spPr>
          <a:xfrm>
            <a:off x="3420110" y="981075"/>
            <a:ext cx="4514850" cy="579691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5496" y="476672"/>
            <a:ext cx="3937000" cy="46037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六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机械手点位示教操作流程</a:t>
            </a:r>
            <a:endParaRPr lang="zh-CN" altLang="en-US" sz="24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899175"/>
            <a:ext cx="478409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+mn-ea"/>
              </a:rPr>
              <a:t>6.5</a:t>
            </a:r>
            <a:r>
              <a:rPr lang="zh-CN" altLang="en-US" b="1" dirty="0" smtClean="0">
                <a:latin typeface="+mn-ea"/>
              </a:rPr>
              <a:t>：</a:t>
            </a:r>
            <a:r>
              <a:rPr lang="zh-CN" altLang="en-US" b="1" dirty="0">
                <a:latin typeface="+mn-ea"/>
              </a:rPr>
              <a:t>机械手取料示教流程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流水线取料位</a:t>
            </a:r>
            <a:r>
              <a:rPr lang="en-US" altLang="zh-CN" b="1" dirty="0">
                <a:latin typeface="+mn-ea"/>
              </a:rPr>
              <a:t>) </a:t>
            </a:r>
            <a:r>
              <a:rPr lang="zh-CN" altLang="en-US" b="1" dirty="0">
                <a:latin typeface="+mn-ea"/>
              </a:rPr>
              <a:t>：</a:t>
            </a:r>
            <a:endParaRPr lang="en-US" altLang="zh-CN" b="1" dirty="0"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909" y="2201575"/>
            <a:ext cx="48158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+mn-ea"/>
              </a:rPr>
              <a:t>1.</a:t>
            </a:r>
            <a:r>
              <a:rPr lang="zh-CN" altLang="en-US" sz="1400" dirty="0" smtClean="0">
                <a:latin typeface="+mn-ea"/>
              </a:rPr>
              <a:t>打开</a:t>
            </a:r>
            <a:r>
              <a:rPr lang="zh-CN" altLang="en-US" sz="1400" u="sng" dirty="0" smtClean="0">
                <a:solidFill>
                  <a:srgbClr val="00B0F0"/>
                </a:solidFill>
                <a:latin typeface="+mn-ea"/>
              </a:rPr>
              <a:t>机械手管理器</a:t>
            </a:r>
            <a:r>
              <a:rPr lang="zh-CN" altLang="en-US" sz="1400" dirty="0" smtClean="0">
                <a:solidFill>
                  <a:schemeClr val="tx1"/>
                </a:solidFill>
                <a:latin typeface="+mn-ea"/>
              </a:rPr>
              <a:t>，步进示教，执行运动，</a:t>
            </a:r>
            <a:r>
              <a:rPr lang="en-US" altLang="zh-CN" sz="1400" b="1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LinZ</a:t>
            </a:r>
            <a:r>
              <a:rPr lang="zh-CN" altLang="en-US" sz="1400" b="1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改成</a:t>
            </a:r>
            <a:r>
              <a:rPr lang="en-US" altLang="zh-CN" sz="1400" b="1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-5</a:t>
            </a:r>
            <a:r>
              <a:rPr lang="zh-CN" altLang="en-US" sz="1400" dirty="0" smtClean="0">
                <a:solidFill>
                  <a:schemeClr val="tx1"/>
                </a:solidFill>
                <a:latin typeface="+mn-ea"/>
              </a:rPr>
              <a:t>，</a:t>
            </a:r>
            <a:endParaRPr lang="zh-CN" altLang="en-US" sz="1400" dirty="0" smtClean="0">
              <a:solidFill>
                <a:schemeClr val="tx1"/>
              </a:solidFill>
              <a:latin typeface="+mn-ea"/>
            </a:endParaRPr>
          </a:p>
          <a:p>
            <a:r>
              <a:rPr lang="zh-CN" altLang="en-US" sz="1400" dirty="0" smtClean="0">
                <a:solidFill>
                  <a:schemeClr val="tx1"/>
                </a:solidFill>
                <a:latin typeface="+mn-ea"/>
              </a:rPr>
              <a:t>目标选择流水线取料位，点击执行；</a:t>
            </a:r>
            <a:endParaRPr lang="zh-CN" altLang="en-US" sz="14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72721" y="2182664"/>
            <a:ext cx="31165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+mn-ea"/>
              </a:rPr>
              <a:t>2.</a:t>
            </a:r>
            <a:r>
              <a:rPr lang="zh-CN" altLang="en-US" sz="1400" dirty="0" smtClean="0">
                <a:latin typeface="+mn-ea"/>
              </a:rPr>
              <a:t>机械手运行完取料位后，将</a:t>
            </a:r>
            <a:r>
              <a:rPr lang="en-US" altLang="zh-CN" sz="1400" dirty="0" smtClean="0">
                <a:latin typeface="+mn-ea"/>
              </a:rPr>
              <a:t>Z</a:t>
            </a:r>
            <a:r>
              <a:rPr lang="zh-CN" altLang="en-US" sz="1400" dirty="0" smtClean="0">
                <a:latin typeface="+mn-ea"/>
              </a:rPr>
              <a:t>轴</a:t>
            </a:r>
            <a:r>
              <a:rPr lang="zh-CN" altLang="en-US" sz="1400" dirty="0" smtClean="0">
                <a:latin typeface="+mn-ea"/>
              </a:rPr>
              <a:t>上移</a:t>
            </a:r>
            <a:endParaRPr lang="zh-CN" altLang="en-US" sz="1400" dirty="0" smtClean="0">
              <a:latin typeface="+mn-ea"/>
            </a:endParaRPr>
          </a:p>
          <a:p>
            <a:r>
              <a:rPr lang="en-US" altLang="zh-CN" sz="1400" dirty="0" smtClean="0">
                <a:latin typeface="+mn-ea"/>
              </a:rPr>
              <a:t>20mm</a:t>
            </a:r>
            <a:r>
              <a:rPr lang="zh-CN" altLang="en-US" sz="1400" dirty="0" smtClean="0">
                <a:latin typeface="+mn-ea"/>
              </a:rPr>
              <a:t>；步骤</a:t>
            </a:r>
            <a:r>
              <a:rPr lang="zh-CN" altLang="en-US" sz="1400" dirty="0" smtClean="0">
                <a:latin typeface="+mn-ea"/>
              </a:rPr>
              <a:t>如下图</a:t>
            </a:r>
            <a:endParaRPr lang="zh-CN" altLang="en-US" sz="1400" dirty="0" smtClean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496" y="476672"/>
            <a:ext cx="393700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六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机械手点位示教操作流程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2777490"/>
            <a:ext cx="4076065" cy="27933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755" y="2777490"/>
            <a:ext cx="4333240" cy="2793365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8315960" y="4433570"/>
            <a:ext cx="575945" cy="216535"/>
          </a:xfrm>
          <a:prstGeom prst="ellipse">
            <a:avLst/>
          </a:prstGeom>
          <a:noFill/>
          <a:ln>
            <a:gradFill>
              <a:gsLst>
                <a:gs pos="0">
                  <a:srgbClr val="14CD68"/>
                </a:gs>
                <a:gs pos="100000">
                  <a:srgbClr val="035C7D"/>
                </a:gs>
              </a:gsLst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7811770" y="4361815"/>
            <a:ext cx="432435" cy="215900"/>
          </a:xfrm>
          <a:prstGeom prst="roundRect">
            <a:avLst/>
          </a:prstGeom>
          <a:noFill/>
          <a:ln>
            <a:gradFill>
              <a:gsLst>
                <a:gs pos="0">
                  <a:srgbClr val="14CD68"/>
                </a:gs>
                <a:gs pos="100000">
                  <a:srgbClr val="035C7D"/>
                </a:gs>
              </a:gsLst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6346190" y="3366135"/>
            <a:ext cx="360045" cy="360045"/>
          </a:xfrm>
          <a:prstGeom prst="roundRect">
            <a:avLst/>
          </a:prstGeom>
          <a:noFill/>
          <a:ln>
            <a:gradFill>
              <a:gsLst>
                <a:gs pos="0">
                  <a:srgbClr val="14CD68"/>
                </a:gs>
                <a:gs pos="100000">
                  <a:srgbClr val="035C7D"/>
                </a:gs>
              </a:gsLst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15960" y="4157980"/>
            <a:ext cx="26035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1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7797165" y="4141470"/>
            <a:ext cx="26035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2</a:t>
            </a:r>
            <a:endParaRPr lang="en-US" altLang="zh-CN" sz="1200"/>
          </a:p>
        </p:txBody>
      </p:sp>
      <p:sp>
        <p:nvSpPr>
          <p:cNvPr id="17" name="文本框 16"/>
          <p:cNvSpPr txBox="1"/>
          <p:nvPr/>
        </p:nvSpPr>
        <p:spPr>
          <a:xfrm>
            <a:off x="6146800" y="3234055"/>
            <a:ext cx="26035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3</a:t>
            </a:r>
            <a:endParaRPr lang="en-US" altLang="zh-CN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35496" y="899175"/>
            <a:ext cx="4784090" cy="36830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b="1" dirty="0" smtClean="0">
                <a:latin typeface="+mn-ea"/>
              </a:rPr>
              <a:t>6.6</a:t>
            </a:r>
            <a:r>
              <a:rPr lang="zh-CN" altLang="en-US" b="1" dirty="0" smtClean="0">
                <a:latin typeface="+mn-ea"/>
              </a:rPr>
              <a:t>：</a:t>
            </a:r>
            <a:r>
              <a:rPr lang="zh-CN" altLang="en-US" b="1" dirty="0">
                <a:latin typeface="+mn-ea"/>
              </a:rPr>
              <a:t>机械手取料示教流程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流水线取料位</a:t>
            </a:r>
            <a:r>
              <a:rPr lang="en-US" altLang="zh-CN" b="1" dirty="0">
                <a:latin typeface="+mn-ea"/>
              </a:rPr>
              <a:t>) </a:t>
            </a:r>
            <a:r>
              <a:rPr lang="zh-CN" altLang="en-US" b="1" dirty="0">
                <a:latin typeface="+mn-ea"/>
              </a:rPr>
              <a:t>：</a:t>
            </a:r>
            <a:endParaRPr lang="en-US" altLang="zh-CN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496" y="476672"/>
            <a:ext cx="3937000" cy="46037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六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机械手点位示教操作流程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22420"/>
          <a:stretch>
            <a:fillRect/>
          </a:stretch>
        </p:blipFill>
        <p:spPr>
          <a:xfrm>
            <a:off x="2915920" y="1988820"/>
            <a:ext cx="5224780" cy="413893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4365625" y="2439670"/>
            <a:ext cx="144145" cy="144145"/>
          </a:xfrm>
          <a:prstGeom prst="roundRect">
            <a:avLst/>
          </a:prstGeom>
          <a:noFill/>
          <a:ln>
            <a:gradFill>
              <a:gsLst>
                <a:gs pos="0">
                  <a:srgbClr val="14CD68"/>
                </a:gs>
                <a:gs pos="100000">
                  <a:srgbClr val="035C7D"/>
                </a:gs>
              </a:gsLst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49555" y="1523365"/>
            <a:ext cx="511683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打开</a:t>
            </a:r>
            <a:r>
              <a:rPr lang="en-US" altLang="zh-CN" sz="1400" b="1" u="sng"/>
              <a:t>I/O</a:t>
            </a:r>
            <a:r>
              <a:rPr lang="zh-CN" altLang="en-US" sz="1400" b="1" u="sng"/>
              <a:t>监控表</a:t>
            </a:r>
            <a:r>
              <a:rPr lang="zh-CN" altLang="en-US" sz="1400"/>
              <a:t>，执行</a:t>
            </a:r>
            <a:r>
              <a:rPr lang="en-US" altLang="zh-CN" sz="1400"/>
              <a:t>R_XIAYA</a:t>
            </a:r>
            <a:r>
              <a:rPr lang="zh-CN" altLang="en-US" sz="1400"/>
              <a:t>信号，关闭</a:t>
            </a:r>
            <a:r>
              <a:rPr lang="en-US" altLang="zh-CN" sz="1400"/>
              <a:t>R_SHANGSHENG </a:t>
            </a:r>
            <a:r>
              <a:rPr lang="zh-CN" altLang="en-US" sz="1400"/>
              <a:t>信号；</a:t>
            </a:r>
            <a:endParaRPr lang="zh-CN" altLang="en-US" sz="1400"/>
          </a:p>
        </p:txBody>
      </p:sp>
      <p:cxnSp>
        <p:nvCxnSpPr>
          <p:cNvPr id="8" name="直接箭头连接符 7"/>
          <p:cNvCxnSpPr>
            <a:endCxn id="6" idx="1"/>
          </p:cNvCxnSpPr>
          <p:nvPr/>
        </p:nvCxnSpPr>
        <p:spPr>
          <a:xfrm>
            <a:off x="1113155" y="1778000"/>
            <a:ext cx="3252470" cy="73406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35496" y="899175"/>
            <a:ext cx="4784090" cy="36830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b="1" dirty="0" smtClean="0">
                <a:latin typeface="+mn-ea"/>
              </a:rPr>
              <a:t>6.7</a:t>
            </a:r>
            <a:r>
              <a:rPr lang="zh-CN" altLang="en-US" b="1" dirty="0" smtClean="0">
                <a:latin typeface="+mn-ea"/>
              </a:rPr>
              <a:t>：</a:t>
            </a:r>
            <a:r>
              <a:rPr lang="zh-CN" altLang="en-US" b="1" dirty="0">
                <a:latin typeface="+mn-ea"/>
              </a:rPr>
              <a:t>机械手取料示教流程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流水线取料位</a:t>
            </a:r>
            <a:r>
              <a:rPr lang="en-US" altLang="zh-CN" b="1" dirty="0">
                <a:latin typeface="+mn-ea"/>
              </a:rPr>
              <a:t>) </a:t>
            </a:r>
            <a:r>
              <a:rPr lang="zh-CN" altLang="en-US" b="1" dirty="0">
                <a:latin typeface="+mn-ea"/>
              </a:rPr>
              <a:t>：</a:t>
            </a:r>
            <a:endParaRPr lang="en-US" altLang="zh-CN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496" y="476672"/>
            <a:ext cx="3937000" cy="46037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六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机械手点位示教操作流程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1785" y="1473200"/>
            <a:ext cx="839279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通过操控机械手进行示教取料位，取料位基准点</a:t>
            </a:r>
            <a:r>
              <a:rPr lang="zh-CN" altLang="en-US" sz="1400" b="1" u="sng">
                <a:solidFill>
                  <a:srgbClr val="00B0F0"/>
                </a:solidFill>
              </a:rPr>
              <a:t>以</a:t>
            </a:r>
            <a:r>
              <a:rPr lang="en-US" altLang="zh-CN" sz="1400" b="1" u="sng">
                <a:solidFill>
                  <a:srgbClr val="00B0F0"/>
                </a:solidFill>
              </a:rPr>
              <a:t>Dock</a:t>
            </a:r>
            <a:r>
              <a:rPr lang="zh-CN" altLang="en-US" sz="1400" b="1" u="sng">
                <a:solidFill>
                  <a:srgbClr val="00B0F0"/>
                </a:solidFill>
              </a:rPr>
              <a:t>侧边与夹爪面板侧边平行且垂直</a:t>
            </a:r>
            <a:r>
              <a:rPr lang="zh-CN" altLang="en-US" sz="1400"/>
              <a:t>；（如下图</a:t>
            </a:r>
            <a:r>
              <a:rPr lang="zh-CN" altLang="en-US" sz="1400"/>
              <a:t>示意）</a:t>
            </a:r>
            <a:endParaRPr lang="zh-CN" altLang="en-US" sz="1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970" y="1916430"/>
            <a:ext cx="4863465" cy="32448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471160" y="3485515"/>
            <a:ext cx="2849880" cy="1168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zh-CN" altLang="en-US" sz="1400"/>
              <a:t>步进</a:t>
            </a:r>
            <a:r>
              <a:rPr lang="zh-CN" altLang="en-US" sz="1400"/>
              <a:t>距离：</a:t>
            </a:r>
            <a:endParaRPr lang="zh-CN" altLang="en-US" sz="1400"/>
          </a:p>
          <a:p>
            <a:pPr algn="l"/>
            <a:r>
              <a:rPr lang="zh-CN" altLang="en-US" sz="1400"/>
              <a:t>连续：长按一直运动，松开</a:t>
            </a:r>
            <a:r>
              <a:rPr lang="zh-CN" altLang="en-US" sz="1400"/>
              <a:t>停止；</a:t>
            </a:r>
            <a:endParaRPr lang="zh-CN" altLang="en-US" sz="1400"/>
          </a:p>
          <a:p>
            <a:pPr algn="l"/>
            <a:r>
              <a:rPr lang="zh-CN" altLang="en-US" sz="1400"/>
              <a:t>长距离：点击</a:t>
            </a:r>
            <a:r>
              <a:rPr lang="zh-CN" altLang="en-US" sz="1400"/>
              <a:t>一下执行</a:t>
            </a:r>
            <a:r>
              <a:rPr lang="en-US" altLang="zh-CN" sz="1400"/>
              <a:t>10mm</a:t>
            </a:r>
            <a:r>
              <a:rPr lang="zh-CN" altLang="en-US" sz="1400"/>
              <a:t>；</a:t>
            </a:r>
            <a:endParaRPr lang="zh-CN" altLang="en-US" sz="1400"/>
          </a:p>
          <a:p>
            <a:pPr algn="l"/>
            <a:r>
              <a:rPr lang="zh-CN" altLang="en-US" sz="1400"/>
              <a:t>中距离：点击一下执行</a:t>
            </a:r>
            <a:r>
              <a:rPr lang="en-US" altLang="zh-CN" sz="1400"/>
              <a:t>1mm</a:t>
            </a:r>
            <a:r>
              <a:rPr lang="zh-CN" altLang="en-US" sz="1400"/>
              <a:t>；</a:t>
            </a:r>
            <a:endParaRPr lang="zh-CN" altLang="en-US" sz="1400"/>
          </a:p>
          <a:p>
            <a:pPr algn="l"/>
            <a:r>
              <a:rPr lang="zh-CN" altLang="en-US" sz="1400">
                <a:sym typeface="+mn-ea"/>
              </a:rPr>
              <a:t>短距离：点击一下执行</a:t>
            </a:r>
            <a:r>
              <a:rPr lang="en-US" altLang="zh-CN" sz="1400">
                <a:sym typeface="+mn-ea"/>
              </a:rPr>
              <a:t>0.1mm</a:t>
            </a:r>
            <a:r>
              <a:rPr lang="zh-CN" altLang="en-US" sz="1400">
                <a:sym typeface="+mn-ea"/>
              </a:rPr>
              <a:t>；</a:t>
            </a:r>
            <a:endParaRPr lang="zh-CN" altLang="en-US" sz="1400"/>
          </a:p>
        </p:txBody>
      </p:sp>
      <p:sp>
        <p:nvSpPr>
          <p:cNvPr id="10" name="文本框 9"/>
          <p:cNvSpPr txBox="1"/>
          <p:nvPr/>
        </p:nvSpPr>
        <p:spPr>
          <a:xfrm>
            <a:off x="1336675" y="5301615"/>
            <a:ext cx="3064510" cy="30670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p>
            <a:r>
              <a:rPr lang="zh-CN" altLang="en-US" sz="1400"/>
              <a:t>确认当前位置</a:t>
            </a:r>
            <a:r>
              <a:rPr lang="en-US" altLang="zh-CN" sz="1400"/>
              <a:t>OK</a:t>
            </a:r>
            <a:r>
              <a:rPr lang="zh-CN" altLang="en-US" sz="1400"/>
              <a:t>后进行</a:t>
            </a:r>
            <a:r>
              <a:rPr lang="zh-CN" altLang="en-US" sz="1400" b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示教</a:t>
            </a:r>
            <a:r>
              <a:rPr lang="zh-CN" altLang="en-US" sz="1400"/>
              <a:t>并</a:t>
            </a:r>
            <a:r>
              <a:rPr lang="zh-CN" altLang="en-US" sz="1400" b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保存</a:t>
            </a:r>
            <a:r>
              <a:rPr lang="zh-CN" altLang="en-US" sz="1400"/>
              <a:t>；</a:t>
            </a:r>
            <a:endParaRPr lang="zh-CN" altLang="en-US" sz="1400"/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3491865" y="4941570"/>
            <a:ext cx="431800" cy="3600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827405" y="2061210"/>
            <a:ext cx="3108325" cy="32391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827420"/>
            <a:ext cx="501396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+mn-ea"/>
              </a:rPr>
              <a:t>6.8</a:t>
            </a:r>
            <a:r>
              <a:rPr lang="zh-CN" altLang="en-US" b="1" dirty="0" smtClean="0">
                <a:latin typeface="+mn-ea"/>
              </a:rPr>
              <a:t>：</a:t>
            </a:r>
            <a:r>
              <a:rPr lang="zh-CN" altLang="en-US" b="1" dirty="0">
                <a:latin typeface="+mn-ea"/>
              </a:rPr>
              <a:t>机械手取料示教流程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流水线取放料位</a:t>
            </a:r>
            <a:r>
              <a:rPr lang="en-US" altLang="zh-CN" b="1" dirty="0">
                <a:latin typeface="+mn-ea"/>
              </a:rPr>
              <a:t>) </a:t>
            </a:r>
            <a:r>
              <a:rPr lang="zh-CN" altLang="en-US" b="1" dirty="0">
                <a:latin typeface="+mn-ea"/>
              </a:rPr>
              <a:t>：</a:t>
            </a:r>
            <a:endParaRPr lang="en-US" altLang="zh-CN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496" y="476672"/>
            <a:ext cx="393700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六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机械手点位示教操作流程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6205" y="1676400"/>
            <a:ext cx="441134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1.</a:t>
            </a:r>
            <a:r>
              <a:rPr lang="zh-CN" altLang="en-US" sz="1200"/>
              <a:t>将物料以</a:t>
            </a:r>
            <a:r>
              <a:rPr lang="en-US" altLang="zh-CN" sz="1200"/>
              <a:t>E75</a:t>
            </a:r>
            <a:r>
              <a:rPr lang="zh-CN" altLang="en-US" sz="1200"/>
              <a:t>朝后，</a:t>
            </a:r>
            <a:r>
              <a:rPr lang="en-US" altLang="zh-CN" sz="1200"/>
              <a:t>display</a:t>
            </a:r>
            <a:r>
              <a:rPr lang="zh-CN" altLang="en-US" sz="1200"/>
              <a:t>朝上，放入流水线的上料位中；</a:t>
            </a:r>
            <a:endParaRPr lang="zh-CN" altLang="en-US" sz="1200"/>
          </a:p>
          <a:p>
            <a:r>
              <a:rPr lang="zh-CN" altLang="en-US" sz="1200"/>
              <a:t>（图一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①</a:t>
            </a:r>
            <a:r>
              <a:rPr lang="zh-CN" altLang="en-US" sz="1200"/>
              <a:t>所示）</a:t>
            </a:r>
            <a:endParaRPr lang="zh-CN" altLang="en-US" sz="1200"/>
          </a:p>
          <a:p>
            <a:r>
              <a:rPr lang="en-US" altLang="zh-CN" sz="1200"/>
              <a:t>2.</a:t>
            </a:r>
            <a:r>
              <a:rPr lang="zh-CN" altLang="en-US" sz="1200"/>
              <a:t>打开触摸屏</a:t>
            </a:r>
            <a:r>
              <a:rPr lang="en-US" altLang="zh-CN" sz="1200"/>
              <a:t>---</a:t>
            </a:r>
            <a:r>
              <a:rPr lang="zh-CN" altLang="en-US" sz="1200"/>
              <a:t>工位选择</a:t>
            </a:r>
            <a:r>
              <a:rPr lang="en-US" altLang="zh-CN" sz="1200"/>
              <a:t>---</a:t>
            </a:r>
            <a:r>
              <a:rPr lang="zh-CN" altLang="en-US" sz="1200"/>
              <a:t>输入密码：</a:t>
            </a:r>
            <a:r>
              <a:rPr lang="en-US" altLang="zh-CN" sz="1200"/>
              <a:t>123456---</a:t>
            </a:r>
            <a:r>
              <a:rPr lang="zh-CN" altLang="en-US" sz="1200"/>
              <a:t>流水线上下料</a:t>
            </a:r>
            <a:endParaRPr lang="zh-CN" altLang="en-US" sz="1200"/>
          </a:p>
          <a:p>
            <a:r>
              <a:rPr lang="en-US" altLang="zh-CN" sz="1200"/>
              <a:t>---</a:t>
            </a:r>
            <a:r>
              <a:rPr lang="zh-CN" altLang="en-US" sz="1200"/>
              <a:t>气缸操作</a:t>
            </a:r>
            <a:r>
              <a:rPr lang="en-US" altLang="zh-CN" sz="1200"/>
              <a:t>---</a:t>
            </a:r>
            <a:r>
              <a:rPr lang="zh-CN" altLang="en-US" sz="1200"/>
              <a:t>顶升上料气缸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②</a:t>
            </a:r>
            <a:r>
              <a:rPr lang="en-US" altLang="zh-CN" sz="1200"/>
              <a:t>---</a:t>
            </a:r>
            <a:r>
              <a:rPr lang="zh-CN" altLang="en-US" sz="1200"/>
              <a:t>推紧前后气缸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③</a:t>
            </a:r>
            <a:r>
              <a:rPr lang="zh-CN" altLang="en-US" sz="1200"/>
              <a:t>；（图二所示）</a:t>
            </a:r>
            <a:endParaRPr lang="zh-CN" altLang="en-US" sz="1200"/>
          </a:p>
          <a:p>
            <a:r>
              <a:rPr lang="en-US" altLang="zh-CN" sz="1200"/>
              <a:t>3.</a:t>
            </a:r>
            <a:r>
              <a:rPr lang="zh-CN" altLang="en-US" sz="1200"/>
              <a:t>打开机械手软件，执行</a:t>
            </a:r>
            <a:r>
              <a:rPr lang="en-US" altLang="zh-CN" sz="1200"/>
              <a:t>PickLine_R</a:t>
            </a:r>
            <a:r>
              <a:rPr lang="zh-CN" altLang="en-US" sz="1200"/>
              <a:t>点位</a:t>
            </a:r>
            <a:r>
              <a:rPr lang="en-US" altLang="zh-CN" sz="1200"/>
              <a:t>---Z</a:t>
            </a:r>
            <a:r>
              <a:rPr lang="zh-CN" altLang="en-US" sz="1200"/>
              <a:t>轴上升</a:t>
            </a:r>
            <a:r>
              <a:rPr lang="en-US" altLang="zh-CN" sz="1200"/>
              <a:t>20mm---</a:t>
            </a:r>
            <a:r>
              <a:rPr lang="zh-CN" altLang="en-US" sz="1200"/>
              <a:t>下压</a:t>
            </a:r>
            <a:endParaRPr lang="zh-CN" altLang="en-US" sz="1200"/>
          </a:p>
          <a:p>
            <a:r>
              <a:rPr lang="zh-CN" altLang="en-US" sz="1200"/>
              <a:t>右夹爪气缸</a:t>
            </a:r>
            <a:r>
              <a:rPr lang="en-US" altLang="zh-CN" sz="1200"/>
              <a:t>---</a:t>
            </a:r>
            <a:r>
              <a:rPr lang="zh-CN" altLang="en-US" sz="1200"/>
              <a:t>移动机械手至右夹爪取料；（如图三所示）</a:t>
            </a:r>
            <a:endParaRPr lang="zh-CN" altLang="en-US" sz="12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0335" y="1628775"/>
            <a:ext cx="3233420" cy="19634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73850" y="1330960"/>
            <a:ext cx="6400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>
                <a:sym typeface="+mn-ea"/>
              </a:rPr>
              <a:t>图一：</a:t>
            </a:r>
            <a:endParaRPr lang="zh-CN" altLang="en-US" sz="1200"/>
          </a:p>
        </p:txBody>
      </p:sp>
      <p:sp>
        <p:nvSpPr>
          <p:cNvPr id="8" name="文本框 7"/>
          <p:cNvSpPr txBox="1"/>
          <p:nvPr/>
        </p:nvSpPr>
        <p:spPr>
          <a:xfrm>
            <a:off x="7005955" y="2921000"/>
            <a:ext cx="3359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sym typeface="+mn-ea"/>
              </a:rPr>
              <a:t>①</a:t>
            </a:r>
            <a:endParaRPr lang="zh-CN" altLang="en-US" sz="12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30" y="4076065"/>
            <a:ext cx="3274060" cy="19177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631950" y="3767455"/>
            <a:ext cx="6400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/>
              <a:t>图二：</a:t>
            </a:r>
            <a:endParaRPr lang="zh-CN" altLang="en-US" sz="1200"/>
          </a:p>
        </p:txBody>
      </p:sp>
      <p:sp>
        <p:nvSpPr>
          <p:cNvPr id="13" name="文本框 12"/>
          <p:cNvSpPr txBox="1"/>
          <p:nvPr/>
        </p:nvSpPr>
        <p:spPr>
          <a:xfrm>
            <a:off x="298450" y="4977130"/>
            <a:ext cx="3359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sym typeface="+mn-ea"/>
              </a:rPr>
              <a:t>②</a:t>
            </a:r>
            <a:endParaRPr lang="zh-CN" altLang="en-US" sz="1200"/>
          </a:p>
        </p:txBody>
      </p:sp>
      <p:sp>
        <p:nvSpPr>
          <p:cNvPr id="14" name="文本框 13"/>
          <p:cNvSpPr txBox="1"/>
          <p:nvPr/>
        </p:nvSpPr>
        <p:spPr>
          <a:xfrm>
            <a:off x="1049020" y="4976495"/>
            <a:ext cx="3359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③</a:t>
            </a:r>
            <a:endParaRPr lang="zh-CN" altLang="en-US" sz="12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890" y="4004945"/>
            <a:ext cx="2308225" cy="225933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638290" y="3769995"/>
            <a:ext cx="6400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/>
              <a:t>图三：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827420"/>
            <a:ext cx="478409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+mn-ea"/>
              </a:rPr>
              <a:t>6.9</a:t>
            </a:r>
            <a:r>
              <a:rPr lang="zh-CN" altLang="en-US" b="1" dirty="0" smtClean="0">
                <a:latin typeface="+mn-ea"/>
              </a:rPr>
              <a:t>：</a:t>
            </a:r>
            <a:r>
              <a:rPr lang="zh-CN" altLang="en-US" b="1" dirty="0">
                <a:latin typeface="+mn-ea"/>
              </a:rPr>
              <a:t>机械手取料示教流程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流水线取料位</a:t>
            </a:r>
            <a:r>
              <a:rPr lang="en-US" altLang="zh-CN" b="1" dirty="0">
                <a:latin typeface="+mn-ea"/>
              </a:rPr>
              <a:t>) </a:t>
            </a:r>
            <a:r>
              <a:rPr lang="zh-CN" altLang="en-US" b="1" dirty="0">
                <a:latin typeface="+mn-ea"/>
              </a:rPr>
              <a:t>：</a:t>
            </a:r>
            <a:endParaRPr lang="en-US" altLang="zh-CN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496" y="476672"/>
            <a:ext cx="393700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六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机械手点位示教操作流程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815" y="1859280"/>
            <a:ext cx="33953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4.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同时选择</a:t>
            </a:r>
            <a:r>
              <a:rPr lang="zh-CN" altLang="en-US" sz="1200"/>
              <a:t>示教</a:t>
            </a:r>
            <a:r>
              <a:rPr lang="en-US" altLang="zh-CN" sz="1200"/>
              <a:t>PickLine_R</a:t>
            </a:r>
            <a:r>
              <a:rPr lang="zh-CN" altLang="en-US" sz="1200"/>
              <a:t>点位和</a:t>
            </a:r>
            <a:r>
              <a:rPr lang="en-US" altLang="zh-CN" sz="1200"/>
              <a:t>PutLine_L</a:t>
            </a:r>
            <a:r>
              <a:rPr lang="zh-CN" altLang="en-US" sz="1200"/>
              <a:t>点位；</a:t>
            </a:r>
            <a:endParaRPr lang="zh-CN" altLang="en-US" sz="1200"/>
          </a:p>
          <a:p>
            <a:r>
              <a:rPr lang="zh-CN" altLang="en-US" sz="1200"/>
              <a:t>（如图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①</a:t>
            </a:r>
            <a:r>
              <a:rPr lang="zh-CN" altLang="en-US" sz="1200"/>
              <a:t>所示）</a:t>
            </a:r>
            <a:endParaRPr lang="zh-CN" altLang="en-US" sz="12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6100" y="1917700"/>
            <a:ext cx="4213860" cy="30226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387590" y="4134485"/>
            <a:ext cx="3359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①</a:t>
            </a:r>
            <a:endParaRPr lang="zh-CN" altLang="en-US" sz="12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585470" y="2041525"/>
            <a:ext cx="6506845" cy="23952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95" y="5012690"/>
            <a:ext cx="7286625" cy="107632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1915" y="2467610"/>
            <a:ext cx="75628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5.</a:t>
            </a:r>
            <a:r>
              <a:rPr lang="zh-CN" altLang="en-US" sz="1200"/>
              <a:t>存档；</a:t>
            </a:r>
            <a:endParaRPr lang="zh-CN" altLang="en-US" sz="1200"/>
          </a:p>
        </p:txBody>
      </p:sp>
      <p:cxnSp>
        <p:nvCxnSpPr>
          <p:cNvPr id="19" name="直接箭头连接符 18"/>
          <p:cNvCxnSpPr>
            <a:stCxn id="18" idx="2"/>
          </p:cNvCxnSpPr>
          <p:nvPr/>
        </p:nvCxnSpPr>
        <p:spPr>
          <a:xfrm>
            <a:off x="460375" y="2743200"/>
            <a:ext cx="1591310" cy="27736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827420"/>
            <a:ext cx="294513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+mn-ea"/>
              </a:rPr>
              <a:t>6.2.1</a:t>
            </a:r>
            <a:r>
              <a:rPr lang="zh-CN" altLang="en-US" b="1" dirty="0" smtClean="0">
                <a:latin typeface="+mn-ea"/>
              </a:rPr>
              <a:t>：示教治具放料位</a:t>
            </a:r>
            <a:r>
              <a:rPr lang="en-US" altLang="zh-CN" b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：</a:t>
            </a:r>
            <a:endParaRPr lang="en-US" altLang="zh-CN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496" y="476672"/>
            <a:ext cx="393700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六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机械手点位示教操作流程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0025" y="1423035"/>
            <a:ext cx="462851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1200"/>
              <a:t>1.</a:t>
            </a:r>
            <a:r>
              <a:rPr lang="zh-CN" altLang="en-US" sz="1200"/>
              <a:t>从流水线取料位抓取物料后，执行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guodu4</a:t>
            </a:r>
            <a:r>
              <a:rPr lang="zh-CN" altLang="en-US" sz="1200">
                <a:effectLst/>
              </a:rPr>
              <a:t>点位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①</a:t>
            </a:r>
            <a:r>
              <a:rPr lang="zh-CN" altLang="en-US" sz="1200">
                <a:effectLst/>
              </a:rPr>
              <a:t>；（</a:t>
            </a:r>
            <a:r>
              <a:rPr lang="en-US" altLang="zh-CN" sz="1200">
                <a:effectLst/>
              </a:rPr>
              <a:t>LimZ:-5</a:t>
            </a:r>
            <a:r>
              <a:rPr lang="zh-CN" altLang="en-US" sz="1200">
                <a:effectLst/>
              </a:rPr>
              <a:t>）</a:t>
            </a:r>
            <a:endParaRPr lang="zh-CN" altLang="en-US" sz="1200">
              <a:effectLst/>
            </a:endParaRPr>
          </a:p>
          <a:p>
            <a:pPr algn="l"/>
            <a:r>
              <a:rPr lang="en-US" altLang="zh-CN" sz="1200">
                <a:effectLst/>
              </a:rPr>
              <a:t>2.</a:t>
            </a:r>
            <a:r>
              <a:rPr lang="zh-CN" altLang="en-US" sz="1200">
                <a:effectLst/>
              </a:rPr>
              <a:t>机械手执行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pallent1_1</a:t>
            </a:r>
            <a:r>
              <a:rPr lang="zh-CN" altLang="en-US" sz="1200">
                <a:effectLst/>
              </a:rPr>
              <a:t>点位</a:t>
            </a:r>
            <a:r>
              <a:rPr lang="zh-CN" altLang="en-US" sz="1200">
                <a:effectLst/>
                <a:sym typeface="+mn-ea"/>
              </a:rPr>
              <a:t>（</a:t>
            </a:r>
            <a:r>
              <a:rPr lang="en-US" altLang="zh-CN" sz="1200">
                <a:effectLst/>
                <a:sym typeface="+mn-ea"/>
              </a:rPr>
              <a:t>LimZ:-5</a:t>
            </a:r>
            <a:r>
              <a:rPr lang="zh-CN" altLang="en-US" sz="1200">
                <a:effectLst/>
                <a:sym typeface="+mn-ea"/>
              </a:rPr>
              <a:t>）</a:t>
            </a:r>
            <a:r>
              <a:rPr lang="zh-CN" altLang="en-US" sz="1200">
                <a:effectLst/>
              </a:rPr>
              <a:t>，当机械手走到治具上方后</a:t>
            </a:r>
            <a:endParaRPr lang="zh-CN" altLang="en-US" sz="1200">
              <a:effectLst/>
            </a:endParaRPr>
          </a:p>
          <a:p>
            <a:pPr algn="l"/>
            <a:r>
              <a:rPr lang="zh-CN" altLang="en-US" sz="1200">
                <a:effectLst/>
              </a:rPr>
              <a:t>及时按下空格键，停止当前执行指令；</a:t>
            </a:r>
            <a:endParaRPr lang="zh-CN" altLang="en-US" sz="1200">
              <a:effectLst/>
            </a:endParaRPr>
          </a:p>
          <a:p>
            <a:pPr algn="l"/>
            <a:r>
              <a:rPr lang="en-US" altLang="zh-CN" sz="1200">
                <a:effectLst/>
              </a:rPr>
              <a:t>3.</a:t>
            </a:r>
            <a:r>
              <a:rPr lang="zh-CN" altLang="en-US" sz="1200">
                <a:effectLst/>
              </a:rPr>
              <a:t>释放机械手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②</a:t>
            </a:r>
            <a:r>
              <a:rPr lang="zh-CN" altLang="en-US" sz="1200">
                <a:effectLst/>
              </a:rPr>
              <a:t>；</a:t>
            </a:r>
            <a:endParaRPr lang="zh-CN" altLang="en-US" sz="1200">
              <a:effectLst/>
            </a:endParaRPr>
          </a:p>
          <a:p>
            <a:pPr algn="l"/>
            <a:r>
              <a:rPr lang="en-US" altLang="zh-CN" sz="1200">
                <a:effectLst/>
              </a:rPr>
              <a:t>4.</a:t>
            </a:r>
            <a:r>
              <a:rPr lang="zh-CN" altLang="en-US" sz="1200">
                <a:effectLst/>
              </a:rPr>
              <a:t>确认右夹爪无障碍物后，下压右夹爪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③</a:t>
            </a:r>
            <a:r>
              <a:rPr lang="zh-CN" altLang="en-US" sz="1200">
                <a:effectLst/>
              </a:rPr>
              <a:t>；</a:t>
            </a:r>
            <a:endParaRPr lang="zh-CN" altLang="en-US" sz="1200">
              <a:effectLst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7945" y="1268730"/>
            <a:ext cx="3308350" cy="23469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242050" y="2906395"/>
            <a:ext cx="3359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①</a:t>
            </a:r>
            <a:endParaRPr lang="zh-CN" altLang="en-US" sz="12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" y="3932555"/>
            <a:ext cx="3331845" cy="230441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191385" y="4576445"/>
            <a:ext cx="3359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sym typeface="+mn-ea"/>
              </a:rPr>
              <a:t>②</a:t>
            </a:r>
            <a:endParaRPr lang="zh-CN" altLang="en-US" sz="12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945" y="3860800"/>
            <a:ext cx="3051810" cy="285559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907530" y="5393055"/>
            <a:ext cx="3359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sym typeface="+mn-ea"/>
              </a:rPr>
              <a:t>③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827420"/>
            <a:ext cx="294513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+mn-ea"/>
              </a:rPr>
              <a:t>6.2.2</a:t>
            </a:r>
            <a:r>
              <a:rPr lang="zh-CN" altLang="en-US" b="1" dirty="0" smtClean="0">
                <a:latin typeface="+mn-ea"/>
              </a:rPr>
              <a:t>：示教治具放料位</a:t>
            </a:r>
            <a:r>
              <a:rPr lang="en-US" altLang="zh-CN" b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：</a:t>
            </a:r>
            <a:endParaRPr lang="en-US" altLang="zh-CN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496" y="476672"/>
            <a:ext cx="393700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六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机械手点位示教操作流程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0335" y="1175385"/>
            <a:ext cx="2868295" cy="21107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88595" y="1534160"/>
            <a:ext cx="337756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1200"/>
              <a:t>5.</a:t>
            </a:r>
            <a:r>
              <a:rPr lang="zh-CN" altLang="en-US" sz="1200"/>
              <a:t>手动放入一个物料；</a:t>
            </a:r>
            <a:r>
              <a:rPr lang="zh-CN" altLang="en-US" sz="1200">
                <a:sym typeface="+mn-ea"/>
              </a:rPr>
              <a:t>（图一所示）</a:t>
            </a:r>
            <a:endParaRPr lang="zh-CN" altLang="en-US" sz="1200"/>
          </a:p>
          <a:p>
            <a:pPr algn="l"/>
            <a:r>
              <a:rPr lang="en-US" altLang="zh-CN" sz="1200"/>
              <a:t>6.</a:t>
            </a:r>
            <a:r>
              <a:rPr lang="zh-CN" altLang="en-US" sz="1200"/>
              <a:t>在机械手保持释放的状态下推动机械手</a:t>
            </a:r>
            <a:endParaRPr lang="zh-CN" altLang="en-US" sz="1200"/>
          </a:p>
          <a:p>
            <a:pPr algn="l"/>
            <a:r>
              <a:rPr lang="en-US" altLang="zh-CN" sz="1200"/>
              <a:t>Z</a:t>
            </a:r>
            <a:r>
              <a:rPr lang="zh-CN" altLang="en-US" sz="1200"/>
              <a:t>轴通过按下</a:t>
            </a:r>
            <a:r>
              <a:rPr lang="en-US" altLang="zh-CN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Z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轴释放键</a:t>
            </a:r>
            <a:r>
              <a:rPr lang="zh-CN" altLang="en-US" sz="1200"/>
              <a:t>进行升降；（图二所示）</a:t>
            </a:r>
            <a:endParaRPr lang="zh-CN" altLang="en-US" sz="1200"/>
          </a:p>
          <a:p>
            <a:pPr algn="l"/>
            <a:r>
              <a:rPr lang="en-US" altLang="zh-CN" sz="1200"/>
              <a:t>7.</a:t>
            </a:r>
            <a:r>
              <a:rPr lang="zh-CN" altLang="en-US" sz="1200"/>
              <a:t>通过推动机械手的方式，将机械手右夹爪送</a:t>
            </a:r>
            <a:endParaRPr lang="zh-CN" altLang="en-US" sz="1200"/>
          </a:p>
          <a:p>
            <a:pPr algn="l"/>
            <a:r>
              <a:rPr lang="zh-CN" altLang="en-US" sz="1200"/>
              <a:t>入治具</a:t>
            </a:r>
            <a:r>
              <a:rPr lang="en-US" altLang="zh-CN" sz="1200"/>
              <a:t>Holde</a:t>
            </a:r>
            <a:r>
              <a:rPr lang="zh-CN" altLang="en-US" sz="1200"/>
              <a:t>正上方；（图三所示）</a:t>
            </a:r>
            <a:endParaRPr lang="zh-CN" altLang="en-US" sz="1200"/>
          </a:p>
          <a:p>
            <a:pPr algn="l"/>
            <a:endParaRPr lang="zh-CN" altLang="en-US" sz="1200"/>
          </a:p>
        </p:txBody>
      </p:sp>
      <p:sp>
        <p:nvSpPr>
          <p:cNvPr id="13" name="文本框 12"/>
          <p:cNvSpPr txBox="1"/>
          <p:nvPr/>
        </p:nvSpPr>
        <p:spPr>
          <a:xfrm>
            <a:off x="6372225" y="911860"/>
            <a:ext cx="6400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/>
              <a:t>图一：</a:t>
            </a:r>
            <a:endParaRPr lang="zh-CN" altLang="en-US" sz="12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" y="3356610"/>
            <a:ext cx="3781425" cy="3096895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>
            <a:off x="1447800" y="2143125"/>
            <a:ext cx="1755775" cy="20059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786255" y="3106420"/>
            <a:ext cx="6400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/>
              <a:t>图二：</a:t>
            </a:r>
            <a:endParaRPr lang="zh-CN" altLang="en-US" sz="120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50" y="3737610"/>
            <a:ext cx="3006090" cy="271526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540500" y="3441065"/>
            <a:ext cx="6400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/>
              <a:t>图三：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827420"/>
            <a:ext cx="294513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+mn-ea"/>
              </a:rPr>
              <a:t>6.2.3</a:t>
            </a:r>
            <a:r>
              <a:rPr lang="zh-CN" altLang="en-US" b="1" dirty="0" smtClean="0">
                <a:latin typeface="+mn-ea"/>
              </a:rPr>
              <a:t>：示教治具放料位</a:t>
            </a:r>
            <a:r>
              <a:rPr lang="en-US" altLang="zh-CN" b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：</a:t>
            </a:r>
            <a:endParaRPr lang="en-US" altLang="zh-CN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496" y="476672"/>
            <a:ext cx="393700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六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机械手点位示教操作流程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345" y="1423035"/>
            <a:ext cx="3500755" cy="1383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en-US" altLang="zh-CN" sz="1200">
                <a:sym typeface="+mn-ea"/>
              </a:rPr>
              <a:t>8.</a:t>
            </a:r>
            <a:r>
              <a:rPr lang="zh-CN" altLang="en-US" sz="1200">
                <a:sym typeface="+mn-ea"/>
              </a:rPr>
              <a:t>锁定机械手，在中短距离的移动下使夹爪上</a:t>
            </a:r>
            <a:endParaRPr lang="zh-CN" altLang="en-US" sz="1200"/>
          </a:p>
          <a:p>
            <a:pPr algn="l"/>
            <a:r>
              <a:rPr lang="zh-CN" altLang="en-US" sz="1200">
                <a:sym typeface="+mn-ea"/>
              </a:rPr>
              <a:t>的物料与</a:t>
            </a:r>
            <a:r>
              <a:rPr lang="en-US" altLang="zh-CN" sz="1200">
                <a:sym typeface="+mn-ea"/>
              </a:rPr>
              <a:t>Holder</a:t>
            </a:r>
            <a:r>
              <a:rPr lang="zh-CN" altLang="en-US" sz="1200">
                <a:sym typeface="+mn-ea"/>
              </a:rPr>
              <a:t>中的物料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sym typeface="+mn-ea"/>
              </a:rPr>
              <a:t>完全重合</a:t>
            </a:r>
            <a:r>
              <a:rPr lang="zh-CN" altLang="en-US" sz="1200">
                <a:sym typeface="+mn-ea"/>
              </a:rPr>
              <a:t>；（图一所示）</a:t>
            </a:r>
            <a:endParaRPr lang="zh-CN" altLang="en-US" sz="1200"/>
          </a:p>
          <a:p>
            <a:r>
              <a:rPr lang="en-US" altLang="zh-CN" sz="1200"/>
              <a:t>9.</a:t>
            </a:r>
            <a:r>
              <a:rPr lang="zh-CN" altLang="en-US" sz="1200"/>
              <a:t>两个物料完全重合后，</a:t>
            </a:r>
            <a:r>
              <a:rPr lang="en-US" altLang="zh-CN" sz="1200"/>
              <a:t>Z</a:t>
            </a:r>
            <a:r>
              <a:rPr lang="zh-CN" altLang="en-US" sz="1200"/>
              <a:t>轴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长距离</a:t>
            </a:r>
            <a:r>
              <a:rPr lang="zh-CN" altLang="en-US" sz="1200"/>
              <a:t>抬起</a:t>
            </a:r>
            <a:r>
              <a:rPr lang="en-US" altLang="zh-CN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45mm</a:t>
            </a:r>
            <a:endParaRPr lang="en-US" altLang="zh-CN" sz="1200"/>
          </a:p>
          <a:p>
            <a:r>
              <a:rPr lang="zh-CN" altLang="en-US" sz="1200"/>
              <a:t>（图二所示）</a:t>
            </a:r>
            <a:endParaRPr lang="zh-CN" altLang="en-US" sz="1200"/>
          </a:p>
          <a:p>
            <a:r>
              <a:rPr lang="en-US" altLang="zh-CN" sz="1200"/>
              <a:t>10.</a:t>
            </a:r>
            <a:r>
              <a:rPr lang="zh-CN" altLang="en-US" sz="1200"/>
              <a:t>将治具</a:t>
            </a:r>
            <a:r>
              <a:rPr lang="en-US" altLang="zh-CN" sz="1200"/>
              <a:t>Holder</a:t>
            </a:r>
            <a:r>
              <a:rPr lang="zh-CN" altLang="en-US" sz="1200"/>
              <a:t>内的物料取走；</a:t>
            </a:r>
            <a:endParaRPr lang="zh-CN" altLang="en-US" sz="1200"/>
          </a:p>
          <a:p>
            <a:r>
              <a:rPr lang="en-US" altLang="zh-CN" sz="1200"/>
              <a:t>11.</a:t>
            </a:r>
            <a:r>
              <a:rPr lang="zh-CN" altLang="en-US" sz="1200"/>
              <a:t>连续距离下缓慢将右夹爪中的物料送入治具</a:t>
            </a:r>
            <a:endParaRPr lang="zh-CN" altLang="en-US" sz="1200"/>
          </a:p>
          <a:p>
            <a:r>
              <a:rPr lang="en-US" altLang="zh-CN" sz="1200"/>
              <a:t>Holder</a:t>
            </a:r>
            <a:r>
              <a:rPr lang="zh-CN" altLang="en-US" sz="1200"/>
              <a:t>内；</a:t>
            </a:r>
            <a:endParaRPr lang="zh-CN" altLang="en-US" sz="12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0200" y="1412240"/>
            <a:ext cx="4378960" cy="28390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97270" y="1179195"/>
            <a:ext cx="6400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/>
              <a:t>图一：</a:t>
            </a:r>
            <a:endParaRPr lang="zh-CN" altLang="en-US" sz="12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" y="3284855"/>
            <a:ext cx="3719195" cy="24225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20345" y="3014980"/>
            <a:ext cx="6400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/>
              <a:t>图二：</a:t>
            </a:r>
            <a:endParaRPr lang="zh-CN" altLang="en-US" sz="120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3152140" y="2031365"/>
            <a:ext cx="51435" cy="26936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2432050" y="2011045"/>
            <a:ext cx="988060" cy="27139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827420"/>
            <a:ext cx="294513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+mn-ea"/>
              </a:rPr>
              <a:t>6.2.4</a:t>
            </a:r>
            <a:r>
              <a:rPr lang="zh-CN" altLang="en-US" b="1" dirty="0" smtClean="0">
                <a:latin typeface="+mn-ea"/>
              </a:rPr>
              <a:t>：示教治具放料位</a:t>
            </a:r>
            <a:r>
              <a:rPr lang="en-US" altLang="zh-CN" b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：</a:t>
            </a:r>
            <a:endParaRPr lang="en-US" altLang="zh-CN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496" y="476672"/>
            <a:ext cx="393700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六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机械手点位示教操作流程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3225" y="1372235"/>
            <a:ext cx="304736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12.</a:t>
            </a:r>
            <a:r>
              <a:rPr lang="zh-CN" altLang="en-US" sz="1200"/>
              <a:t>上下移动</a:t>
            </a:r>
            <a:r>
              <a:rPr lang="en-US" altLang="zh-CN" sz="1200"/>
              <a:t>Z</a:t>
            </a:r>
            <a:r>
              <a:rPr lang="zh-CN" altLang="en-US" sz="1200"/>
              <a:t>轴，观察物料放入</a:t>
            </a:r>
            <a:r>
              <a:rPr lang="en-US" altLang="zh-CN" sz="1200"/>
              <a:t>Holderde</a:t>
            </a:r>
            <a:endParaRPr lang="en-US" altLang="zh-CN" sz="1200"/>
          </a:p>
          <a:p>
            <a:r>
              <a:rPr lang="zh-CN" altLang="en-US" sz="1200"/>
              <a:t>的动作是否顺畅；（如否则通过短距离</a:t>
            </a:r>
            <a:endParaRPr lang="zh-CN" altLang="en-US" sz="1200"/>
          </a:p>
          <a:p>
            <a:r>
              <a:rPr lang="zh-CN" altLang="en-US" sz="1200"/>
              <a:t>进行微调即可）</a:t>
            </a:r>
            <a:endParaRPr lang="zh-CN" altLang="en-US" sz="1200"/>
          </a:p>
          <a:p>
            <a:r>
              <a:rPr lang="en-US" altLang="zh-CN" sz="1200"/>
              <a:t>13.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示教治具</a:t>
            </a:r>
            <a:r>
              <a:rPr lang="en-US" altLang="zh-CN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1</a:t>
            </a:r>
            <a:r>
              <a:rPr lang="zh-CN" altLang="en-US" sz="1200"/>
              <a:t>放料位并保存；（如图所示）</a:t>
            </a:r>
            <a:endParaRPr lang="zh-CN" altLang="en-US" sz="12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1910" y="1372235"/>
            <a:ext cx="3979545" cy="2855595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>
          <a:xfrm>
            <a:off x="1072515" y="2183765"/>
            <a:ext cx="5731510" cy="14611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827420"/>
            <a:ext cx="294513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+mn-ea"/>
              </a:rPr>
              <a:t>6.2.5</a:t>
            </a:r>
            <a:r>
              <a:rPr lang="zh-CN" altLang="en-US" b="1" dirty="0" smtClean="0">
                <a:latin typeface="+mn-ea"/>
              </a:rPr>
              <a:t>：示教治具放料位</a:t>
            </a:r>
            <a:r>
              <a:rPr lang="en-US" altLang="zh-CN" b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：</a:t>
            </a:r>
            <a:endParaRPr lang="en-US" altLang="zh-CN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496" y="476672"/>
            <a:ext cx="393700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六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机械手点位示教操作流程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3385" y="1503680"/>
            <a:ext cx="3561080" cy="13836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/>
              <a:t>14.</a:t>
            </a:r>
            <a:r>
              <a:rPr lang="zh-CN" altLang="en-US" sz="1400"/>
              <a:t>在示教完治具</a:t>
            </a:r>
            <a:r>
              <a:rPr lang="en-US" altLang="zh-CN" sz="1400"/>
              <a:t>1</a:t>
            </a:r>
            <a:r>
              <a:rPr lang="zh-CN" altLang="en-US" sz="1400"/>
              <a:t>放料位后，右夹爪的物料</a:t>
            </a:r>
            <a:endParaRPr lang="zh-CN" altLang="en-US" sz="1400"/>
          </a:p>
          <a:p>
            <a:r>
              <a:rPr lang="zh-CN" altLang="en-US" sz="1400"/>
              <a:t>不能松开。需要完成所有治具的放料位以及</a:t>
            </a:r>
            <a:endParaRPr lang="zh-CN" altLang="en-US" sz="1400"/>
          </a:p>
          <a:p>
            <a:r>
              <a:rPr lang="zh-CN" altLang="en-US" sz="1400"/>
              <a:t>中转</a:t>
            </a:r>
            <a:r>
              <a:rPr lang="en-US" altLang="zh-CN" sz="1400"/>
              <a:t>buffer</a:t>
            </a:r>
            <a:r>
              <a:rPr lang="zh-CN" altLang="en-US" sz="1400"/>
              <a:t>位、</a:t>
            </a:r>
            <a:r>
              <a:rPr lang="en-US" altLang="zh-CN" sz="1400"/>
              <a:t>NG_1R</a:t>
            </a:r>
            <a:r>
              <a:rPr lang="zh-CN" altLang="en-US" sz="1400"/>
              <a:t>点位；</a:t>
            </a:r>
            <a:endParaRPr lang="zh-CN" altLang="en-US" sz="1400"/>
          </a:p>
          <a:p>
            <a:r>
              <a:rPr lang="en-US" altLang="zh-CN" sz="1400"/>
              <a:t>15.</a:t>
            </a:r>
            <a:r>
              <a:rPr lang="zh-CN" altLang="en-US" sz="1400"/>
              <a:t>完成示教后</a:t>
            </a:r>
            <a:r>
              <a:rPr lang="en-US" altLang="zh-CN" sz="1400"/>
              <a:t>Z</a:t>
            </a:r>
            <a:r>
              <a:rPr lang="zh-CN" altLang="en-US" sz="1400"/>
              <a:t>轴长距离抬起</a:t>
            </a:r>
            <a:r>
              <a:rPr lang="en-US" altLang="zh-CN" sz="1400"/>
              <a:t>30mm</a:t>
            </a:r>
            <a:r>
              <a:rPr lang="zh-CN" altLang="en-US" sz="1400"/>
              <a:t>；</a:t>
            </a:r>
            <a:endParaRPr lang="zh-CN" altLang="en-US" sz="1400"/>
          </a:p>
          <a:p>
            <a:r>
              <a:rPr lang="en-US" altLang="zh-CN" sz="1400"/>
              <a:t>16.</a:t>
            </a:r>
            <a:r>
              <a:rPr lang="zh-CN" altLang="en-US" sz="1400"/>
              <a:t>释放机械手，推移到</a:t>
            </a:r>
            <a:r>
              <a:rPr lang="en-US" altLang="zh-CN" sz="1400"/>
              <a:t>2</a:t>
            </a:r>
            <a:r>
              <a:rPr lang="zh-CN" altLang="en-US" sz="1400"/>
              <a:t>号治具中。从步骤</a:t>
            </a:r>
            <a:endParaRPr lang="zh-CN" altLang="en-US" sz="1400"/>
          </a:p>
          <a:p>
            <a:r>
              <a:rPr lang="en-US" altLang="zh-CN" sz="1400"/>
              <a:t>5</a:t>
            </a:r>
            <a:r>
              <a:rPr lang="zh-CN" altLang="en-US" sz="1400"/>
              <a:t>开始继续完成所有右夹爪的点位示教；</a:t>
            </a:r>
            <a:endParaRPr lang="zh-CN" altLang="en-US" sz="1400"/>
          </a:p>
        </p:txBody>
      </p:sp>
      <p:sp>
        <p:nvSpPr>
          <p:cNvPr id="3" name="文本框 2"/>
          <p:cNvSpPr txBox="1"/>
          <p:nvPr/>
        </p:nvSpPr>
        <p:spPr>
          <a:xfrm>
            <a:off x="464185" y="4567555"/>
            <a:ext cx="748284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/>
              <a:t>备注：右夹爪需要示教的点位有：</a:t>
            </a:r>
            <a:endParaRPr lang="zh-CN" altLang="en-US" sz="1200"/>
          </a:p>
          <a:p>
            <a:pPr algn="l"/>
            <a:r>
              <a:rPr lang="zh-CN" altLang="en-US" sz="1200"/>
              <a:t>PickLine_R、pallent1_1、pallent1_</a:t>
            </a:r>
            <a:r>
              <a:rPr lang="en-US" altLang="zh-CN" sz="1200"/>
              <a:t>2</a:t>
            </a:r>
            <a:r>
              <a:rPr lang="zh-CN" altLang="en-US" sz="1200"/>
              <a:t>、pallent1_</a:t>
            </a:r>
            <a:r>
              <a:rPr lang="en-US" altLang="zh-CN" sz="1200"/>
              <a:t>3</a:t>
            </a:r>
            <a:r>
              <a:rPr lang="zh-CN" altLang="en-US" sz="1200"/>
              <a:t>、pallent1_</a:t>
            </a:r>
            <a:r>
              <a:rPr lang="en-US" altLang="zh-CN" sz="1200"/>
              <a:t>4</a:t>
            </a:r>
            <a:r>
              <a:rPr lang="zh-CN" altLang="en-US" sz="1200"/>
              <a:t>、pallent</a:t>
            </a:r>
            <a:r>
              <a:rPr lang="en-US" altLang="zh-CN" sz="1200"/>
              <a:t>2</a:t>
            </a:r>
            <a:r>
              <a:rPr lang="zh-CN" altLang="en-US" sz="1200"/>
              <a:t>_1、pallent</a:t>
            </a:r>
            <a:r>
              <a:rPr lang="en-US" altLang="zh-CN" sz="1200"/>
              <a:t>2</a:t>
            </a:r>
            <a:r>
              <a:rPr lang="zh-CN" altLang="en-US" sz="1200"/>
              <a:t>_</a:t>
            </a:r>
            <a:r>
              <a:rPr lang="en-US" altLang="zh-CN" sz="1200"/>
              <a:t>2</a:t>
            </a:r>
            <a:r>
              <a:rPr lang="zh-CN" altLang="en-US" sz="1200"/>
              <a:t>、pallent</a:t>
            </a:r>
            <a:r>
              <a:rPr lang="en-US" altLang="zh-CN" sz="1200"/>
              <a:t>2</a:t>
            </a:r>
            <a:r>
              <a:rPr lang="zh-CN" altLang="en-US" sz="1200"/>
              <a:t>_</a:t>
            </a:r>
            <a:r>
              <a:rPr lang="en-US" altLang="zh-CN" sz="1200"/>
              <a:t>3</a:t>
            </a:r>
            <a:r>
              <a:rPr lang="zh-CN" altLang="en-US" sz="1200"/>
              <a:t>、pallent</a:t>
            </a:r>
            <a:r>
              <a:rPr lang="en-US" altLang="zh-CN" sz="1200"/>
              <a:t>2</a:t>
            </a:r>
            <a:r>
              <a:rPr lang="zh-CN" altLang="en-US" sz="1200"/>
              <a:t>_</a:t>
            </a:r>
            <a:r>
              <a:rPr lang="en-US" altLang="zh-CN" sz="1200"/>
              <a:t>4</a:t>
            </a:r>
            <a:r>
              <a:rPr lang="zh-CN" altLang="en-US" sz="1200"/>
              <a:t>、</a:t>
            </a:r>
            <a:endParaRPr lang="zh-CN" altLang="en-US" sz="1200"/>
          </a:p>
          <a:p>
            <a:pPr algn="l"/>
            <a:r>
              <a:rPr lang="zh-CN" altLang="en-US" sz="1200"/>
              <a:t>NG_1_R、ZZ_1_R、ZZ_</a:t>
            </a:r>
            <a:r>
              <a:rPr lang="en-US" altLang="zh-CN" sz="1200"/>
              <a:t>2</a:t>
            </a:r>
            <a:r>
              <a:rPr lang="zh-CN" altLang="en-US" sz="1200"/>
              <a:t>_R、NG_2_R；（共</a:t>
            </a:r>
            <a:r>
              <a:rPr lang="en-US" altLang="zh-CN" sz="1200"/>
              <a:t>13</a:t>
            </a:r>
            <a:r>
              <a:rPr lang="zh-CN" altLang="en-US" sz="1200"/>
              <a:t>个）</a:t>
            </a:r>
            <a:endParaRPr lang="zh-CN" altLang="en-US" sz="1200"/>
          </a:p>
          <a:p>
            <a:pPr algn="l"/>
            <a:r>
              <a:rPr lang="zh-CN" altLang="en-US" sz="1200">
                <a:sym typeface="+mn-ea"/>
              </a:rPr>
              <a:t>左夹爪需要示教的点位有：</a:t>
            </a:r>
            <a:endParaRPr lang="zh-CN" altLang="en-US" sz="1200">
              <a:sym typeface="+mn-ea"/>
            </a:endParaRPr>
          </a:p>
          <a:p>
            <a:pPr algn="l"/>
            <a:r>
              <a:rPr lang="zh-CN" altLang="en-US" sz="1200"/>
              <a:t>PutLine_L、quliao1_1、</a:t>
            </a:r>
            <a:r>
              <a:rPr lang="zh-CN" altLang="en-US" sz="1200">
                <a:sym typeface="+mn-ea"/>
              </a:rPr>
              <a:t>quliao1_</a:t>
            </a:r>
            <a:r>
              <a:rPr lang="en-US" altLang="zh-CN" sz="1200">
                <a:sym typeface="+mn-ea"/>
              </a:rPr>
              <a:t>2</a:t>
            </a:r>
            <a:r>
              <a:rPr lang="zh-CN" altLang="en-US" sz="1200">
                <a:sym typeface="+mn-ea"/>
              </a:rPr>
              <a:t>、quliao1_3、quliao1_</a:t>
            </a:r>
            <a:r>
              <a:rPr lang="en-US" altLang="zh-CN" sz="1200">
                <a:sym typeface="+mn-ea"/>
              </a:rPr>
              <a:t>4</a:t>
            </a:r>
            <a:r>
              <a:rPr lang="zh-CN" altLang="en-US" sz="1200">
                <a:sym typeface="+mn-ea"/>
              </a:rPr>
              <a:t>、quliao</a:t>
            </a:r>
            <a:r>
              <a:rPr lang="en-US" altLang="zh-CN" sz="1200">
                <a:sym typeface="+mn-ea"/>
              </a:rPr>
              <a:t>2</a:t>
            </a:r>
            <a:r>
              <a:rPr lang="zh-CN" altLang="en-US" sz="1200">
                <a:sym typeface="+mn-ea"/>
              </a:rPr>
              <a:t>_</a:t>
            </a:r>
            <a:r>
              <a:rPr lang="en-US" altLang="zh-CN" sz="1200">
                <a:sym typeface="+mn-ea"/>
              </a:rPr>
              <a:t>1</a:t>
            </a:r>
            <a:r>
              <a:rPr lang="zh-CN" altLang="en-US" sz="1200">
                <a:sym typeface="+mn-ea"/>
              </a:rPr>
              <a:t>、quliao</a:t>
            </a:r>
            <a:r>
              <a:rPr lang="en-US" altLang="zh-CN" sz="1200">
                <a:sym typeface="+mn-ea"/>
              </a:rPr>
              <a:t>2</a:t>
            </a:r>
            <a:r>
              <a:rPr lang="zh-CN" altLang="en-US" sz="1200">
                <a:sym typeface="+mn-ea"/>
              </a:rPr>
              <a:t>_</a:t>
            </a:r>
            <a:r>
              <a:rPr lang="en-US" altLang="zh-CN" sz="1200">
                <a:sym typeface="+mn-ea"/>
              </a:rPr>
              <a:t>2</a:t>
            </a:r>
            <a:r>
              <a:rPr lang="zh-CN" altLang="en-US" sz="1200">
                <a:sym typeface="+mn-ea"/>
              </a:rPr>
              <a:t>、quliao</a:t>
            </a:r>
            <a:r>
              <a:rPr lang="en-US" altLang="zh-CN" sz="1200">
                <a:sym typeface="+mn-ea"/>
              </a:rPr>
              <a:t>2</a:t>
            </a:r>
            <a:r>
              <a:rPr lang="zh-CN" altLang="en-US" sz="1200">
                <a:sym typeface="+mn-ea"/>
              </a:rPr>
              <a:t>_3、quliao</a:t>
            </a:r>
            <a:r>
              <a:rPr lang="en-US" altLang="zh-CN" sz="1200">
                <a:sym typeface="+mn-ea"/>
              </a:rPr>
              <a:t>2</a:t>
            </a:r>
            <a:r>
              <a:rPr lang="zh-CN" altLang="en-US" sz="1200">
                <a:sym typeface="+mn-ea"/>
              </a:rPr>
              <a:t>_</a:t>
            </a:r>
            <a:r>
              <a:rPr lang="en-US" altLang="zh-CN" sz="1200">
                <a:sym typeface="+mn-ea"/>
              </a:rPr>
              <a:t>4</a:t>
            </a:r>
            <a:r>
              <a:rPr lang="zh-CN" altLang="en-US" sz="1200">
                <a:sym typeface="+mn-ea"/>
              </a:rPr>
              <a:t>、</a:t>
            </a:r>
            <a:endParaRPr lang="zh-CN" altLang="en-US" sz="1200">
              <a:sym typeface="+mn-ea"/>
            </a:endParaRPr>
          </a:p>
          <a:p>
            <a:pPr algn="l"/>
            <a:r>
              <a:rPr lang="zh-CN" altLang="en-US" sz="1200">
                <a:sym typeface="+mn-ea"/>
              </a:rPr>
              <a:t>ZZ_1_</a:t>
            </a:r>
            <a:r>
              <a:rPr lang="en-US" altLang="zh-CN" sz="1200">
                <a:sym typeface="+mn-ea"/>
              </a:rPr>
              <a:t>L</a:t>
            </a:r>
            <a:r>
              <a:rPr lang="zh-CN" altLang="en-US" sz="1200">
                <a:sym typeface="+mn-ea"/>
              </a:rPr>
              <a:t>、ZZ_</a:t>
            </a:r>
            <a:r>
              <a:rPr lang="en-US" altLang="zh-CN" sz="1200">
                <a:sym typeface="+mn-ea"/>
              </a:rPr>
              <a:t>2</a:t>
            </a:r>
            <a:r>
              <a:rPr lang="zh-CN" altLang="en-US" sz="1200">
                <a:sym typeface="+mn-ea"/>
              </a:rPr>
              <a:t>_</a:t>
            </a:r>
            <a:r>
              <a:rPr lang="en-US" altLang="zh-CN" sz="1200">
                <a:sym typeface="+mn-ea"/>
              </a:rPr>
              <a:t>L</a:t>
            </a:r>
            <a:r>
              <a:rPr lang="zh-CN" altLang="en-US" sz="1200">
                <a:sym typeface="+mn-ea"/>
              </a:rPr>
              <a:t>、NG_2_</a:t>
            </a:r>
            <a:r>
              <a:rPr lang="en-US" altLang="zh-CN" sz="1200">
                <a:sym typeface="+mn-ea"/>
              </a:rPr>
              <a:t>L;</a:t>
            </a:r>
            <a:r>
              <a:rPr lang="zh-CN" altLang="en-US" sz="1200">
                <a:sym typeface="+mn-ea"/>
              </a:rPr>
              <a:t>（共</a:t>
            </a:r>
            <a:r>
              <a:rPr lang="en-US" altLang="zh-CN" sz="1200">
                <a:sym typeface="+mn-ea"/>
              </a:rPr>
              <a:t>12</a:t>
            </a:r>
            <a:r>
              <a:rPr lang="zh-CN" altLang="en-US" sz="1200">
                <a:sym typeface="+mn-ea"/>
              </a:rPr>
              <a:t>个）</a:t>
            </a:r>
            <a:endParaRPr lang="en-US" altLang="zh-CN" sz="12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827420"/>
            <a:ext cx="294513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+mn-ea"/>
              </a:rPr>
              <a:t>6.2.5</a:t>
            </a:r>
            <a:r>
              <a:rPr lang="zh-CN" altLang="en-US" b="1" dirty="0" smtClean="0">
                <a:latin typeface="+mn-ea"/>
              </a:rPr>
              <a:t>：示教治具取料位</a:t>
            </a:r>
            <a:r>
              <a:rPr lang="en-US" altLang="zh-CN" b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：</a:t>
            </a:r>
            <a:endParaRPr lang="en-US" altLang="zh-CN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496" y="476672"/>
            <a:ext cx="393700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六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机械手点位示教操作流程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4345" y="1628775"/>
            <a:ext cx="4661535" cy="46221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64465" y="1412875"/>
            <a:ext cx="3078480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/>
              <a:t>备注：取料位以中转</a:t>
            </a:r>
            <a:r>
              <a:rPr lang="en-US" altLang="zh-CN" sz="1200"/>
              <a:t>buffer1</a:t>
            </a:r>
            <a:r>
              <a:rPr lang="zh-CN" altLang="en-US" sz="1200"/>
              <a:t>为基准点；</a:t>
            </a:r>
            <a:endParaRPr lang="zh-CN" altLang="en-US" sz="1200"/>
          </a:p>
          <a:p>
            <a:r>
              <a:rPr lang="zh-CN" altLang="en-US" sz="1200"/>
              <a:t>示教顺序流程：</a:t>
            </a:r>
            <a:endParaRPr lang="zh-CN" altLang="en-US" sz="1200"/>
          </a:p>
          <a:p>
            <a:r>
              <a:rPr lang="en-US" altLang="zh-CN" sz="1200"/>
              <a:t>1.</a:t>
            </a:r>
            <a:r>
              <a:rPr lang="zh-CN" altLang="en-US" sz="1200"/>
              <a:t>在中转</a:t>
            </a:r>
            <a:r>
              <a:rPr lang="en-US" altLang="zh-CN" sz="1200"/>
              <a:t>buffer1Holder</a:t>
            </a:r>
            <a:r>
              <a:rPr lang="zh-CN" altLang="en-US" sz="1200"/>
              <a:t>内放入物料，</a:t>
            </a:r>
            <a:r>
              <a:rPr lang="en-US" altLang="zh-CN" sz="1200"/>
              <a:t>Holder</a:t>
            </a:r>
            <a:endParaRPr lang="en-US" altLang="zh-CN" sz="1200"/>
          </a:p>
          <a:p>
            <a:r>
              <a:rPr lang="zh-CN" altLang="en-US" sz="1200"/>
              <a:t>左右宽度允许</a:t>
            </a:r>
            <a:r>
              <a:rPr lang="en-US" altLang="zh-CN" sz="1200"/>
              <a:t>3-5mm</a:t>
            </a:r>
            <a:r>
              <a:rPr lang="zh-CN" altLang="en-US" sz="1200"/>
              <a:t>的活动间隙，前后宽度</a:t>
            </a:r>
            <a:endParaRPr lang="zh-CN" altLang="en-US" sz="1200"/>
          </a:p>
          <a:p>
            <a:r>
              <a:rPr lang="zh-CN" altLang="en-US" sz="1200"/>
              <a:t>不允许留有活动间隙（除柱塞球形变间隙）</a:t>
            </a:r>
            <a:endParaRPr lang="zh-CN" altLang="en-US" sz="1200"/>
          </a:p>
          <a:p>
            <a:r>
              <a:rPr lang="en-US" altLang="zh-CN" sz="1200"/>
              <a:t>2.</a:t>
            </a:r>
            <a:r>
              <a:rPr lang="zh-CN" altLang="en-US" sz="1200"/>
              <a:t>执行</a:t>
            </a:r>
            <a:r>
              <a:rPr lang="en-US" altLang="zh-CN" sz="1200"/>
              <a:t>ZZ_1_L</a:t>
            </a:r>
            <a:r>
              <a:rPr lang="zh-CN" altLang="en-US" sz="1200"/>
              <a:t>点位（注意左右手切换）</a:t>
            </a:r>
            <a:endParaRPr lang="zh-CN" altLang="en-US" sz="1200"/>
          </a:p>
          <a:p>
            <a:r>
              <a:rPr lang="en-US" altLang="zh-CN" sz="1200"/>
              <a:t>3.Z</a:t>
            </a:r>
            <a:r>
              <a:rPr lang="zh-CN" altLang="en-US" sz="1200"/>
              <a:t>轴抬升</a:t>
            </a:r>
            <a:r>
              <a:rPr lang="en-US" altLang="zh-CN" sz="1200"/>
              <a:t>30mm</a:t>
            </a:r>
            <a:r>
              <a:rPr lang="zh-CN" altLang="en-US" sz="1200"/>
              <a:t>，下压左夹爪气缸；</a:t>
            </a:r>
            <a:endParaRPr lang="zh-CN" altLang="en-US" sz="1200"/>
          </a:p>
          <a:p>
            <a:r>
              <a:rPr lang="en-US" altLang="zh-CN" sz="1200"/>
              <a:t>4.</a:t>
            </a:r>
            <a:r>
              <a:rPr lang="zh-CN" altLang="en-US" sz="1200"/>
              <a:t>使用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重合法</a:t>
            </a:r>
            <a:r>
              <a:rPr lang="zh-CN" altLang="en-US" sz="1200"/>
              <a:t>进行示教，并抓取物料；</a:t>
            </a:r>
            <a:endParaRPr lang="zh-CN" altLang="en-US" sz="1200"/>
          </a:p>
          <a:p>
            <a:r>
              <a:rPr lang="en-US" altLang="zh-CN" sz="1200"/>
              <a:t>5.</a:t>
            </a:r>
            <a:r>
              <a:rPr lang="zh-CN" altLang="en-US" sz="1200"/>
              <a:t>参考放料点位的示教流程完成左夹爪的</a:t>
            </a:r>
            <a:endParaRPr lang="zh-CN" altLang="en-US" sz="1200"/>
          </a:p>
          <a:p>
            <a:r>
              <a:rPr lang="zh-CN" altLang="en-US" sz="1200"/>
              <a:t>所有点位示教；（建议所有点位示教都</a:t>
            </a:r>
            <a:endParaRPr lang="zh-CN" altLang="en-US" sz="1200"/>
          </a:p>
          <a:p>
            <a:r>
              <a:rPr lang="zh-CN" altLang="en-US" sz="1200"/>
              <a:t>使用重合法，重合法示教完后可直接使用</a:t>
            </a:r>
            <a:endParaRPr lang="zh-CN" altLang="en-US" sz="1200"/>
          </a:p>
          <a:p>
            <a:r>
              <a:rPr lang="en-US" altLang="zh-CN" sz="1200"/>
              <a:t>AB</a:t>
            </a:r>
            <a:r>
              <a:rPr lang="zh-CN" altLang="en-US" sz="1200"/>
              <a:t>模式）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476672"/>
            <a:ext cx="5454015" cy="46037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七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.PLC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Robot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、监控软件程序导入流程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107504" y="980222"/>
            <a:ext cx="24853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b="1" dirty="0" smtClean="0">
                <a:latin typeface="+mn-ea"/>
              </a:rPr>
              <a:t>7.1</a:t>
            </a:r>
            <a:r>
              <a:rPr lang="zh-CN" altLang="en-US" b="1" dirty="0" smtClean="0">
                <a:latin typeface="+mn-ea"/>
              </a:rPr>
              <a:t>导入</a:t>
            </a:r>
            <a:r>
              <a:rPr lang="en-US" altLang="zh-CN" b="1" dirty="0" smtClean="0">
                <a:latin typeface="+mn-ea"/>
              </a:rPr>
              <a:t>PLC</a:t>
            </a:r>
            <a:r>
              <a:rPr lang="zh-CN" altLang="en-US" b="1" dirty="0" smtClean="0">
                <a:latin typeface="+mn-ea"/>
              </a:rPr>
              <a:t>程序</a:t>
            </a:r>
            <a:r>
              <a:rPr lang="zh-CN" altLang="en-US" b="1" dirty="0" smtClean="0">
                <a:latin typeface="+mn-ea"/>
              </a:rPr>
              <a:t>流程：</a:t>
            </a:r>
            <a:endParaRPr lang="zh-CN" altLang="en-US" b="1" dirty="0" smtClean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0080" y="1791335"/>
            <a:ext cx="5323205" cy="50025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1505" y="1484630"/>
            <a:ext cx="1783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找到对应设备文件；</a:t>
            </a:r>
            <a:endParaRPr lang="zh-CN" altLang="en-US" sz="1400"/>
          </a:p>
        </p:txBody>
      </p:sp>
      <p:sp>
        <p:nvSpPr>
          <p:cNvPr id="9" name="矩形 8"/>
          <p:cNvSpPr/>
          <p:nvPr/>
        </p:nvSpPr>
        <p:spPr>
          <a:xfrm>
            <a:off x="3131820" y="2910205"/>
            <a:ext cx="881380" cy="170180"/>
          </a:xfrm>
          <a:prstGeom prst="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496" y="476672"/>
            <a:ext cx="545401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七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.PLC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Robot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、监控软件程序导入流程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107504" y="980222"/>
            <a:ext cx="24853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b="1" dirty="0" smtClean="0">
                <a:latin typeface="+mn-ea"/>
              </a:rPr>
              <a:t>7.1</a:t>
            </a:r>
            <a:r>
              <a:rPr lang="zh-CN" altLang="en-US" b="1" dirty="0" smtClean="0">
                <a:latin typeface="+mn-ea"/>
              </a:rPr>
              <a:t>导入</a:t>
            </a:r>
            <a:r>
              <a:rPr lang="en-US" altLang="zh-CN" b="1" dirty="0" smtClean="0">
                <a:latin typeface="+mn-ea"/>
              </a:rPr>
              <a:t>PLC</a:t>
            </a:r>
            <a:r>
              <a:rPr lang="zh-CN" altLang="en-US" b="1" dirty="0" smtClean="0">
                <a:latin typeface="+mn-ea"/>
              </a:rPr>
              <a:t>程序</a:t>
            </a:r>
            <a:r>
              <a:rPr lang="zh-CN" altLang="en-US" b="1" dirty="0" smtClean="0">
                <a:latin typeface="+mn-ea"/>
              </a:rPr>
              <a:t>流程：</a:t>
            </a:r>
            <a:endParaRPr lang="zh-CN" altLang="en-US" b="1" dirty="0" smtClean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655445"/>
            <a:ext cx="6962775" cy="30575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99795" y="1341120"/>
            <a:ext cx="13309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400">
                <a:sym typeface="+mn-ea"/>
              </a:rPr>
              <a:t>打开</a:t>
            </a:r>
            <a:r>
              <a:rPr lang="en-US" altLang="zh-CN" sz="1400">
                <a:sym typeface="+mn-ea"/>
              </a:rPr>
              <a:t>PLC</a:t>
            </a:r>
            <a:r>
              <a:rPr lang="zh-CN" altLang="en-US" sz="1400">
                <a:sym typeface="+mn-ea"/>
              </a:rPr>
              <a:t>程序；</a:t>
            </a:r>
            <a:endParaRPr lang="zh-CN" altLang="en-US" sz="1400"/>
          </a:p>
        </p:txBody>
      </p:sp>
      <p:sp>
        <p:nvSpPr>
          <p:cNvPr id="5" name="矩形 4"/>
          <p:cNvSpPr/>
          <p:nvPr/>
        </p:nvSpPr>
        <p:spPr>
          <a:xfrm>
            <a:off x="2555875" y="3284855"/>
            <a:ext cx="1871980" cy="216535"/>
          </a:xfrm>
          <a:prstGeom prst="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496" y="476672"/>
            <a:ext cx="545401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七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.PLC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Robot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、监控软件程序导入流程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179894" y="980857"/>
            <a:ext cx="24853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b="1" dirty="0" smtClean="0">
                <a:latin typeface="+mn-ea"/>
              </a:rPr>
              <a:t>7.1</a:t>
            </a:r>
            <a:r>
              <a:rPr lang="zh-CN" altLang="en-US" b="1" dirty="0" smtClean="0">
                <a:latin typeface="+mn-ea"/>
              </a:rPr>
              <a:t>导入</a:t>
            </a:r>
            <a:r>
              <a:rPr lang="en-US" altLang="zh-CN" b="1" dirty="0" smtClean="0">
                <a:latin typeface="+mn-ea"/>
              </a:rPr>
              <a:t>PLC</a:t>
            </a:r>
            <a:r>
              <a:rPr lang="zh-CN" altLang="en-US" b="1" dirty="0" smtClean="0">
                <a:latin typeface="+mn-ea"/>
              </a:rPr>
              <a:t>程序</a:t>
            </a:r>
            <a:r>
              <a:rPr lang="zh-CN" altLang="en-US" b="1" dirty="0" smtClean="0">
                <a:latin typeface="+mn-ea"/>
              </a:rPr>
              <a:t>流程：</a:t>
            </a:r>
            <a:endParaRPr lang="zh-CN" altLang="en-US" b="1" dirty="0" smtClean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" y="1916430"/>
            <a:ext cx="8953500" cy="389572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25730" y="3068955"/>
            <a:ext cx="791845" cy="36004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97280" y="3110865"/>
            <a:ext cx="26035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solidFill>
                  <a:srgbClr val="FF0000"/>
                </a:solidFill>
              </a:rPr>
              <a:t>1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345430" y="2348865"/>
            <a:ext cx="431800" cy="4318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921375" y="2426970"/>
            <a:ext cx="26035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solidFill>
                  <a:srgbClr val="FF0000"/>
                </a:solidFill>
              </a:rPr>
              <a:t>2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977640" y="4796790"/>
            <a:ext cx="258508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solidFill>
                  <a:srgbClr val="FF0000"/>
                </a:solidFill>
              </a:rPr>
              <a:t>1.</a:t>
            </a:r>
            <a:r>
              <a:rPr lang="zh-CN" altLang="en-US" sz="1200">
                <a:solidFill>
                  <a:srgbClr val="FF0000"/>
                </a:solidFill>
              </a:rPr>
              <a:t>依次导入主控、与流水线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en-US" altLang="zh-CN" sz="1200">
                <a:solidFill>
                  <a:srgbClr val="FF0000"/>
                </a:solidFill>
              </a:rPr>
              <a:t>2.</a:t>
            </a:r>
            <a:r>
              <a:rPr lang="zh-CN" altLang="en-US" sz="1200">
                <a:solidFill>
                  <a:srgbClr val="FF0000"/>
                </a:solidFill>
              </a:rPr>
              <a:t>必须在设备在线的情况下才能导入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en-US" altLang="zh-CN" sz="1200">
                <a:solidFill>
                  <a:srgbClr val="FF0000"/>
                </a:solidFill>
              </a:rPr>
              <a:t>3.</a:t>
            </a:r>
            <a:r>
              <a:rPr lang="zh-CN" altLang="en-US" sz="1200">
                <a:solidFill>
                  <a:srgbClr val="FF0000"/>
                </a:solidFill>
              </a:rPr>
              <a:t>打开控制器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761105" y="4723130"/>
            <a:ext cx="2807970" cy="79184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609215" y="2060575"/>
            <a:ext cx="720090" cy="36004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790825" y="1628775"/>
            <a:ext cx="26035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solidFill>
                  <a:srgbClr val="FF0000"/>
                </a:solidFill>
              </a:rPr>
              <a:t>3</a:t>
            </a:r>
            <a:endParaRPr lang="en-US" altLang="zh-CN" sz="1200">
              <a:solidFill>
                <a:srgbClr val="FF000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H="1" flipV="1">
            <a:off x="1024890" y="3429000"/>
            <a:ext cx="2698750" cy="15468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 flipV="1">
            <a:off x="3113405" y="2564765"/>
            <a:ext cx="688340" cy="21767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4126865" y="2924810"/>
            <a:ext cx="1362710" cy="17773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" y="1916430"/>
            <a:ext cx="8953500" cy="3895725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32080" y="3068955"/>
            <a:ext cx="791845" cy="360045"/>
          </a:xfrm>
          <a:prstGeom prst="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103630" y="3110865"/>
            <a:ext cx="26035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noFill/>
              </a:rPr>
              <a:t>1</a:t>
            </a:r>
            <a:endParaRPr lang="en-US" altLang="zh-CN" sz="1200">
              <a:noFill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351780" y="2348865"/>
            <a:ext cx="431800" cy="431800"/>
          </a:xfrm>
          <a:prstGeom prst="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927725" y="2426970"/>
            <a:ext cx="26035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noFill/>
              </a:rPr>
              <a:t>2</a:t>
            </a:r>
            <a:endParaRPr lang="en-US" altLang="zh-CN" sz="1200">
              <a:noFill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983990" y="4796790"/>
            <a:ext cx="258508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noFill/>
              </a:rPr>
              <a:t>1.</a:t>
            </a:r>
            <a:r>
              <a:rPr lang="zh-CN" altLang="en-US" sz="1200">
                <a:noFill/>
              </a:rPr>
              <a:t>依次导入主控、与流水线</a:t>
            </a:r>
            <a:endParaRPr lang="zh-CN" altLang="en-US" sz="1200">
              <a:noFill/>
            </a:endParaRPr>
          </a:p>
          <a:p>
            <a:r>
              <a:rPr lang="en-US" altLang="zh-CN" sz="1200">
                <a:noFill/>
              </a:rPr>
              <a:t>2.</a:t>
            </a:r>
            <a:r>
              <a:rPr lang="zh-CN" altLang="en-US" sz="1200">
                <a:noFill/>
              </a:rPr>
              <a:t>必须在设备在线的情况下才能导入</a:t>
            </a:r>
            <a:endParaRPr lang="zh-CN" altLang="en-US" sz="1200">
              <a:noFill/>
            </a:endParaRPr>
          </a:p>
          <a:p>
            <a:r>
              <a:rPr lang="en-US" altLang="zh-CN" sz="1200">
                <a:noFill/>
              </a:rPr>
              <a:t>3.</a:t>
            </a:r>
            <a:r>
              <a:rPr lang="zh-CN" altLang="en-US" sz="1200">
                <a:noFill/>
              </a:rPr>
              <a:t>打开控制器</a:t>
            </a:r>
            <a:endParaRPr lang="zh-CN" altLang="en-US" sz="1200">
              <a:noFill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767455" y="4723130"/>
            <a:ext cx="2807970" cy="791845"/>
          </a:xfrm>
          <a:prstGeom prst="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615565" y="2060575"/>
            <a:ext cx="720090" cy="360045"/>
          </a:xfrm>
          <a:prstGeom prst="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797175" y="1628775"/>
            <a:ext cx="260350" cy="275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en-US" altLang="zh-CN" sz="1200">
                <a:noFill/>
              </a:rPr>
              <a:t>3</a:t>
            </a:r>
            <a:endParaRPr lang="en-US" altLang="zh-CN" sz="1200">
              <a:noFill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H="1" flipV="1">
            <a:off x="1031240" y="3429000"/>
            <a:ext cx="2698750" cy="154686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 flipV="1">
            <a:off x="3119755" y="2564765"/>
            <a:ext cx="688340" cy="217678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endCxn id="23" idx="2"/>
          </p:cNvCxnSpPr>
          <p:nvPr/>
        </p:nvCxnSpPr>
        <p:spPr>
          <a:xfrm flipV="1">
            <a:off x="4133215" y="2780665"/>
            <a:ext cx="1434465" cy="192151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496" y="476672"/>
            <a:ext cx="545401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七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.PLC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Robot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、监控软件程序导入流程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179894" y="980857"/>
            <a:ext cx="24853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b="1" dirty="0" smtClean="0">
                <a:latin typeface="+mn-ea"/>
              </a:rPr>
              <a:t>7.1</a:t>
            </a:r>
            <a:r>
              <a:rPr lang="zh-CN" altLang="en-US" b="1" dirty="0" smtClean="0">
                <a:latin typeface="+mn-ea"/>
              </a:rPr>
              <a:t>导入</a:t>
            </a:r>
            <a:r>
              <a:rPr lang="en-US" altLang="zh-CN" b="1" dirty="0" smtClean="0">
                <a:latin typeface="+mn-ea"/>
              </a:rPr>
              <a:t>PLC</a:t>
            </a:r>
            <a:r>
              <a:rPr lang="zh-CN" altLang="en-US" b="1" dirty="0" smtClean="0">
                <a:latin typeface="+mn-ea"/>
              </a:rPr>
              <a:t>程序</a:t>
            </a:r>
            <a:r>
              <a:rPr lang="zh-CN" altLang="en-US" b="1" dirty="0" smtClean="0">
                <a:latin typeface="+mn-ea"/>
              </a:rPr>
              <a:t>流程：</a:t>
            </a:r>
            <a:endParaRPr lang="zh-CN" altLang="en-US" b="1" dirty="0" smtClean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446530"/>
            <a:ext cx="7778115" cy="54095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788535" y="3789680"/>
            <a:ext cx="2691130" cy="275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zh-CN" altLang="en-US" sz="1200">
                <a:solidFill>
                  <a:schemeClr val="bg1"/>
                </a:solidFill>
              </a:rPr>
              <a:t>依次选择点击开始把程序传输进入</a:t>
            </a:r>
            <a:r>
              <a:rPr lang="en-US" altLang="zh-CN" sz="1200">
                <a:solidFill>
                  <a:schemeClr val="bg1"/>
                </a:solidFill>
              </a:rPr>
              <a:t>PLC</a:t>
            </a:r>
            <a:endParaRPr lang="en-US" altLang="zh-CN" sz="1200">
              <a:solidFill>
                <a:schemeClr val="bg1"/>
              </a:solidFill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3851910" y="2781300"/>
            <a:ext cx="1080135" cy="1007745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 flipV="1">
            <a:off x="5147945" y="2781300"/>
            <a:ext cx="360045" cy="1007745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476672"/>
            <a:ext cx="545401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七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.PLC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Robot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、监控软件程序导入流程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107504" y="980222"/>
            <a:ext cx="24866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+mn-ea"/>
              </a:rPr>
              <a:t>7.2</a:t>
            </a:r>
            <a:r>
              <a:rPr lang="zh-CN" altLang="en-US" b="1" dirty="0" smtClean="0">
                <a:latin typeface="+mn-ea"/>
              </a:rPr>
              <a:t>导入</a:t>
            </a:r>
            <a:r>
              <a:rPr lang="en-US" altLang="zh-CN" b="1" dirty="0" smtClean="0">
                <a:latin typeface="+mn-ea"/>
              </a:rPr>
              <a:t>Robot</a:t>
            </a:r>
            <a:r>
              <a:rPr lang="zh-CN" altLang="en-US" b="1" dirty="0" smtClean="0">
                <a:latin typeface="+mn-ea"/>
              </a:rPr>
              <a:t>程序</a:t>
            </a:r>
            <a:r>
              <a:rPr lang="zh-CN" altLang="en-US" b="1" dirty="0" smtClean="0">
                <a:latin typeface="+mn-ea"/>
              </a:rPr>
              <a:t>流程</a:t>
            </a:r>
            <a:endParaRPr lang="zh-CN" altLang="en-US" b="1" dirty="0" smtClean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740" y="3356610"/>
            <a:ext cx="7477125" cy="20193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75" y="2138680"/>
            <a:ext cx="733425" cy="9525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0480" y="2335530"/>
            <a:ext cx="27387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1200"/>
              <a:t>1.</a:t>
            </a:r>
            <a:r>
              <a:rPr lang="zh-CN" altLang="en-US" sz="1200"/>
              <a:t>在C:\EpsonRC70\projects</a:t>
            </a:r>
            <a:r>
              <a:rPr lang="en-US" altLang="zh-CN" sz="1200"/>
              <a:t> </a:t>
            </a:r>
            <a:r>
              <a:rPr lang="zh-CN" altLang="en-US" sz="1200"/>
              <a:t>路径下</a:t>
            </a:r>
            <a:r>
              <a:rPr lang="zh-CN" altLang="en-US" sz="1200"/>
              <a:t>放入</a:t>
            </a:r>
            <a:endParaRPr lang="zh-CN" altLang="en-US" sz="1200"/>
          </a:p>
          <a:p>
            <a:pPr algn="l"/>
            <a:r>
              <a:rPr lang="zh-CN" altLang="en-US" sz="1200"/>
              <a:t>需要导入的程序，并</a:t>
            </a:r>
            <a:r>
              <a:rPr lang="zh-CN" altLang="en-US" sz="1200"/>
              <a:t>打开</a:t>
            </a:r>
            <a:r>
              <a:rPr lang="en-US" altLang="zh-CN" sz="1200"/>
              <a:t>EPSON</a:t>
            </a:r>
            <a:r>
              <a:rPr lang="zh-CN" altLang="en-US" sz="1200"/>
              <a:t>软件；</a:t>
            </a:r>
            <a:endParaRPr lang="zh-CN" altLang="en-US" sz="1200"/>
          </a:p>
        </p:txBody>
      </p:sp>
      <p:sp>
        <p:nvSpPr>
          <p:cNvPr id="8" name="文本框 7"/>
          <p:cNvSpPr txBox="1"/>
          <p:nvPr/>
        </p:nvSpPr>
        <p:spPr>
          <a:xfrm>
            <a:off x="38735" y="4151630"/>
            <a:ext cx="146367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2.</a:t>
            </a:r>
            <a:r>
              <a:rPr lang="zh-CN" altLang="en-US" sz="1200"/>
              <a:t>选择</a:t>
            </a:r>
            <a:r>
              <a:rPr lang="en-US" altLang="zh-CN" sz="1200"/>
              <a:t>QT1</a:t>
            </a:r>
            <a:r>
              <a:rPr lang="zh-CN" altLang="en-US" sz="1200"/>
              <a:t>工程</a:t>
            </a:r>
            <a:r>
              <a:rPr lang="zh-CN" altLang="en-US" sz="1200"/>
              <a:t>通信</a:t>
            </a:r>
            <a:endParaRPr lang="zh-CN" altLang="en-US" sz="1200"/>
          </a:p>
        </p:txBody>
      </p:sp>
      <p:cxnSp>
        <p:nvCxnSpPr>
          <p:cNvPr id="9" name="直接箭头连接符 8"/>
          <p:cNvCxnSpPr/>
          <p:nvPr/>
        </p:nvCxnSpPr>
        <p:spPr>
          <a:xfrm>
            <a:off x="1331595" y="4292600"/>
            <a:ext cx="5760720" cy="9366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496" y="476672"/>
            <a:ext cx="545401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七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.PLC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Robot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、监控软件程序导入流程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107504" y="980222"/>
            <a:ext cx="24866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b="1" dirty="0" smtClean="0">
                <a:latin typeface="+mn-ea"/>
              </a:rPr>
              <a:t>7.2</a:t>
            </a:r>
            <a:r>
              <a:rPr lang="zh-CN" altLang="en-US" b="1" dirty="0" smtClean="0">
                <a:latin typeface="+mn-ea"/>
              </a:rPr>
              <a:t>导入</a:t>
            </a:r>
            <a:r>
              <a:rPr lang="en-US" altLang="zh-CN" b="1" dirty="0" smtClean="0">
                <a:latin typeface="+mn-ea"/>
              </a:rPr>
              <a:t>Robot</a:t>
            </a:r>
            <a:r>
              <a:rPr lang="zh-CN" altLang="en-US" b="1" dirty="0" smtClean="0">
                <a:latin typeface="+mn-ea"/>
              </a:rPr>
              <a:t>程序</a:t>
            </a:r>
            <a:r>
              <a:rPr lang="zh-CN" altLang="en-US" b="1" dirty="0" smtClean="0">
                <a:latin typeface="+mn-ea"/>
              </a:rPr>
              <a:t>流程</a:t>
            </a:r>
            <a:endParaRPr lang="zh-CN" altLang="en-US" b="1" dirty="0" smtClean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" y="2425065"/>
            <a:ext cx="2773045" cy="3225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745" y="2780665"/>
            <a:ext cx="3143885" cy="27660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435" y="2924810"/>
            <a:ext cx="2983865" cy="26200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39090" y="2018030"/>
            <a:ext cx="136588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3.</a:t>
            </a:r>
            <a:r>
              <a:rPr lang="zh-CN" altLang="en-US" sz="1200"/>
              <a:t>在项目中</a:t>
            </a:r>
            <a:r>
              <a:rPr lang="zh-CN" altLang="en-US" sz="1200"/>
              <a:t>导入；</a:t>
            </a:r>
            <a:endParaRPr lang="zh-CN" altLang="en-US" sz="1200"/>
          </a:p>
        </p:txBody>
      </p:sp>
      <p:sp>
        <p:nvSpPr>
          <p:cNvPr id="8" name="文本框 7"/>
          <p:cNvSpPr txBox="1"/>
          <p:nvPr/>
        </p:nvSpPr>
        <p:spPr>
          <a:xfrm>
            <a:off x="3247390" y="2035175"/>
            <a:ext cx="122110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4.</a:t>
            </a:r>
            <a:r>
              <a:rPr lang="zh-CN" altLang="en-US" sz="1200"/>
              <a:t>路径选择</a:t>
            </a:r>
            <a:r>
              <a:rPr lang="en-US" altLang="zh-CN" sz="1200"/>
              <a:t>PC</a:t>
            </a:r>
            <a:r>
              <a:rPr lang="zh-CN" altLang="en-US" sz="1200"/>
              <a:t>；</a:t>
            </a:r>
            <a:endParaRPr lang="zh-CN" altLang="en-US" sz="1200"/>
          </a:p>
        </p:txBody>
      </p:sp>
      <p:sp>
        <p:nvSpPr>
          <p:cNvPr id="9" name="文本框 8"/>
          <p:cNvSpPr txBox="1"/>
          <p:nvPr/>
        </p:nvSpPr>
        <p:spPr>
          <a:xfrm>
            <a:off x="6414770" y="2035175"/>
            <a:ext cx="273748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5.</a:t>
            </a:r>
            <a:r>
              <a:rPr lang="zh-CN" altLang="en-US" sz="1200"/>
              <a:t>从默认路径中选择需要导入的</a:t>
            </a:r>
            <a:r>
              <a:rPr lang="zh-CN" altLang="en-US" sz="1200"/>
              <a:t>程序；</a:t>
            </a:r>
            <a:endParaRPr lang="zh-CN" altLang="en-US" sz="1200"/>
          </a:p>
        </p:txBody>
      </p:sp>
      <p:sp>
        <p:nvSpPr>
          <p:cNvPr id="10" name="文本框 9"/>
          <p:cNvSpPr txBox="1"/>
          <p:nvPr/>
        </p:nvSpPr>
        <p:spPr>
          <a:xfrm>
            <a:off x="248285" y="5967730"/>
            <a:ext cx="709930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/>
              <a:t>备注：导入新程序前请备份好</a:t>
            </a:r>
            <a:r>
              <a:rPr lang="en-US" altLang="zh-CN" sz="1200"/>
              <a:t>Robot</a:t>
            </a:r>
            <a:r>
              <a:rPr lang="zh-CN" altLang="en-US" sz="1200"/>
              <a:t>点位，程序导入后可单独覆盖</a:t>
            </a:r>
            <a:r>
              <a:rPr lang="en-US" altLang="zh-CN" sz="1200"/>
              <a:t>Robot</a:t>
            </a:r>
            <a:r>
              <a:rPr lang="zh-CN" altLang="en-US" sz="1200"/>
              <a:t>坐标点位；（如步骤</a:t>
            </a:r>
            <a:r>
              <a:rPr lang="en-US" altLang="zh-CN" sz="1200"/>
              <a:t>6</a:t>
            </a:r>
            <a:r>
              <a:rPr lang="zh-CN" altLang="en-US" sz="1200"/>
              <a:t>图中</a:t>
            </a:r>
            <a:r>
              <a:rPr lang="zh-CN" altLang="en-US" sz="1200"/>
              <a:t>所示）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496" y="476672"/>
            <a:ext cx="545401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七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.PLC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Robot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、监控软件程序导入流程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107504" y="980222"/>
            <a:ext cx="24866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b="1" dirty="0" smtClean="0">
                <a:latin typeface="+mn-ea"/>
              </a:rPr>
              <a:t>7.2</a:t>
            </a:r>
            <a:r>
              <a:rPr lang="zh-CN" altLang="en-US" b="1" dirty="0" smtClean="0">
                <a:latin typeface="+mn-ea"/>
              </a:rPr>
              <a:t>导入</a:t>
            </a:r>
            <a:r>
              <a:rPr lang="en-US" altLang="zh-CN" b="1" dirty="0" smtClean="0">
                <a:latin typeface="+mn-ea"/>
              </a:rPr>
              <a:t>Robot</a:t>
            </a:r>
            <a:r>
              <a:rPr lang="zh-CN" altLang="en-US" b="1" dirty="0" smtClean="0">
                <a:latin typeface="+mn-ea"/>
              </a:rPr>
              <a:t>程序</a:t>
            </a:r>
            <a:r>
              <a:rPr lang="zh-CN" altLang="en-US" b="1" dirty="0" smtClean="0">
                <a:latin typeface="+mn-ea"/>
              </a:rPr>
              <a:t>流程</a:t>
            </a:r>
            <a:endParaRPr lang="zh-CN" altLang="en-US" b="1" dirty="0" smtClean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25200"/>
          <a:stretch>
            <a:fillRect/>
          </a:stretch>
        </p:blipFill>
        <p:spPr>
          <a:xfrm>
            <a:off x="2412365" y="1772285"/>
            <a:ext cx="5928995" cy="2922270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H="1">
            <a:off x="2915920" y="3618230"/>
            <a:ext cx="426720" cy="15513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70180" y="5193030"/>
            <a:ext cx="5547360" cy="275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en-US" altLang="zh-CN" sz="1200"/>
              <a:t>6.Robot</a:t>
            </a:r>
            <a:r>
              <a:rPr lang="zh-CN" altLang="en-US" sz="1200"/>
              <a:t>坐标点位文件，导入程序前做好备份，导入新程序后可单独覆盖</a:t>
            </a:r>
            <a:r>
              <a:rPr lang="zh-CN" altLang="en-US" sz="1200"/>
              <a:t>该文件；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5496" y="1412776"/>
            <a:ext cx="286893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400" b="1" dirty="0"/>
              <a:t>工控机通过</a:t>
            </a:r>
            <a:r>
              <a:rPr lang="zh-CN" altLang="zh-CN" sz="1400" b="1" dirty="0"/>
              <a:t>局域网导入截图软件</a:t>
            </a:r>
            <a:r>
              <a:rPr lang="zh-CN" altLang="zh-CN" sz="1400" b="1" dirty="0" smtClean="0"/>
              <a:t>：</a:t>
            </a:r>
            <a:endParaRPr lang="en-US" altLang="zh-CN" sz="1400" b="1" dirty="0" smtClean="0"/>
          </a:p>
          <a:p>
            <a:r>
              <a:rPr lang="zh-CN" altLang="en-US" sz="1400" b="1" dirty="0" smtClean="0"/>
              <a:t>参照以下操作导入监控</a:t>
            </a:r>
            <a:r>
              <a:rPr lang="zh-CN" altLang="en-US" sz="1400" b="1" dirty="0" smtClean="0"/>
              <a:t>软件；</a:t>
            </a:r>
            <a:endParaRPr lang="zh-CN" altLang="en-US" sz="1400" dirty="0"/>
          </a:p>
        </p:txBody>
      </p:sp>
      <p:pic>
        <p:nvPicPr>
          <p:cNvPr id="2" name="内容占位符 1"/>
          <p:cNvPicPr>
            <a:picLocks noChangeAspect="1"/>
          </p:cNvPicPr>
          <p:nvPr>
            <p:ph idx="1"/>
          </p:nvPr>
        </p:nvPicPr>
        <p:blipFill>
          <a:blip r:embed="rId1"/>
          <a:srcRect r="50965"/>
          <a:stretch>
            <a:fillRect/>
          </a:stretch>
        </p:blipFill>
        <p:spPr>
          <a:xfrm>
            <a:off x="292735" y="2420620"/>
            <a:ext cx="2113915" cy="33216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75" y="2997200"/>
            <a:ext cx="1089660" cy="13290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499610" y="2568575"/>
            <a:ext cx="2806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打开电脑桌面的</a:t>
            </a:r>
            <a:r>
              <a:rPr lang="en-US" altLang="zh-CN" b="1">
                <a:solidFill>
                  <a:schemeClr val="accent1"/>
                </a:solidFill>
              </a:rPr>
              <a:t>“</a:t>
            </a:r>
            <a:r>
              <a:rPr lang="zh-CN" altLang="en-US" b="1">
                <a:solidFill>
                  <a:schemeClr val="accent1"/>
                </a:solidFill>
              </a:rPr>
              <a:t>文件分发系统</a:t>
            </a:r>
            <a:r>
              <a:rPr lang="en-US" altLang="zh-CN" b="1">
                <a:solidFill>
                  <a:schemeClr val="accent1"/>
                </a:solidFill>
              </a:rPr>
              <a:t>”</a:t>
            </a:r>
            <a:r>
              <a:rPr lang="zh-CN" altLang="en-US"/>
              <a:t>软件；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496" y="476672"/>
            <a:ext cx="5454015" cy="46037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七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.PLC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Robot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、监控软件程序导入流程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107504" y="980222"/>
            <a:ext cx="19088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b="1" dirty="0" smtClean="0">
                <a:latin typeface="+mn-ea"/>
              </a:rPr>
              <a:t>7.3</a:t>
            </a:r>
            <a:r>
              <a:rPr lang="zh-CN" altLang="en-US" b="1" dirty="0">
                <a:latin typeface="+mn-ea"/>
                <a:sym typeface="+mn-ea"/>
              </a:rPr>
              <a:t>导入截图软件</a:t>
            </a:r>
            <a:endParaRPr lang="zh-CN" altLang="en-US" b="1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3"/>
          <p:cNvPicPr>
            <a:picLocks noChangeAspect="1"/>
          </p:cNvPicPr>
          <p:nvPr/>
        </p:nvPicPr>
        <p:blipFill>
          <a:blip r:embed="rId1"/>
          <a:srcRect b="52018"/>
          <a:stretch>
            <a:fillRect/>
          </a:stretch>
        </p:blipFill>
        <p:spPr>
          <a:xfrm>
            <a:off x="395605" y="1412875"/>
            <a:ext cx="4525010" cy="24098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936490" y="1485265"/>
            <a:ext cx="394843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1.</a:t>
            </a:r>
            <a:r>
              <a:rPr lang="zh-CN" altLang="en-US" sz="1400"/>
              <a:t>勾选解压并</a:t>
            </a:r>
            <a:r>
              <a:rPr lang="zh-CN" altLang="en-US" sz="1400"/>
              <a:t>打开；</a:t>
            </a:r>
            <a:endParaRPr lang="zh-CN" altLang="en-US" sz="1400"/>
          </a:p>
          <a:p>
            <a:r>
              <a:rPr lang="en-US" altLang="zh-CN" sz="1400"/>
              <a:t>2.</a:t>
            </a:r>
            <a:r>
              <a:rPr lang="zh-CN" altLang="en-US" sz="1400"/>
              <a:t>输入开始</a:t>
            </a:r>
            <a:r>
              <a:rPr lang="en-US" altLang="zh-CN" sz="1400"/>
              <a:t>IP</a:t>
            </a:r>
            <a:r>
              <a:rPr lang="zh-CN" altLang="en-US" sz="1400"/>
              <a:t>段：</a:t>
            </a:r>
            <a:r>
              <a:rPr lang="en-US" altLang="zh-CN" sz="1400"/>
              <a:t>192.168.1.100</a:t>
            </a:r>
            <a:endParaRPr lang="en-US" altLang="zh-CN" sz="1400"/>
          </a:p>
          <a:p>
            <a:r>
              <a:rPr lang="en-US" altLang="zh-CN" sz="1400"/>
              <a:t>3.</a:t>
            </a:r>
            <a:r>
              <a:rPr lang="zh-CN" altLang="en-US" sz="1400"/>
              <a:t>输入结束</a:t>
            </a:r>
            <a:r>
              <a:rPr lang="en-US" altLang="zh-CN" sz="1400"/>
              <a:t>IP</a:t>
            </a:r>
            <a:r>
              <a:rPr lang="zh-CN" altLang="en-US" sz="1400"/>
              <a:t>段：</a:t>
            </a:r>
            <a:r>
              <a:rPr lang="en-US" altLang="zh-CN" sz="1400"/>
              <a:t>192.168.1.103</a:t>
            </a:r>
            <a:endParaRPr lang="en-US" altLang="zh-CN" sz="1400"/>
          </a:p>
          <a:p>
            <a:r>
              <a:rPr lang="en-US" altLang="zh-CN" sz="1400"/>
              <a:t>4.</a:t>
            </a:r>
            <a:r>
              <a:rPr lang="zh-CN" altLang="en-US" sz="1400"/>
              <a:t>点击</a:t>
            </a:r>
            <a:r>
              <a:rPr lang="en-US" altLang="zh-CN" sz="1400" b="1">
                <a:solidFill>
                  <a:schemeClr val="accent1"/>
                </a:solidFill>
              </a:rPr>
              <a:t>“</a:t>
            </a:r>
            <a:r>
              <a:rPr lang="zh-CN" altLang="en-US" sz="1400" b="1">
                <a:solidFill>
                  <a:schemeClr val="accent1"/>
                </a:solidFill>
              </a:rPr>
              <a:t>本地文件</a:t>
            </a:r>
            <a:r>
              <a:rPr lang="en-US" altLang="zh-CN" sz="1400" b="1">
                <a:solidFill>
                  <a:schemeClr val="accent1"/>
                </a:solidFill>
              </a:rPr>
              <a:t>”</a:t>
            </a:r>
            <a:r>
              <a:rPr lang="zh-CN" altLang="en-US" sz="1400"/>
              <a:t>并选择需要发送至</a:t>
            </a:r>
            <a:r>
              <a:rPr lang="en-US" altLang="zh-CN" sz="1400"/>
              <a:t>MAC Mini</a:t>
            </a:r>
            <a:r>
              <a:rPr lang="zh-CN" altLang="en-US" sz="1400"/>
              <a:t>的</a:t>
            </a:r>
            <a:endParaRPr lang="zh-CN" altLang="en-US" sz="1400"/>
          </a:p>
          <a:p>
            <a:r>
              <a:rPr lang="zh-CN" altLang="en-US" sz="1400" b="1">
                <a:solidFill>
                  <a:schemeClr val="accent1"/>
                </a:solidFill>
              </a:rPr>
              <a:t>监控软件包</a:t>
            </a:r>
            <a:r>
              <a:rPr lang="zh-CN" altLang="en-US" sz="1400"/>
              <a:t>；</a:t>
            </a:r>
            <a:endParaRPr lang="zh-CN" altLang="en-US" sz="1400"/>
          </a:p>
          <a:p>
            <a:r>
              <a:rPr lang="en-US" altLang="zh-CN" sz="1400"/>
              <a:t>5.</a:t>
            </a:r>
            <a:r>
              <a:rPr lang="zh-CN" altLang="en-US" sz="1400"/>
              <a:t>点击</a:t>
            </a:r>
            <a:r>
              <a:rPr lang="zh-CN" altLang="en-US" sz="1400" b="1">
                <a:solidFill>
                  <a:schemeClr val="accent1"/>
                </a:solidFill>
              </a:rPr>
              <a:t>打开</a:t>
            </a:r>
            <a:r>
              <a:rPr lang="zh-CN" altLang="en-US" sz="1400"/>
              <a:t>后再点击</a:t>
            </a:r>
            <a:r>
              <a:rPr lang="zh-CN" altLang="en-US" sz="1400" b="1">
                <a:solidFill>
                  <a:schemeClr val="accent1"/>
                </a:solidFill>
              </a:rPr>
              <a:t>发送</a:t>
            </a:r>
            <a:r>
              <a:rPr lang="zh-CN" altLang="en-US" sz="1400" b="1">
                <a:solidFill>
                  <a:schemeClr val="tx1"/>
                </a:solidFill>
              </a:rPr>
              <a:t>（即可完成导入，请在</a:t>
            </a:r>
            <a:endParaRPr lang="zh-CN" altLang="en-US" sz="1400" b="1">
              <a:solidFill>
                <a:schemeClr val="tx1"/>
              </a:solidFill>
            </a:endParaRPr>
          </a:p>
          <a:p>
            <a:r>
              <a:rPr lang="en-US" altLang="zh-CN" sz="1400" b="1">
                <a:solidFill>
                  <a:schemeClr val="tx1"/>
                </a:solidFill>
              </a:rPr>
              <a:t>MAC</a:t>
            </a:r>
            <a:r>
              <a:rPr lang="zh-CN" altLang="en-US" sz="1400" b="1">
                <a:solidFill>
                  <a:schemeClr val="tx1"/>
                </a:solidFill>
              </a:rPr>
              <a:t>桌面打开监控软件）</a:t>
            </a:r>
            <a:r>
              <a:rPr lang="zh-CN" altLang="en-US" sz="1400"/>
              <a:t>；</a:t>
            </a:r>
            <a:endParaRPr lang="zh-CN" altLang="en-US" sz="1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" y="3822700"/>
            <a:ext cx="4196080" cy="253238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100" y="3158490"/>
            <a:ext cx="4020820" cy="210693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864100" y="5373370"/>
            <a:ext cx="402082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备注：</a:t>
            </a:r>
            <a:r>
              <a:rPr lang="en-US" altLang="zh-CN" sz="1400"/>
              <a:t>MAC MINI IP</a:t>
            </a:r>
            <a:r>
              <a:rPr lang="zh-CN" altLang="en-US" sz="1400"/>
              <a:t>分布：</a:t>
            </a:r>
            <a:endParaRPr lang="zh-CN" altLang="en-US" sz="1400"/>
          </a:p>
          <a:p>
            <a:r>
              <a:rPr lang="en-US" altLang="zh-CN" sz="1400"/>
              <a:t>MINI1:192.168.1.100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MINI2:192.168.1.101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MINI3:192.168.1.102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MINI4:192.168.1.103</a:t>
            </a:r>
            <a:endParaRPr lang="en-US" altLang="zh-CN" sz="1400"/>
          </a:p>
        </p:txBody>
      </p:sp>
      <p:sp>
        <p:nvSpPr>
          <p:cNvPr id="11" name="文本框 10"/>
          <p:cNvSpPr txBox="1"/>
          <p:nvPr/>
        </p:nvSpPr>
        <p:spPr>
          <a:xfrm>
            <a:off x="3491230" y="1791970"/>
            <a:ext cx="32067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 b="1" u="sng">
                <a:solidFill>
                  <a:srgbClr val="0070C0"/>
                </a:solidFill>
              </a:rPr>
              <a:t>1.</a:t>
            </a:r>
            <a:endParaRPr lang="en-US" altLang="zh-CN" sz="1400" b="1" u="sng">
              <a:solidFill>
                <a:srgbClr val="0070C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32205" y="2108835"/>
            <a:ext cx="32067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 b="1" u="sng">
                <a:solidFill>
                  <a:srgbClr val="0070C0"/>
                </a:solidFill>
              </a:rPr>
              <a:t>2.</a:t>
            </a:r>
            <a:endParaRPr lang="en-US" altLang="zh-CN" sz="1400" b="1" u="sng">
              <a:solidFill>
                <a:srgbClr val="0070C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84855" y="2108835"/>
            <a:ext cx="32067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 b="1" u="sng">
                <a:solidFill>
                  <a:srgbClr val="0070C0"/>
                </a:solidFill>
              </a:rPr>
              <a:t>3.</a:t>
            </a:r>
            <a:endParaRPr lang="en-US" altLang="zh-CN" sz="1400" b="1" u="sng">
              <a:solidFill>
                <a:srgbClr val="0070C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32205" y="1716405"/>
            <a:ext cx="32067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 b="1" u="sng">
                <a:solidFill>
                  <a:srgbClr val="0070C0"/>
                </a:solidFill>
              </a:rPr>
              <a:t>4.</a:t>
            </a:r>
            <a:endParaRPr lang="en-US" altLang="zh-CN" sz="1400" b="1" u="sng">
              <a:solidFill>
                <a:srgbClr val="0070C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33495" y="2851785"/>
            <a:ext cx="32067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 b="1" u="sng">
                <a:solidFill>
                  <a:srgbClr val="0070C0"/>
                </a:solidFill>
              </a:rPr>
              <a:t>5.</a:t>
            </a:r>
            <a:endParaRPr lang="en-US" altLang="zh-CN" sz="1400" b="1" u="sng">
              <a:solidFill>
                <a:srgbClr val="0070C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1567815" y="1953260"/>
            <a:ext cx="339725" cy="255587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5496" y="476672"/>
            <a:ext cx="545401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七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.PLC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Robot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、监控软件程序导入流程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107504" y="980222"/>
            <a:ext cx="19088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b="1" dirty="0" smtClean="0">
                <a:latin typeface="+mn-ea"/>
              </a:rPr>
              <a:t>7.3</a:t>
            </a:r>
            <a:r>
              <a:rPr lang="zh-CN" altLang="en-US" b="1" dirty="0">
                <a:latin typeface="+mn-ea"/>
                <a:sym typeface="+mn-ea"/>
              </a:rPr>
              <a:t>导入截图软件</a:t>
            </a:r>
            <a:endParaRPr lang="zh-CN" altLang="en-US" b="1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1988820"/>
            <a:ext cx="4314825" cy="23050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323840" y="2297430"/>
            <a:ext cx="3132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打开</a:t>
            </a:r>
            <a:r>
              <a:rPr lang="en-US" altLang="zh-CN" b="1" u="sng"/>
              <a:t>Strong log</a:t>
            </a:r>
            <a:r>
              <a:rPr lang="zh-CN" altLang="en-US" b="1" u="sng"/>
              <a:t>的监控软件</a:t>
            </a:r>
            <a:r>
              <a:rPr lang="zh-CN" altLang="en-US"/>
              <a:t>即可</a:t>
            </a:r>
            <a:r>
              <a:rPr lang="zh-CN" altLang="en-US"/>
              <a:t>完成；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476672"/>
            <a:ext cx="545401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七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.PLC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Robot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、监控软件程序导入流程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" name="TextBox 5"/>
          <p:cNvSpPr txBox="1"/>
          <p:nvPr/>
        </p:nvSpPr>
        <p:spPr>
          <a:xfrm>
            <a:off x="107504" y="980222"/>
            <a:ext cx="19088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b="1" dirty="0" smtClean="0">
                <a:latin typeface="+mn-ea"/>
              </a:rPr>
              <a:t>7.3</a:t>
            </a:r>
            <a:r>
              <a:rPr lang="zh-CN" altLang="en-US" b="1" dirty="0">
                <a:latin typeface="+mn-ea"/>
                <a:sym typeface="+mn-ea"/>
              </a:rPr>
              <a:t>导入截图软件</a:t>
            </a:r>
            <a:endParaRPr lang="zh-CN" altLang="en-US" b="1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476672"/>
            <a:ext cx="3324860" cy="46037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八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设备常见异常及处理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1056005" y="1752600"/>
            <a:ext cx="3027680" cy="3371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zh-CN" altLang="en-US" sz="1600">
                <a:effectLst/>
                <a:sym typeface="+mn-ea"/>
              </a:rPr>
              <a:t>放料异常（上下气缸动点异常）</a:t>
            </a:r>
            <a:endParaRPr lang="zh-CN" altLang="en-US" sz="1600">
              <a:effectLst/>
              <a:sym typeface="+mn-ea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1642745" y="2120900"/>
            <a:ext cx="1123950" cy="5149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2766695" y="2122170"/>
            <a:ext cx="1089660" cy="5137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12445" y="2647950"/>
            <a:ext cx="1740535" cy="3371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en-US" altLang="zh-CN" sz="1600"/>
              <a:t>carrier</a:t>
            </a:r>
            <a:r>
              <a:rPr lang="zh-CN" altLang="en-US" sz="1600"/>
              <a:t>扣合异常；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3035300" y="2643505"/>
            <a:ext cx="4123690" cy="3371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zh-CN" sz="1600">
                <a:effectLst/>
                <a:sym typeface="+mn-ea"/>
              </a:rPr>
              <a:t>放料位异常</a:t>
            </a:r>
            <a:r>
              <a:rPr lang="en-US" altLang="zh-CN" sz="1600">
                <a:effectLst/>
                <a:sym typeface="+mn-ea"/>
              </a:rPr>
              <a:t>/</a:t>
            </a:r>
            <a:r>
              <a:rPr lang="zh-CN" altLang="en-US" sz="1600">
                <a:effectLst/>
                <a:sym typeface="+mn-ea"/>
              </a:rPr>
              <a:t>治具载板固定块松动（图</a:t>
            </a:r>
            <a:r>
              <a:rPr lang="zh-CN" altLang="en-US" sz="1600" b="1" u="sng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sym typeface="+mn-ea"/>
              </a:rPr>
              <a:t>①</a:t>
            </a:r>
            <a:r>
              <a:rPr lang="zh-CN" altLang="en-US" sz="1600">
                <a:effectLst/>
                <a:sym typeface="+mn-ea"/>
              </a:rPr>
              <a:t>）；</a:t>
            </a:r>
            <a:endParaRPr lang="zh-CN" altLang="en-US" sz="1600">
              <a:effectLst/>
              <a:sym typeface="+mn-ea"/>
            </a:endParaRPr>
          </a:p>
        </p:txBody>
      </p:sp>
      <p:cxnSp>
        <p:nvCxnSpPr>
          <p:cNvPr id="12" name="直接箭头连接符 11"/>
          <p:cNvCxnSpPr>
            <a:stCxn id="9" idx="2"/>
          </p:cNvCxnSpPr>
          <p:nvPr/>
        </p:nvCxnSpPr>
        <p:spPr>
          <a:xfrm flipH="1">
            <a:off x="1480185" y="3016250"/>
            <a:ext cx="635" cy="6997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4836160" y="3018790"/>
            <a:ext cx="635" cy="6997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3025" y="3719830"/>
            <a:ext cx="2553335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zh-CN" altLang="en-US" sz="1600">
                <a:effectLst/>
                <a:sym typeface="+mn-ea"/>
              </a:rPr>
              <a:t>规范</a:t>
            </a:r>
            <a:r>
              <a:rPr lang="en-US" altLang="zh-CN" sz="1600">
                <a:effectLst/>
                <a:sym typeface="+mn-ea"/>
              </a:rPr>
              <a:t>OP</a:t>
            </a:r>
            <a:r>
              <a:rPr lang="zh-CN" altLang="en-US" sz="1600">
                <a:effectLst/>
                <a:sym typeface="+mn-ea"/>
              </a:rPr>
              <a:t>作业手法。</a:t>
            </a:r>
            <a:endParaRPr lang="zh-CN" altLang="en-US" sz="1600">
              <a:effectLst/>
              <a:sym typeface="+mn-ea"/>
            </a:endParaRPr>
          </a:p>
          <a:p>
            <a:pPr algn="l"/>
            <a:r>
              <a:rPr lang="zh-CN" altLang="en-US" sz="1600">
                <a:effectLst/>
                <a:sym typeface="+mn-ea"/>
              </a:rPr>
              <a:t>手动干预将</a:t>
            </a:r>
            <a:r>
              <a:rPr lang="en-US" altLang="zh-CN" sz="1600">
                <a:effectLst/>
                <a:sym typeface="+mn-ea"/>
              </a:rPr>
              <a:t>carrier</a:t>
            </a:r>
            <a:r>
              <a:rPr lang="zh-CN" altLang="en-US" sz="1600">
                <a:effectLst/>
                <a:sym typeface="+mn-ea"/>
              </a:rPr>
              <a:t>扣合后，</a:t>
            </a:r>
            <a:endParaRPr lang="zh-CN" altLang="en-US" sz="1600">
              <a:effectLst/>
              <a:sym typeface="+mn-ea"/>
            </a:endParaRPr>
          </a:p>
          <a:p>
            <a:pPr algn="l"/>
            <a:r>
              <a:rPr lang="zh-CN" altLang="en-US" sz="1600">
                <a:effectLst/>
                <a:sym typeface="+mn-ea"/>
              </a:rPr>
              <a:t>清除报警、启动；</a:t>
            </a:r>
            <a:endParaRPr lang="zh-CN" altLang="en-US" sz="1600">
              <a:effectLst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382010" y="3729355"/>
            <a:ext cx="2625090" cy="5835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zh-CN" altLang="en-US" sz="1600">
                <a:effectLst/>
                <a:sym typeface="+mn-ea"/>
              </a:rPr>
              <a:t>检查治具载板固定块</a:t>
            </a:r>
            <a:r>
              <a:rPr lang="en-US" altLang="zh-CN" sz="1600">
                <a:effectLst/>
                <a:sym typeface="+mn-ea"/>
              </a:rPr>
              <a:t>/</a:t>
            </a:r>
            <a:endParaRPr lang="en-US" altLang="zh-CN" sz="1600">
              <a:effectLst/>
              <a:sym typeface="+mn-ea"/>
            </a:endParaRPr>
          </a:p>
          <a:p>
            <a:pPr algn="l"/>
            <a:r>
              <a:rPr lang="zh-CN" altLang="en-US" sz="1600">
                <a:effectLst/>
                <a:sym typeface="+mn-ea"/>
              </a:rPr>
              <a:t>使用</a:t>
            </a:r>
            <a:r>
              <a:rPr lang="zh-CN" altLang="en-US" sz="16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重合法</a:t>
            </a:r>
            <a:r>
              <a:rPr lang="zh-CN" altLang="en-US" sz="1600">
                <a:effectLst/>
                <a:sym typeface="+mn-ea"/>
              </a:rPr>
              <a:t>进行</a:t>
            </a:r>
            <a:r>
              <a:rPr lang="zh-CN" altLang="en-US" sz="1600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示教点位</a:t>
            </a:r>
            <a:r>
              <a:rPr lang="zh-CN" altLang="en-US" sz="1600">
                <a:effectLst/>
                <a:sym typeface="+mn-ea"/>
              </a:rPr>
              <a:t>；</a:t>
            </a:r>
            <a:endParaRPr lang="zh-CN" altLang="en-US" sz="1600">
              <a:effectLst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89230" y="869950"/>
            <a:ext cx="16148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8.1</a:t>
            </a:r>
            <a:r>
              <a:rPr lang="zh-CN" altLang="en-US"/>
              <a:t>放料异常；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415" y="3356610"/>
            <a:ext cx="1954530" cy="31013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80605" y="6182360"/>
            <a:ext cx="3359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 b="1" u="sng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sym typeface="+mn-ea"/>
              </a:rPr>
              <a:t>①</a:t>
            </a:r>
            <a:endParaRPr lang="zh-CN" altLang="en-US" sz="1200" b="1" u="sng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476672"/>
            <a:ext cx="3324860" cy="46037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八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设备常见异常及处理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3180715" y="1752600"/>
            <a:ext cx="165735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ctr" fontAlgn="ctr"/>
            <a:r>
              <a:rPr lang="zh-CN">
                <a:effectLst/>
                <a:sym typeface="+mn-ea"/>
              </a:rPr>
              <a:t>流水线卡料</a:t>
            </a:r>
            <a:r>
              <a:rPr lang="zh-CN" altLang="en-US">
                <a:effectLst/>
                <a:sym typeface="+mn-ea"/>
              </a:rPr>
              <a:t>；  </a:t>
            </a:r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2862580" y="2120900"/>
            <a:ext cx="1123950" cy="5149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3986530" y="2122170"/>
            <a:ext cx="1089660" cy="5137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732280" y="2647950"/>
            <a:ext cx="193611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en-US">
                <a:effectLst/>
                <a:sym typeface="+mn-ea"/>
              </a:rPr>
              <a:t>carrier</a:t>
            </a:r>
            <a:r>
              <a:rPr lang="zh-CN" altLang="en-US">
                <a:effectLst/>
                <a:sym typeface="+mn-ea"/>
              </a:rPr>
              <a:t>扣合异常</a:t>
            </a:r>
            <a:r>
              <a:rPr lang="zh-CN" altLang="en-US"/>
              <a:t>；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255135" y="2643505"/>
            <a:ext cx="278574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zh-CN">
                <a:effectLst/>
                <a:sym typeface="+mn-ea"/>
              </a:rPr>
              <a:t>流道上残留保护膜</a:t>
            </a:r>
            <a:r>
              <a:rPr lang="en-US" altLang="zh-CN">
                <a:effectLst/>
                <a:sym typeface="+mn-ea"/>
              </a:rPr>
              <a:t>/</a:t>
            </a:r>
            <a:r>
              <a:rPr lang="zh-CN" altLang="en-US">
                <a:effectLst/>
                <a:sym typeface="+mn-ea"/>
              </a:rPr>
              <a:t>异物；</a:t>
            </a:r>
            <a:endParaRPr lang="zh-CN" altLang="en-US"/>
          </a:p>
        </p:txBody>
      </p:sp>
      <p:cxnSp>
        <p:nvCxnSpPr>
          <p:cNvPr id="12" name="直接箭头连接符 11"/>
          <p:cNvCxnSpPr>
            <a:stCxn id="9" idx="2"/>
          </p:cNvCxnSpPr>
          <p:nvPr/>
        </p:nvCxnSpPr>
        <p:spPr>
          <a:xfrm flipH="1">
            <a:off x="2700020" y="3016250"/>
            <a:ext cx="635" cy="6997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6055995" y="3018790"/>
            <a:ext cx="635" cy="6997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292860" y="3719830"/>
            <a:ext cx="2850515" cy="1198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zh-CN" altLang="en-US">
                <a:effectLst/>
                <a:sym typeface="+mn-ea"/>
              </a:rPr>
              <a:t>规范</a:t>
            </a:r>
            <a:r>
              <a:rPr lang="en-US" altLang="zh-CN">
                <a:effectLst/>
                <a:sym typeface="+mn-ea"/>
              </a:rPr>
              <a:t>OP</a:t>
            </a:r>
            <a:r>
              <a:rPr lang="zh-CN" altLang="en-US">
                <a:effectLst/>
                <a:sym typeface="+mn-ea"/>
              </a:rPr>
              <a:t>作业手法。</a:t>
            </a:r>
            <a:endParaRPr lang="zh-CN" altLang="en-US">
              <a:effectLst/>
              <a:sym typeface="+mn-ea"/>
            </a:endParaRPr>
          </a:p>
          <a:p>
            <a:pPr algn="l"/>
            <a:r>
              <a:rPr lang="zh-CN" altLang="en-US">
                <a:effectLst/>
                <a:sym typeface="+mn-ea"/>
              </a:rPr>
              <a:t>暂停状态下手动干预将</a:t>
            </a:r>
            <a:endParaRPr lang="zh-CN" altLang="en-US">
              <a:effectLst/>
              <a:sym typeface="+mn-ea"/>
            </a:endParaRPr>
          </a:p>
          <a:p>
            <a:pPr algn="l"/>
            <a:r>
              <a:rPr lang="en-US" altLang="zh-CN">
                <a:effectLst/>
                <a:sym typeface="+mn-ea"/>
              </a:rPr>
              <a:t>carrier</a:t>
            </a:r>
            <a:r>
              <a:rPr lang="zh-CN" altLang="en-US">
                <a:effectLst/>
                <a:sym typeface="+mn-ea"/>
              </a:rPr>
              <a:t>扣合后，清除报警、</a:t>
            </a:r>
            <a:endParaRPr lang="zh-CN" altLang="en-US">
              <a:effectLst/>
              <a:sym typeface="+mn-ea"/>
            </a:endParaRPr>
          </a:p>
          <a:p>
            <a:pPr algn="l"/>
            <a:r>
              <a:rPr lang="zh-CN" altLang="en-US">
                <a:effectLst/>
                <a:sym typeface="+mn-ea"/>
              </a:rPr>
              <a:t>启动；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601845" y="3729355"/>
            <a:ext cx="2926080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zh-CN" altLang="en-US">
                <a:effectLst/>
                <a:sym typeface="+mn-ea"/>
              </a:rPr>
              <a:t>定期检查并清理自动化流道</a:t>
            </a:r>
            <a:endParaRPr lang="zh-CN" altLang="en-US">
              <a:effectLst/>
              <a:sym typeface="+mn-ea"/>
            </a:endParaRPr>
          </a:p>
          <a:p>
            <a:pPr algn="l"/>
            <a:r>
              <a:rPr lang="zh-CN" altLang="en-US">
                <a:effectLst/>
                <a:sym typeface="+mn-ea"/>
              </a:rPr>
              <a:t>上的残留物；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89230" y="869950"/>
            <a:ext cx="16148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8.2</a:t>
            </a:r>
            <a:r>
              <a:rPr lang="zh-CN" altLang="en-US"/>
              <a:t>流道卡料；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476672"/>
            <a:ext cx="3324860" cy="46037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八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设备常见异常及处理</a:t>
            </a:r>
            <a:endParaRPr lang="zh-CN" altLang="en-US" sz="2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189230" y="869950"/>
            <a:ext cx="20720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/>
              <a:t>8.3</a:t>
            </a:r>
            <a:r>
              <a:rPr lang="zh-CN" altLang="en-US">
                <a:effectLst/>
                <a:sym typeface="+mn-ea"/>
              </a:rPr>
              <a:t>夹爪信号异常</a:t>
            </a:r>
            <a:r>
              <a:rPr lang="zh-CN" altLang="en-US"/>
              <a:t>；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8310" y="1340485"/>
            <a:ext cx="5054600" cy="48729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80340" y="1852930"/>
            <a:ext cx="2514600" cy="13836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1.</a:t>
            </a:r>
            <a:r>
              <a:rPr lang="zh-CN" altLang="en-US" sz="1200"/>
              <a:t>在机械手软件中打开</a:t>
            </a:r>
            <a:r>
              <a:rPr lang="en-US" altLang="zh-CN" sz="1200" b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</a:t>
            </a:r>
            <a:r>
              <a:rPr lang="zh-CN" altLang="en-US" sz="1200" b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监控表</a:t>
            </a:r>
            <a:r>
              <a:rPr lang="zh-CN" altLang="en-US" sz="1200"/>
              <a:t>，</a:t>
            </a:r>
            <a:endParaRPr lang="zh-CN" altLang="en-US" sz="1200"/>
          </a:p>
          <a:p>
            <a:r>
              <a:rPr lang="zh-CN" altLang="en-US" sz="1200"/>
              <a:t>监看感应器信号在工作中的</a:t>
            </a:r>
            <a:r>
              <a:rPr lang="zh-CN" altLang="en-US" sz="1200"/>
              <a:t>状态；</a:t>
            </a:r>
            <a:endParaRPr lang="zh-CN" altLang="en-US" sz="1200"/>
          </a:p>
          <a:p>
            <a:r>
              <a:rPr lang="en-US" altLang="zh-CN" sz="1200"/>
              <a:t>2.</a:t>
            </a:r>
            <a:r>
              <a:rPr lang="zh-CN" altLang="en-US" sz="1200"/>
              <a:t>根据实际情况进行停机</a:t>
            </a:r>
            <a:r>
              <a:rPr lang="zh-CN" altLang="en-US" sz="1200"/>
              <a:t>维护</a:t>
            </a:r>
            <a:endParaRPr lang="zh-CN" altLang="en-US" sz="1200"/>
          </a:p>
          <a:p>
            <a:r>
              <a:rPr lang="zh-CN" altLang="en-US" sz="1200"/>
              <a:t>信号接收延时：使用小一字起调节</a:t>
            </a:r>
            <a:endParaRPr lang="zh-CN" altLang="en-US" sz="1200"/>
          </a:p>
          <a:p>
            <a:r>
              <a:rPr lang="zh-CN" altLang="en-US" sz="1200"/>
              <a:t>对应的气缸感应器位置；</a:t>
            </a:r>
            <a:endParaRPr lang="zh-CN" altLang="en-US" sz="1200"/>
          </a:p>
          <a:p>
            <a:r>
              <a:rPr lang="zh-CN" altLang="en-US" sz="1200"/>
              <a:t>信号反馈异常：根据异常</a:t>
            </a:r>
            <a:r>
              <a:rPr lang="en-US" altLang="zh-CN" sz="1200"/>
              <a:t>I/O</a:t>
            </a:r>
            <a:r>
              <a:rPr lang="zh-CN" altLang="en-US" sz="1200"/>
              <a:t>的线标</a:t>
            </a:r>
            <a:endParaRPr lang="zh-CN" altLang="en-US" sz="1200"/>
          </a:p>
          <a:p>
            <a:r>
              <a:rPr lang="zh-CN" altLang="en-US" sz="1200"/>
              <a:t>检查线路是否</a:t>
            </a:r>
            <a:r>
              <a:rPr lang="en-US" altLang="zh-CN" sz="1200"/>
              <a:t>OK/</a:t>
            </a:r>
            <a:r>
              <a:rPr lang="zh-CN" altLang="en-US" sz="1200"/>
              <a:t>更换感应器；</a:t>
            </a:r>
            <a:endParaRPr lang="zh-CN" altLang="en-US" sz="1200"/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2484120" y="1844675"/>
            <a:ext cx="3240405" cy="152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5560" y="3644265"/>
            <a:ext cx="2947035" cy="829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zh-CN" altLang="en-US" sz="1200"/>
              <a:t>夹紧感应器异常：检查</a:t>
            </a:r>
            <a:r>
              <a:rPr lang="en-US" altLang="zh-CN" sz="1200"/>
              <a:t>Mark</a:t>
            </a:r>
            <a:r>
              <a:rPr lang="zh-CN" altLang="en-US" sz="1200"/>
              <a:t>点是否偏位、</a:t>
            </a:r>
            <a:endParaRPr lang="zh-CN" altLang="en-US" sz="1200"/>
          </a:p>
          <a:p>
            <a:r>
              <a:rPr lang="zh-CN" altLang="en-US" sz="1200"/>
              <a:t>检查线路是否被磨损</a:t>
            </a:r>
            <a:r>
              <a:rPr lang="en-US" altLang="zh-CN" sz="1200"/>
              <a:t>/</a:t>
            </a:r>
            <a:r>
              <a:rPr lang="zh-CN" altLang="en-US" sz="1200"/>
              <a:t>接触不良；</a:t>
            </a:r>
            <a:endParaRPr lang="zh-CN" altLang="en-US" sz="1200"/>
          </a:p>
          <a:p>
            <a:r>
              <a:rPr lang="zh-CN" altLang="en-US" sz="1200"/>
              <a:t>夹爪真空吸异常：检查物料保护膜是否褶</a:t>
            </a:r>
            <a:endParaRPr lang="zh-CN" altLang="en-US" sz="1200"/>
          </a:p>
          <a:p>
            <a:r>
              <a:rPr lang="zh-CN" altLang="en-US" sz="1200"/>
              <a:t>皱、检查信号是否正常输出</a:t>
            </a:r>
            <a:r>
              <a:rPr lang="en-US" altLang="zh-CN" sz="1200"/>
              <a:t>/</a:t>
            </a:r>
            <a:r>
              <a:rPr lang="zh-CN" altLang="en-US" sz="1200"/>
              <a:t>接收；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476672"/>
            <a:ext cx="3324860" cy="46037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八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设备常见异常及处理</a:t>
            </a:r>
            <a:endParaRPr lang="zh-CN" altLang="en-US" sz="2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189230" y="869950"/>
            <a:ext cx="25304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/>
              <a:t>8.4</a:t>
            </a:r>
            <a:r>
              <a:rPr lang="en-US" altLang="zh-CN">
                <a:effectLst/>
                <a:sym typeface="+mn-ea"/>
              </a:rPr>
              <a:t>MINI</a:t>
            </a:r>
            <a:r>
              <a:rPr lang="zh-CN" altLang="en-US">
                <a:effectLst/>
                <a:sym typeface="+mn-ea"/>
              </a:rPr>
              <a:t>测试软件卡死</a:t>
            </a:r>
            <a:r>
              <a:rPr lang="zh-CN" altLang="en-US"/>
              <a:t>；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440" y="1772285"/>
            <a:ext cx="6871970" cy="40157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0645" y="1802130"/>
            <a:ext cx="18834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1.</a:t>
            </a:r>
            <a:r>
              <a:rPr lang="zh-CN" altLang="en-US" sz="1200"/>
              <a:t>等待自动</a:t>
            </a:r>
            <a:r>
              <a:rPr lang="zh-CN" altLang="en-US" sz="1200" b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禁用</a:t>
            </a:r>
            <a:r>
              <a:rPr lang="en-US" altLang="zh-CN" sz="1200"/>
              <a:t>/</a:t>
            </a:r>
            <a:r>
              <a:rPr lang="zh-CN" altLang="en-US" sz="1200"/>
              <a:t>手动操作</a:t>
            </a:r>
            <a:endParaRPr lang="zh-CN" altLang="en-US" sz="1200"/>
          </a:p>
          <a:p>
            <a:r>
              <a:rPr lang="zh-CN" altLang="en-US" sz="1200" b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禁用</a:t>
            </a:r>
            <a:r>
              <a:rPr lang="zh-CN" altLang="en-US" sz="1200"/>
              <a:t>；</a:t>
            </a:r>
            <a:endParaRPr lang="zh-CN" altLang="en-US" sz="1200"/>
          </a:p>
        </p:txBody>
      </p:sp>
      <p:cxnSp>
        <p:nvCxnSpPr>
          <p:cNvPr id="9" name="直接箭头连接符 8"/>
          <p:cNvCxnSpPr/>
          <p:nvPr/>
        </p:nvCxnSpPr>
        <p:spPr>
          <a:xfrm>
            <a:off x="1172845" y="1916430"/>
            <a:ext cx="2607310" cy="36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10490" y="2437130"/>
            <a:ext cx="19754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2.</a:t>
            </a:r>
            <a:r>
              <a:rPr lang="zh-CN" altLang="en-US" sz="1200"/>
              <a:t>禁用后等待机械手将治具</a:t>
            </a:r>
            <a:endParaRPr lang="zh-CN" altLang="en-US" sz="1200"/>
          </a:p>
          <a:p>
            <a:r>
              <a:rPr lang="zh-CN" altLang="en-US" sz="1200"/>
              <a:t>的物料清完；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476672"/>
            <a:ext cx="3324860" cy="46037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八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设备常见异常及处理</a:t>
            </a:r>
            <a:endParaRPr lang="zh-CN" altLang="en-US" sz="2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189230" y="869950"/>
            <a:ext cx="25304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/>
              <a:t>8.4</a:t>
            </a:r>
            <a:r>
              <a:rPr lang="en-US" altLang="zh-CN">
                <a:effectLst/>
                <a:sym typeface="+mn-ea"/>
              </a:rPr>
              <a:t>MINI</a:t>
            </a:r>
            <a:r>
              <a:rPr lang="zh-CN" altLang="en-US">
                <a:effectLst/>
                <a:sym typeface="+mn-ea"/>
              </a:rPr>
              <a:t>测试软件卡死</a:t>
            </a:r>
            <a:r>
              <a:rPr lang="zh-CN" altLang="en-US"/>
              <a:t>；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4120" y="1485265"/>
            <a:ext cx="6590665" cy="25069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8750" y="1591310"/>
            <a:ext cx="136588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 u="sng"/>
              <a:t>3.</a:t>
            </a:r>
            <a:r>
              <a:rPr lang="zh-CN" altLang="en-US" sz="1200" u="sng"/>
              <a:t>关闭测试软件；</a:t>
            </a:r>
            <a:endParaRPr lang="zh-CN" altLang="en-US" sz="1200" u="sng"/>
          </a:p>
        </p:txBody>
      </p:sp>
      <p:cxnSp>
        <p:nvCxnSpPr>
          <p:cNvPr id="4" name="直接箭头连接符 3"/>
          <p:cNvCxnSpPr/>
          <p:nvPr/>
        </p:nvCxnSpPr>
        <p:spPr>
          <a:xfrm>
            <a:off x="827405" y="1845310"/>
            <a:ext cx="4608830" cy="12242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25095" y="4709795"/>
            <a:ext cx="20504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/>
              <a:t>4.</a:t>
            </a:r>
            <a:r>
              <a:rPr lang="zh-CN" altLang="en-US" sz="1200"/>
              <a:t>重新打开</a:t>
            </a:r>
            <a:r>
              <a:rPr lang="en-US" altLang="zh-CN" sz="1200"/>
              <a:t>Atlas2</a:t>
            </a:r>
            <a:r>
              <a:rPr lang="zh-CN" altLang="en-US" sz="1200"/>
              <a:t>测试软件；</a:t>
            </a:r>
            <a:endParaRPr lang="zh-CN" altLang="en-US" sz="12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120" y="4580890"/>
            <a:ext cx="1485900" cy="1190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476672"/>
            <a:ext cx="3324860" cy="46037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八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设备常见异常及处理</a:t>
            </a:r>
            <a:endParaRPr lang="zh-CN" altLang="en-US" sz="2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189230" y="869950"/>
            <a:ext cx="32150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/>
              <a:t>8.5</a:t>
            </a:r>
            <a:r>
              <a:rPr lang="zh-CN">
                <a:effectLst/>
                <a:sym typeface="+mn-ea"/>
              </a:rPr>
              <a:t>治具外挂气缸活动不顺畅</a:t>
            </a:r>
            <a:r>
              <a:rPr lang="zh-CN" altLang="en-US"/>
              <a:t>；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20345" y="2089150"/>
            <a:ext cx="3956685" cy="10147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en-US" altLang="zh-CN" sz="1200"/>
              <a:t>1.</a:t>
            </a:r>
            <a:r>
              <a:rPr lang="zh-CN" altLang="en-US" sz="1200"/>
              <a:t>检查固定在气缸上的衔接钣金是否松动（如图一</a:t>
            </a:r>
            <a:r>
              <a:rPr lang="zh-CN" altLang="en-US" sz="1200">
                <a:solidFill>
                  <a:srgbClr val="FF0000"/>
                </a:solidFill>
              </a:rPr>
              <a:t>①</a:t>
            </a:r>
            <a:r>
              <a:rPr lang="zh-CN" altLang="en-US" sz="1200"/>
              <a:t>）、</a:t>
            </a:r>
            <a:endParaRPr lang="zh-CN" altLang="en-US" sz="1200"/>
          </a:p>
          <a:p>
            <a:r>
              <a:rPr lang="zh-CN" altLang="en-US" sz="1200"/>
              <a:t>螺丝是否紧固、</a:t>
            </a:r>
            <a:r>
              <a:rPr lang="en-US" altLang="zh-CN" sz="1200"/>
              <a:t>Mark</a:t>
            </a:r>
            <a:r>
              <a:rPr lang="zh-CN" altLang="en-US" sz="1200"/>
              <a:t>位置是否有偏移；</a:t>
            </a:r>
            <a:endParaRPr lang="zh-CN" altLang="en-US" sz="1200"/>
          </a:p>
          <a:p>
            <a:r>
              <a:rPr lang="en-US" altLang="zh-CN" sz="1200"/>
              <a:t>2.</a:t>
            </a:r>
            <a:r>
              <a:rPr lang="zh-CN" altLang="en-US" sz="1200"/>
              <a:t>固定无杆气缸的螺丝是否紧固、</a:t>
            </a:r>
            <a:r>
              <a:rPr lang="en-US" altLang="zh-CN" sz="1200"/>
              <a:t>Mark</a:t>
            </a:r>
            <a:r>
              <a:rPr lang="zh-CN" altLang="en-US" sz="1200"/>
              <a:t>点是否偏移；</a:t>
            </a:r>
            <a:endParaRPr lang="zh-CN" altLang="en-US" sz="1200"/>
          </a:p>
          <a:p>
            <a:r>
              <a:rPr lang="en-US" altLang="zh-CN" sz="1200"/>
              <a:t>3.</a:t>
            </a:r>
            <a:r>
              <a:rPr lang="zh-CN" altLang="en-US" sz="1200"/>
              <a:t>检查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无杆气缸</a:t>
            </a:r>
            <a:r>
              <a:rPr lang="zh-CN" altLang="en-US" sz="1200" b="1" u="sng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②</a:t>
            </a:r>
            <a:r>
              <a:rPr lang="zh-CN" altLang="en-US" sz="1200"/>
              <a:t>表面是否光滑并附有油脂；</a:t>
            </a:r>
            <a:endParaRPr lang="zh-CN" altLang="en-US" sz="1200"/>
          </a:p>
          <a:p>
            <a:r>
              <a:rPr lang="en-US" altLang="zh-CN" sz="1200"/>
              <a:t>4.</a:t>
            </a:r>
            <a:r>
              <a:rPr lang="zh-CN" altLang="en-US" sz="1200"/>
              <a:t>检查无杆气缸电磁阀信号是否正常接收（亮绿色灯</a:t>
            </a:r>
            <a:r>
              <a:rPr lang="zh-CN" altLang="en-US" sz="1200">
                <a:solidFill>
                  <a:srgbClr val="FF0000"/>
                </a:solidFill>
              </a:rPr>
              <a:t>③</a:t>
            </a:r>
            <a:r>
              <a:rPr lang="zh-CN" altLang="en-US" sz="1200"/>
              <a:t>）</a:t>
            </a:r>
            <a:endParaRPr lang="zh-CN" altLang="en-US" sz="12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8140" y="2132330"/>
            <a:ext cx="2462530" cy="38188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453505" y="1817370"/>
            <a:ext cx="487680" cy="275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zh-CN" altLang="en-US" sz="1200">
                <a:sym typeface="+mn-ea"/>
              </a:rPr>
              <a:t>图一</a:t>
            </a:r>
            <a:endParaRPr lang="zh-CN" altLang="en-US" sz="1200"/>
          </a:p>
        </p:txBody>
      </p:sp>
      <p:sp>
        <p:nvSpPr>
          <p:cNvPr id="6" name="圆角矩形 5"/>
          <p:cNvSpPr/>
          <p:nvPr/>
        </p:nvSpPr>
        <p:spPr>
          <a:xfrm>
            <a:off x="6969760" y="4796790"/>
            <a:ext cx="426720" cy="238125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657975" y="4787265"/>
            <a:ext cx="335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sym typeface="+mn-ea"/>
              </a:rPr>
              <a:t>①</a:t>
            </a:r>
            <a:endParaRPr lang="zh-CN" altLang="en-US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58230" y="5190490"/>
            <a:ext cx="3359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 b="1" u="sng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②</a:t>
            </a:r>
            <a:endParaRPr lang="zh-CN" altLang="en-US" sz="1200"/>
          </a:p>
        </p:txBody>
      </p:sp>
      <p:sp>
        <p:nvSpPr>
          <p:cNvPr id="9" name="文本框 8"/>
          <p:cNvSpPr txBox="1"/>
          <p:nvPr/>
        </p:nvSpPr>
        <p:spPr>
          <a:xfrm>
            <a:off x="6769100" y="5310505"/>
            <a:ext cx="335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sym typeface="+mn-ea"/>
              </a:rPr>
              <a:t>③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476672"/>
            <a:ext cx="3324860" cy="46037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八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设备常见异常及处理</a:t>
            </a:r>
            <a:endParaRPr lang="zh-CN" altLang="en-US" sz="2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189230" y="869950"/>
            <a:ext cx="16148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/>
              <a:t>8.6</a:t>
            </a:r>
            <a:r>
              <a:rPr lang="zh-CN" altLang="en-US"/>
              <a:t>压力报警；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26440" y="1303020"/>
            <a:ext cx="1556385" cy="3371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en-US" altLang="zh-CN" sz="1600"/>
              <a:t>1.</a:t>
            </a:r>
            <a:r>
              <a:rPr lang="zh-CN" altLang="en-US" sz="1600"/>
              <a:t>压力值过压；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3973830" y="1301115"/>
            <a:ext cx="2369185" cy="3371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en-US" altLang="zh-CN" sz="1600"/>
              <a:t>2.</a:t>
            </a:r>
            <a:r>
              <a:rPr lang="zh-CN" altLang="en-US" sz="1600"/>
              <a:t>触发过压沟槽感应器；</a:t>
            </a:r>
            <a:endParaRPr lang="zh-CN" altLang="en-US" sz="16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950" y="1774825"/>
            <a:ext cx="1114425" cy="55245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V="1">
            <a:off x="1259840" y="2062480"/>
            <a:ext cx="504190" cy="5759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02235" y="2671445"/>
            <a:ext cx="2468880" cy="10147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zh-CN" altLang="en-US" sz="1200"/>
              <a:t>观察压力数显表中的压力值，</a:t>
            </a:r>
            <a:endParaRPr lang="zh-CN" altLang="en-US" sz="1200"/>
          </a:p>
          <a:p>
            <a:r>
              <a:rPr lang="zh-CN" altLang="en-US" sz="1200"/>
              <a:t>如出现过压时，需要做以下分析：</a:t>
            </a:r>
            <a:endParaRPr lang="zh-CN" altLang="en-US" sz="1200"/>
          </a:p>
          <a:p>
            <a:r>
              <a:rPr lang="en-US" altLang="zh-CN" sz="1200"/>
              <a:t>1.</a:t>
            </a:r>
            <a:r>
              <a:rPr lang="zh-CN" altLang="en-US" sz="1200"/>
              <a:t>是否放料卡顿导致触发过压信号</a:t>
            </a:r>
            <a:endParaRPr lang="zh-CN" altLang="en-US" sz="1200"/>
          </a:p>
          <a:p>
            <a:r>
              <a:rPr lang="en-US" altLang="zh-CN" sz="1200"/>
              <a:t>2.</a:t>
            </a:r>
            <a:r>
              <a:rPr lang="zh-CN" altLang="en-US" sz="1200"/>
              <a:t>数显表如有出现</a:t>
            </a:r>
            <a:r>
              <a:rPr lang="en-US" altLang="zh-CN" sz="1200"/>
              <a:t>“OL”</a:t>
            </a:r>
            <a:r>
              <a:rPr lang="zh-CN" altLang="en-US" sz="1200"/>
              <a:t>的字样，则</a:t>
            </a:r>
            <a:endParaRPr lang="zh-CN" altLang="en-US" sz="1200"/>
          </a:p>
          <a:p>
            <a:r>
              <a:rPr lang="zh-CN" altLang="en-US" sz="1200"/>
              <a:t>需要检查数显表的线路；</a:t>
            </a:r>
            <a:endParaRPr lang="zh-CN" altLang="en-US" sz="1200"/>
          </a:p>
        </p:txBody>
      </p:sp>
      <p:sp>
        <p:nvSpPr>
          <p:cNvPr id="8" name="文本框 7"/>
          <p:cNvSpPr txBox="1"/>
          <p:nvPr/>
        </p:nvSpPr>
        <p:spPr>
          <a:xfrm>
            <a:off x="3366135" y="2668270"/>
            <a:ext cx="4718685" cy="10147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pPr algn="l"/>
            <a:r>
              <a:rPr lang="zh-CN" altLang="en-US" sz="1200"/>
              <a:t>触发过压沟槽信号时，需要做以下分析：</a:t>
            </a:r>
            <a:endParaRPr lang="zh-CN" altLang="en-US" sz="1200"/>
          </a:p>
          <a:p>
            <a:pPr algn="l"/>
            <a:r>
              <a:rPr lang="en-US" altLang="zh-CN" sz="1200"/>
              <a:t>1.</a:t>
            </a:r>
            <a:r>
              <a:rPr lang="zh-CN" altLang="en-US" sz="1200"/>
              <a:t>机械手夹爪上的检查</a:t>
            </a:r>
            <a:r>
              <a:rPr lang="en-US" altLang="zh-CN" sz="1200"/>
              <a:t>U</a:t>
            </a:r>
            <a:r>
              <a:rPr lang="zh-CN" altLang="en-US" sz="1200"/>
              <a:t>型光电感应器（</a:t>
            </a:r>
            <a:r>
              <a:rPr lang="zh-CN" altLang="en-US" sz="1200">
                <a:sym typeface="+mn-ea"/>
              </a:rPr>
              <a:t>如图一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②</a:t>
            </a:r>
            <a:r>
              <a:rPr lang="zh-CN" altLang="en-US" sz="1200"/>
              <a:t>）是否亮指示灯。</a:t>
            </a:r>
            <a:endParaRPr lang="zh-CN" altLang="en-US" sz="1200"/>
          </a:p>
          <a:p>
            <a:pPr algn="l"/>
            <a:r>
              <a:rPr lang="zh-CN" altLang="en-US" sz="1200"/>
              <a:t>如否则检查感应区域是否被遮挡、排查线路是否被磨损；</a:t>
            </a:r>
            <a:endParaRPr lang="zh-CN" altLang="en-US" sz="1200"/>
          </a:p>
          <a:p>
            <a:pPr algn="l"/>
            <a:r>
              <a:rPr lang="en-US" altLang="zh-CN" sz="1200"/>
              <a:t>2.</a:t>
            </a:r>
            <a:r>
              <a:rPr lang="zh-CN" altLang="en-US" sz="1200"/>
              <a:t>触发光电感应器的小钣金片是否紧固（如图一</a:t>
            </a:r>
            <a:r>
              <a:rPr lang="zh-CN" altLang="en-US" sz="1200">
                <a:solidFill>
                  <a:srgbClr val="FF0000"/>
                </a:solidFill>
              </a:rPr>
              <a:t>①</a:t>
            </a:r>
            <a:r>
              <a:rPr lang="zh-CN" altLang="en-US" sz="1200"/>
              <a:t>），固定的位置是</a:t>
            </a:r>
            <a:endParaRPr lang="zh-CN" altLang="en-US" sz="1200"/>
          </a:p>
          <a:p>
            <a:pPr algn="l"/>
            <a:r>
              <a:rPr lang="zh-CN" altLang="en-US" sz="1200"/>
              <a:t>否在原</a:t>
            </a:r>
            <a:r>
              <a:rPr lang="en-US" altLang="zh-CN" sz="1200"/>
              <a:t>Mark</a:t>
            </a:r>
            <a:r>
              <a:rPr lang="zh-CN" altLang="en-US" sz="1200"/>
              <a:t>的位置上；</a:t>
            </a:r>
            <a:endParaRPr lang="zh-CN" altLang="en-US" sz="12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810" y="3860800"/>
            <a:ext cx="2409825" cy="23234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849495" y="5132070"/>
            <a:ext cx="335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sym typeface="+mn-ea"/>
              </a:rPr>
              <a:t>①</a:t>
            </a:r>
            <a:endParaRPr lang="zh-CN" altLang="en-US" sz="1200"/>
          </a:p>
        </p:txBody>
      </p:sp>
      <p:sp>
        <p:nvSpPr>
          <p:cNvPr id="11" name="文本框 10"/>
          <p:cNvSpPr txBox="1"/>
          <p:nvPr/>
        </p:nvSpPr>
        <p:spPr>
          <a:xfrm>
            <a:off x="4712335" y="4814570"/>
            <a:ext cx="335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sym typeface="+mn-ea"/>
              </a:rPr>
              <a:t>②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476672"/>
            <a:ext cx="3324860" cy="46037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八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设备常见异常及处理</a:t>
            </a:r>
            <a:endParaRPr lang="zh-CN" altLang="en-US" sz="2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189230" y="869950"/>
            <a:ext cx="25292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/>
              <a:t>8.</a:t>
            </a:r>
            <a:r>
              <a:rPr lang="en-US"/>
              <a:t>7</a:t>
            </a:r>
            <a:r>
              <a:rPr lang="zh-CN" altLang="en-US"/>
              <a:t>机械手软件被占用；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24510" y="1734185"/>
            <a:ext cx="53295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/>
              <a:t>备注：被占用的主要原因是同时打开两个或多个</a:t>
            </a:r>
            <a:r>
              <a:rPr lang="en-US" altLang="zh-CN" sz="1200"/>
              <a:t>EPSON</a:t>
            </a:r>
            <a:r>
              <a:rPr lang="zh-CN" altLang="en-US" sz="1200"/>
              <a:t>软件；（如图一所示）</a:t>
            </a:r>
            <a:endParaRPr lang="zh-CN" altLang="en-US" sz="1200"/>
          </a:p>
          <a:p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9790" y="2132330"/>
            <a:ext cx="2847975" cy="17145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73430" y="2819400"/>
            <a:ext cx="3242945" cy="1198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zh-CN" altLang="en-US" sz="1200"/>
              <a:t>处理流程：</a:t>
            </a:r>
            <a:endParaRPr lang="zh-CN" altLang="en-US" sz="1200"/>
          </a:p>
          <a:p>
            <a:r>
              <a:rPr lang="en-US" altLang="zh-CN" sz="1200"/>
              <a:t>1.</a:t>
            </a:r>
            <a:r>
              <a:rPr lang="zh-CN" altLang="en-US" sz="1200"/>
              <a:t>打开任务管理器；</a:t>
            </a:r>
            <a:endParaRPr lang="zh-CN" altLang="en-US" sz="1200"/>
          </a:p>
          <a:p>
            <a:r>
              <a:rPr lang="en-US" altLang="zh-CN" sz="1200"/>
              <a:t>2.</a:t>
            </a:r>
            <a:r>
              <a:rPr lang="zh-CN" altLang="en-US" sz="1200"/>
              <a:t>关闭</a:t>
            </a:r>
            <a:r>
              <a:rPr lang="en-US" altLang="zh-CN" sz="1200"/>
              <a:t>EPSON</a:t>
            </a:r>
            <a:r>
              <a:rPr lang="zh-CN" altLang="en-US" sz="1200"/>
              <a:t>后台任务；（如图二所示）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大招：拉下机械手控制器开关、</a:t>
            </a:r>
            <a:endParaRPr lang="zh-CN" altLang="en-US" sz="1200"/>
          </a:p>
          <a:p>
            <a:r>
              <a:rPr lang="en-US" altLang="zh-CN" sz="1200"/>
              <a:t>5s</a:t>
            </a:r>
            <a:r>
              <a:rPr lang="zh-CN" altLang="en-US" sz="1200"/>
              <a:t>后重新上电、上电</a:t>
            </a:r>
            <a:r>
              <a:rPr lang="en-US" altLang="zh-CN" sz="1200"/>
              <a:t>30s</a:t>
            </a:r>
            <a:r>
              <a:rPr lang="zh-CN" altLang="en-US" sz="1200"/>
              <a:t>后再打开</a:t>
            </a:r>
            <a:r>
              <a:rPr lang="en-US" altLang="zh-CN" sz="1200"/>
              <a:t>EPSON</a:t>
            </a:r>
            <a:r>
              <a:rPr lang="zh-CN" altLang="en-US" sz="1200"/>
              <a:t>软件；</a:t>
            </a:r>
            <a:endParaRPr lang="zh-CN" altLang="en-US" sz="1200"/>
          </a:p>
        </p:txBody>
      </p:sp>
      <p:sp>
        <p:nvSpPr>
          <p:cNvPr id="7" name="文本框 6"/>
          <p:cNvSpPr txBox="1"/>
          <p:nvPr/>
        </p:nvSpPr>
        <p:spPr>
          <a:xfrm>
            <a:off x="7016750" y="1754505"/>
            <a:ext cx="640080" cy="2755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zh-CN" altLang="en-US" sz="1200"/>
              <a:t>图一：</a:t>
            </a:r>
            <a:endParaRPr lang="zh-CN" altLang="en-US" sz="12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0" y="4076700"/>
            <a:ext cx="2742565" cy="24098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000240" y="3866515"/>
            <a:ext cx="640080" cy="2755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zh-CN" altLang="en-US" sz="1200"/>
              <a:t>图二：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96" y="476672"/>
            <a:ext cx="3324860" cy="46037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八</a:t>
            </a:r>
            <a:r>
              <a:rPr kumimoji="1" lang="en-US" altLang="zh-CN" sz="2400" b="1" dirty="0">
                <a:solidFill>
                  <a:srgbClr val="000000"/>
                </a:solidFill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.</a:t>
            </a:r>
            <a:r>
              <a:rPr kumimoji="1" lang="zh-CN" altLang="en-US" sz="2400" b="1" dirty="0">
                <a:ea typeface="PMingLiU" panose="02020500000000000000" pitchFamily="18" charset="-120"/>
                <a:cs typeface="Times New Roman" panose="02020603050405020304" pitchFamily="18" charset="0"/>
                <a:sym typeface="+mn-ea"/>
              </a:rPr>
              <a:t>设备常见异常及处理</a:t>
            </a:r>
            <a:endParaRPr lang="zh-CN" altLang="en-US" sz="2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189230" y="869950"/>
            <a:ext cx="20720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/>
              <a:t>8.</a:t>
            </a:r>
            <a:r>
              <a:rPr lang="en-US"/>
              <a:t>8</a:t>
            </a:r>
            <a:r>
              <a:rPr lang="zh-CN" altLang="en-US"/>
              <a:t>流道皮带脱落；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0155" y="1196340"/>
            <a:ext cx="4716780" cy="31216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82905" y="1960245"/>
            <a:ext cx="3081020" cy="13836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/>
              <a:t>皮带脱落主要原因如下：</a:t>
            </a:r>
            <a:endParaRPr lang="zh-CN" altLang="en-US" sz="1200"/>
          </a:p>
          <a:p>
            <a:pPr algn="l"/>
            <a:r>
              <a:rPr lang="en-US" altLang="zh-CN" sz="1200"/>
              <a:t>1.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同步齿轮</a:t>
            </a:r>
            <a:r>
              <a:rPr lang="zh-CN" altLang="en-US" sz="1200"/>
              <a:t>（如图二</a:t>
            </a:r>
            <a:r>
              <a:rPr lang="zh-CN" altLang="en-US" sz="1200">
                <a:solidFill>
                  <a:srgbClr val="FF0000"/>
                </a:solidFill>
              </a:rPr>
              <a:t>①</a:t>
            </a:r>
            <a:r>
              <a:rPr lang="zh-CN" altLang="en-US" sz="1200"/>
              <a:t>）槽内有异物阻塞；</a:t>
            </a:r>
            <a:endParaRPr lang="zh-CN" altLang="en-US" sz="1200"/>
          </a:p>
          <a:p>
            <a:pPr algn="l"/>
            <a:r>
              <a:rPr lang="zh-CN" altLang="en-US" sz="1200"/>
              <a:t>解决方法：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彻底清理</a:t>
            </a:r>
            <a:r>
              <a:rPr lang="zh-CN" altLang="en-US" sz="1200"/>
              <a:t>同步齿轮内的残留物；</a:t>
            </a:r>
            <a:endParaRPr lang="zh-CN" altLang="en-US" sz="1200"/>
          </a:p>
          <a:p>
            <a:pPr algn="l"/>
            <a:r>
              <a:rPr lang="en-US" altLang="zh-CN" sz="1200"/>
              <a:t>2.</a:t>
            </a:r>
            <a:r>
              <a:rPr lang="zh-CN" altLang="en-US" sz="12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连轴器螺丝</a:t>
            </a:r>
            <a:r>
              <a:rPr lang="zh-CN" altLang="en-US" sz="1200">
                <a:effectLst/>
              </a:rPr>
              <a:t>（如图一</a:t>
            </a:r>
            <a:r>
              <a:rPr lang="zh-CN" altLang="en-US" sz="1200">
                <a:solidFill>
                  <a:srgbClr val="FF0000"/>
                </a:solidFill>
                <a:effectLst/>
              </a:rPr>
              <a:t>①</a:t>
            </a:r>
            <a:r>
              <a:rPr lang="zh-CN" altLang="en-US" sz="1200">
                <a:effectLst/>
              </a:rPr>
              <a:t>）</a:t>
            </a:r>
            <a:r>
              <a:rPr lang="zh-CN" altLang="en-US" sz="1200"/>
              <a:t>未紧固；</a:t>
            </a:r>
            <a:endParaRPr lang="zh-CN" altLang="en-US" sz="1200"/>
          </a:p>
          <a:p>
            <a:pPr algn="l"/>
            <a:r>
              <a:rPr lang="zh-CN" altLang="en-US" sz="1200">
                <a:sym typeface="+mn-ea"/>
              </a:rPr>
              <a:t>解决方法：</a:t>
            </a:r>
            <a:r>
              <a:rPr lang="zh-CN" altLang="en-US" sz="1200"/>
              <a:t>重新紧固；</a:t>
            </a:r>
            <a:endParaRPr lang="zh-CN" altLang="en-US" sz="1200"/>
          </a:p>
          <a:p>
            <a:pPr algn="l"/>
            <a:r>
              <a:rPr lang="en-US" altLang="zh-CN" sz="1200"/>
              <a:t>3.</a:t>
            </a:r>
            <a:r>
              <a:rPr lang="zh-CN" altLang="en-US" sz="1200"/>
              <a:t>皮带有明显磨损</a:t>
            </a:r>
            <a:r>
              <a:rPr lang="en-US" altLang="zh-CN" sz="1200"/>
              <a:t>/</a:t>
            </a:r>
            <a:r>
              <a:rPr lang="zh-CN" altLang="en-US" sz="1200"/>
              <a:t>留痕、达到预期寿命；</a:t>
            </a:r>
            <a:endParaRPr lang="zh-CN" altLang="en-US" sz="1200"/>
          </a:p>
          <a:p>
            <a:pPr algn="l"/>
            <a:r>
              <a:rPr lang="zh-CN" altLang="en-US" sz="1200">
                <a:sym typeface="+mn-ea"/>
              </a:rPr>
              <a:t>解决方法：更换皮带；</a:t>
            </a:r>
            <a:endParaRPr lang="zh-CN" altLang="en-US" sz="1200"/>
          </a:p>
        </p:txBody>
      </p:sp>
      <p:sp>
        <p:nvSpPr>
          <p:cNvPr id="12" name="文本框 11"/>
          <p:cNvSpPr txBox="1"/>
          <p:nvPr/>
        </p:nvSpPr>
        <p:spPr>
          <a:xfrm>
            <a:off x="6790055" y="3076575"/>
            <a:ext cx="335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>
                <a:solidFill>
                  <a:srgbClr val="FF0000"/>
                </a:solidFill>
              </a:rPr>
              <a:t>①</a:t>
            </a:r>
            <a:endParaRPr lang="zh-CN" altLang="en-US" sz="1200">
              <a:solidFill>
                <a:srgbClr val="FF0000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90" y="4436745"/>
            <a:ext cx="1913890" cy="212852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967095" y="5085080"/>
            <a:ext cx="335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sym typeface="+mn-ea"/>
              </a:rPr>
              <a:t>①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5888990" y="935990"/>
            <a:ext cx="6400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/>
              <a:t>图一：</a:t>
            </a:r>
            <a:endParaRPr lang="zh-CN" altLang="en-US" sz="1200"/>
          </a:p>
        </p:txBody>
      </p:sp>
      <p:sp>
        <p:nvSpPr>
          <p:cNvPr id="19" name="文本框 18"/>
          <p:cNvSpPr txBox="1"/>
          <p:nvPr/>
        </p:nvSpPr>
        <p:spPr>
          <a:xfrm>
            <a:off x="4650105" y="4422775"/>
            <a:ext cx="6400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/>
              <a:t>图二：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7269</Words>
  <Application>WPS 演示</Application>
  <PresentationFormat>全屏显示(4:3)</PresentationFormat>
  <Paragraphs>843</Paragraphs>
  <Slides>56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73" baseType="lpstr">
      <vt:lpstr>Arial</vt:lpstr>
      <vt:lpstr>宋体</vt:lpstr>
      <vt:lpstr>Wingdings</vt:lpstr>
      <vt:lpstr>Helvetica Neue</vt:lpstr>
      <vt:lpstr>Open Sans Regular</vt:lpstr>
      <vt:lpstr>Helvetica</vt:lpstr>
      <vt:lpstr>Helvetica Regular</vt:lpstr>
      <vt:lpstr>Segoe Print</vt:lpstr>
      <vt:lpstr>Helvetica Light</vt:lpstr>
      <vt:lpstr>微软雅黑</vt:lpstr>
      <vt:lpstr>Times New Roman</vt:lpstr>
      <vt:lpstr>PMingLiU</vt:lpstr>
      <vt:lpstr>PMingLiU-ExtB</vt:lpstr>
      <vt:lpstr>Calibri</vt:lpstr>
      <vt:lpstr>Arial Unicode MS</vt:lpstr>
      <vt:lpstr>PMingLiU</vt:lpstr>
      <vt:lpstr>Office 佈景主題</vt:lpstr>
      <vt:lpstr>QT1 自动化设备架设调试操作說明書 </vt:lpstr>
      <vt:lpstr>PowerPoint 演示文稿</vt:lpstr>
      <vt:lpstr>PowerPoint 演示文稿</vt:lpstr>
      <vt:lpstr>一.主要组成部份介绍</vt:lpstr>
      <vt:lpstr>一.主要组成部份介绍</vt:lpstr>
      <vt:lpstr>PowerPoint 演示文稿</vt:lpstr>
      <vt:lpstr>Electrical Module</vt:lpstr>
      <vt:lpstr>二.设备初始化、启动操作流程</vt:lpstr>
      <vt:lpstr>PowerPoint 演示文稿</vt:lpstr>
      <vt:lpstr>二.设备初始化、启动操作流程</vt:lpstr>
      <vt:lpstr>PowerPoint 演示文稿</vt:lpstr>
      <vt:lpstr>PowerPoint 演示文稿</vt:lpstr>
      <vt:lpstr>三.架设、调试流水线操作流程</vt:lpstr>
      <vt:lpstr>三.架设、调试流水线操作流程</vt:lpstr>
      <vt:lpstr>四.架设、调试治具操作流程</vt:lpstr>
      <vt:lpstr>四.架设、调试治具操作流程</vt:lpstr>
      <vt:lpstr>PowerPoint 演示文稿</vt:lpstr>
      <vt:lpstr>PowerPoint 演示文稿</vt:lpstr>
      <vt:lpstr>PowerPoint 演示文稿</vt:lpstr>
      <vt:lpstr>五.设备通信配置、调试流程</vt:lpstr>
      <vt:lpstr>五.设备通信配置、调试流程</vt:lpstr>
      <vt:lpstr>五.设备通信配置、调试流程</vt:lpstr>
      <vt:lpstr>五.设备通信配置、调试流程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iCheck自动化设备维护 </dc:title>
  <dc:creator>凡友俊</dc:creator>
  <cp:lastModifiedBy>CTOS</cp:lastModifiedBy>
  <cp:revision>971</cp:revision>
  <dcterms:created xsi:type="dcterms:W3CDTF">2019-09-12T07:50:00Z</dcterms:created>
  <dcterms:modified xsi:type="dcterms:W3CDTF">2022-10-07T10:25:50Z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2052-11.1.0.11691</vt:lpwstr>
  </property>
  <property fmtid="{D5CDD505-2E9C-101B-9397-08002B2CF9AE}" pid="3" name="ICV">
    <vt:lpwstr>E513FDD7D33A492785C90825D1267FDE</vt:lpwstr>
  </property>
</Properties>
</file>